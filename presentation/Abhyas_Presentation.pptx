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3fd0393-d4bd-d187-f332-86f3f3913bf2}">
          <p14:sldIdLst>
            <p14:sldId id="256"/>
          </p14:sldIdLst>
        </p14:section>
        <p14:section name="The problem" id="{cf8c3121-6fb8-a17a-4378-1ae62d348231}">
          <p14:sldIdLst>
            <p14:sldId id="257"/>
          </p14:sldIdLst>
        </p14:section>
        <p14:section name="What people tried" id="{a956518d-48a9-5683-ef73-a5e0586ac46e}">
          <p14:sldIdLst>
            <p14:sldId id="258"/>
            <p14:sldId id="259"/>
            <p14:sldId id="260"/>
            <p14:sldId id="261"/>
          </p14:sldIdLst>
        </p14:section>
        <p14:section name="Abhyas" id="{544fa5a9-fd83-c4bc-b210-86b5fa815c4e}">
          <p14:sldIdLst>
            <p14:sldId id="262"/>
            <p14:sldId id="263"/>
            <p14:sldId id="264"/>
            <p14:sldId id="265"/>
            <p14:sldId id="266"/>
          </p14:sldIdLst>
        </p14:section>
        <p14:section name="Evidence" id="{7a3181ea-6dfb-9d33-9663-7b1e8f404990}">
          <p14:sldIdLst>
            <p14:sldId id="267"/>
            <p14:sldId id="268"/>
            <p14:sldId id="269"/>
          </p14:sldIdLst>
        </p14:section>
        <p14:section name="Rollout" id="{5db16065-a945-830e-114a-738507e8fd41}">
          <p14:sldIdLst>
            <p14:sldId id="270"/>
            <p14:sldId id="271"/>
            <p14:sldId id="272"/>
          </p14:sldIdLst>
        </p14:section>
        <p14:section name="References" id="{7ce2fa48-c024-3728-98c1-0d073254ec6c}">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simple: in Bengaluru, every big traffic change is tried directly on the road. Abhyas lets you try it on the computer first. Abhyas is built on more than twenty years of Indian traffic research, and the next few slides show exactly whose work and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problem. 36 minutes for 10 km. 168 hours a year lost in peak hour. Sarjapur Road carries three and a half times what it was designed for. No slack is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tone: Indian traffic simulation has a long history, and Abhyas builds on it. Note to presenter: the counts on the right are what this deck cites; adjust if your team read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rows. Top row is research: IIT Madras built HETEROSIM for mixed traffic back in the 2000s. IIT Bombay's SiMTraM let many bikes share one lane inside SUMO. CSIR-CRRI gave us Indo-HCM in 2017, India's own capacity manual. IISc simulated Bengaluru junctions and built a city demand model. Bottom row is what is already running on our roads: Google Green Light in Bengaluru and Kolkata, WRI's e-bus route guide, B-ATCS adaptive signals at 169 junctions, and ASTraM for live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the paid tools. Vissim and Aimsun are excellent, used by consultants all over India. But they are built for lane-discipline traffic, and many papers say calibrating them for Indian traffic is still hard. SUMO is free and open; Abhyas runs on top of SUMO.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to everyone. Research models are good science but stay in the paper. Paid software is powerful but costly and lane-based. Signal tools fix today's signals but can't test a new bus fleet. E-bus studies choose routes but don't look at the junction. Nobody gives a planner a tested what-if answer in simple language. That is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novelty claim, in three parts: it checks itself against real data and can refuse to answer; it counts people, which is the right way to judge buses; and a normal officer can ask by voice or text. Plus Indian numbers from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bike and auto behaviour comes from the IIT Madras and IIT Bombay line of work. The numbers come from Indo-HCM and IRC. The calibration approach follows IIT Madras's SUMO calibration study. TomTom is our answer sheet. And the e-bus questions come from WRI's guidebook.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users are three agencies who must sign off before anything changes on the road: BMTC for buses, Traffic Police for signals and diversions, and BMLTA, which by law has to approve big transport projects since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flagship scenario is real policy: 4,500 e-buses for Bengaluru, 10,900 across five cities. Abhyas uses a city-level view to find the trouble spots, then full detail only where it matters. The output is a ranked list of fixes, judged by how many people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things that break foreign tools, and what we do for each. The last one is important: since nobody measures turning traffic, we try a range and only report what stays true across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collected about 9,900 TomTom travel-time readings and about 2,100 incident records across three junctions between 28 August and 5 September. We checked 12 routes through the Indiranagar junction. One full check is 208 simulation runs. And we found five silent mistakes in the OpenStreetMap data, including a 100 km/h speed limit on an Indiranagar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number is fitted, and only on four straight routes. The eight turning routes are a hidden test; seven of eight pass. Turning splits are not measured anywhere in India, so we sweep them: nine of twelve results survive. The two misses are flagged in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danger with any computer model is a confident wrong answer going into a government file. So every answer leaves with a tag: sure, rough idea, or can't say. Seven checkers decide the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level comes with its own real data to check against: TomTom at the junction, bus speeds on the ORR bus lane, the Traffic Police study for ORR–Sarjapur, and bus GPS plus signal data for the whole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doors into government already exist: the Traffic Police digital twin tender and BMLTA's legal duty to check big projects. Since the base is open source and runs on government servers, there's no licence problem and data stays with them. And PM e-Drive gives the same question to four more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the one line and the ask, then stop and take questions. Likely questions: How long for a new road? The map part is automatic; checking needs a few weeks of travel-time data. Can it run the full city live? It's a planning tool; live signal control stays with B-ATCS. Who owns the data? The department, it runs on their servers. What's new versus Vissim or HETEROSIM? Go back to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for questions about where any claim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EEF0FA"/>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Abhyas · Bengaluru traffic planning</a:t>
            </a:r>
            <a:endParaRPr lang="en-US" sz="1000" dirty="0"/>
          </a:p>
        </p:txBody>
      </p:sp>
      <p:sp>
        <p:nvSpPr>
          <p:cNvPr id="3" name="Text 1"/>
          <p:cNvSpPr/>
          <p:nvPr>
            <p:ph idx="101" type="body" hasCustomPrompt="1"/>
          </p:nvPr>
        </p:nvSpPr>
        <p:spPr>
          <a:xfrm>
            <a:off x="548640" y="347472"/>
            <a:ext cx="8229600" cy="274320"/>
          </a:xfrm>
          <a:prstGeom prst="rect">
            <a:avLst/>
          </a:prstGeom>
          <a:noFill/>
          <a:ln/>
        </p:spPr>
        <p:txBody>
          <a:bodyPr wrap="square" rtlCol="0"/>
          <a:lstStyle>
            <a:lvl1pPr indent="0" marL="0">
              <a:buNone/>
              <a:defRPr lang="en-US" sz="1200" b="1" spc="200" kern="0" dirty="0">
                <a:solidFill>
                  <a:schemeClr val="accent6"/>
                </a:solidFill>
              </a:defRPr>
            </a:lvl1pPr>
          </a:lstStyle>
          <a:p>
            <a:pPr indent="0" marL="0">
              <a:buNone/>
            </a:pPr>
            <a:endParaRPr lang="en-US" sz="1200" dirty="0"/>
          </a:p>
        </p:txBody>
      </p:sp>
      <p:sp>
        <p:nvSpPr>
          <p:cNvPr id="4" name="Text 1"/>
          <p:cNvSpPr/>
          <p:nvPr>
            <p:ph idx="102" type="title" hasCustomPrompt="1"/>
          </p:nvPr>
        </p:nvSpPr>
        <p:spPr>
          <a:xfrm>
            <a:off x="548640" y="640080"/>
            <a:ext cx="11064240"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DCD3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74520"/>
            <a:ext cx="6949440" cy="1280160"/>
          </a:xfrm>
          <a:prstGeom prst="rect">
            <a:avLst/>
          </a:prstGeom>
          <a:noFill/>
          <a:ln/>
        </p:spPr>
        <p:txBody>
          <a:bodyPr wrap="square" rtlCol="0"/>
          <a:lstStyle>
            <a:lvl1pPr algn="l" indent="0" marL="0">
              <a:buNone/>
              <a:defRPr lang="en-US" sz="8000" b="1" dirty="0">
                <a:solidFill>
                  <a:schemeClr val="tx1"/>
                </a:solidFill>
              </a:defRPr>
            </a:lvl1pPr>
          </a:lstStyle>
          <a:p>
            <a:pPr algn="l" indent="0" marL="0">
              <a:buNone/>
            </a:pPr>
            <a:endParaRPr lang="en-US" sz="8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D9CE"/>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Abhyas · Bengaluru traffic planning</a:t>
            </a:r>
            <a:endParaRPr lang="en-US" sz="1000" dirty="0"/>
          </a:p>
        </p:txBody>
      </p:sp>
      <p:sp>
        <p:nvSpPr>
          <p:cNvPr id="3" name="Text 1"/>
          <p:cNvSpPr/>
          <p:nvPr>
            <p:ph idx="101" type="title" hasCustomPrompt="1"/>
          </p:nvPr>
        </p:nvSpPr>
        <p:spPr>
          <a:xfrm>
            <a:off x="731520" y="822960"/>
            <a:ext cx="10698480" cy="91440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E">
    <p:bg>
      <p:bgPr>
        <a:solidFill>
          <a:srgbClr val="D3F3E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822960"/>
            <a:ext cx="10698480" cy="173736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3.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4.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slideLayout" Target="../slideLayouts/slideLayout2.xml"/><Relationship Id="rId1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2.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slideLayout" Target="../slideLayouts/slideLayout2.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slideLayout" Target="../slideLayouts/slideLayout2.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slideLayout" Target="../slideLayouts/slideLayout2.xml"/><Relationship Id="rId1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2.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2.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image" Target="../media/image-11-18.png"/><Relationship Id="rId19" Type="http://schemas.openxmlformats.org/officeDocument/2006/relationships/slideLayout" Target="../slideLayouts/slideLayout2.xml"/><Relationship Id="rId2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slideLayout" Target="../slideLayouts/slideLayout2.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2.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slideLayout" Target="../slideLayouts/slideLayout2.xml"/><Relationship Id="rId1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5.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eyebrow pill" descr="preencoded.png">    </p:cNvPr>
          <p:cNvPicPr>
            <a:picLocks noChangeAspect="1"/>
          </p:cNvPicPr>
          <p:nvPr/>
        </p:nvPicPr>
        <p:blipFill>
          <a:blip r:embed="rId1"/>
          <a:stretch>
            <a:fillRect/>
          </a:stretch>
        </p:blipFill>
        <p:spPr>
          <a:xfrm>
            <a:off x="438912" y="804672"/>
            <a:ext cx="4791456" cy="1042416"/>
          </a:xfrm>
          <a:prstGeom prst="rect">
            <a:avLst/>
          </a:prstGeom>
        </p:spPr>
      </p:pic>
      <p:sp>
        <p:nvSpPr>
          <p:cNvPr id="3" name="Text 0"/>
          <p:cNvSpPr txBox="1"/>
          <p:nvPr/>
        </p:nvSpPr>
        <p:spPr>
          <a:xfrm>
            <a:off x="731520" y="1097280"/>
            <a:ext cx="4206240" cy="457200"/>
          </a:xfrm>
          <a:prstGeom prst="rect">
            <a:avLst/>
          </a:prstGeom>
          <a:noFill/>
          <a:ln/>
        </p:spPr>
        <p:txBody>
          <a:bodyPr wrap="square" lIns="0" tIns="0" rIns="0" bIns="0" rtlCol="0" anchor="ctr"/>
          <a:lstStyle/>
          <a:p>
            <a:pPr algn="ctr" indent="0" marL="0">
              <a:buNone/>
            </a:pPr>
            <a:r>
              <a:rPr lang="en-US" sz="1200" b="1" spc="100" kern="0" dirty="0">
                <a:solidFill>
                  <a:srgbClr val="2A2346"/>
                </a:solidFill>
                <a:latin typeface="Arial" pitchFamily="34" charset="0"/>
                <a:ea typeface="Arial" pitchFamily="34" charset="-122"/>
                <a:cs typeface="Arial" pitchFamily="34" charset="-120"/>
              </a:rPr>
              <a:t>TRAFFIC PLANNING · BENGALURU</a:t>
            </a:r>
            <a:endParaRPr lang="en-US" sz="1200" dirty="0"/>
          </a:p>
        </p:txBody>
      </p:sp>
      <p:sp>
        <p:nvSpPr>
          <p:cNvPr id="4" name="Text 0"/>
          <p:cNvSpPr/>
          <p:nvPr>
            <p:ph idx="100" type="title" hasCustomPrompt="1"/>
          </p:nvPr>
        </p:nvSpPr>
        <p:spPr>
          <a:xfrm>
            <a:off x="731520" y="1874520"/>
            <a:ext cx="6949440" cy="1280160"/>
          </a:xfrm>
          <a:prstGeom prst="rect">
            <a:avLst/>
          </a:prstGeom>
          <a:noFill/>
          <a:ln/>
        </p:spPr>
        <p:txBody>
          <a:bodyPr wrap="square" lIns="0" tIns="0" rIns="0" bIns="0" rtlCol="0" anchor="t"/>
          <a:lstStyle/>
          <a:p>
            <a:pPr algn="l" indent="0" marL="0">
              <a:buNone/>
            </a:pPr>
            <a:r>
              <a:rPr lang="en-US" sz="8000" b="1" dirty="0">
                <a:solidFill>
                  <a:schemeClr val="tx1"/>
                </a:solidFill>
              </a:rPr>
              <a:t>Abhyas</a:t>
            </a:r>
            <a:endParaRPr lang="en-US" sz="8000" dirty="0"/>
          </a:p>
        </p:txBody>
      </p:sp>
      <p:sp>
        <p:nvSpPr>
          <p:cNvPr id="5" name="Text 2"/>
          <p:cNvSpPr txBox="1"/>
          <p:nvPr/>
        </p:nvSpPr>
        <p:spPr>
          <a:xfrm>
            <a:off x="731520" y="3154680"/>
            <a:ext cx="6949440" cy="914400"/>
          </a:xfrm>
          <a:prstGeom prst="rect">
            <a:avLst/>
          </a:prstGeom>
          <a:noFill/>
          <a:ln/>
        </p:spPr>
        <p:txBody>
          <a:bodyPr wrap="square" lIns="0" tIns="0" rIns="0" bIns="0" rtlCol="0" anchor="t"/>
          <a:lstStyle/>
          <a:p>
            <a:pPr indent="0" marL="0">
              <a:buNone/>
            </a:pPr>
            <a:r>
              <a:rPr lang="en-US" sz="2600" b="1" dirty="0">
                <a:solidFill>
                  <a:srgbClr val="4B3FB0"/>
                </a:solidFill>
                <a:latin typeface="Arial" pitchFamily="34" charset="0"/>
                <a:ea typeface="Arial" pitchFamily="34" charset="-122"/>
                <a:cs typeface="Arial" pitchFamily="34" charset="-120"/>
              </a:rPr>
              <a:t>First try it on the computer. Then do it on the road.</a:t>
            </a:r>
            <a:endParaRPr lang="en-US" sz="2600" dirty="0"/>
          </a:p>
        </p:txBody>
      </p:sp>
      <p:sp>
        <p:nvSpPr>
          <p:cNvPr id="6" name="Text 3"/>
          <p:cNvSpPr txBox="1"/>
          <p:nvPr/>
        </p:nvSpPr>
        <p:spPr>
          <a:xfrm>
            <a:off x="731520" y="4160520"/>
            <a:ext cx="6583680" cy="822960"/>
          </a:xfrm>
          <a:prstGeom prst="rect">
            <a:avLst/>
          </a:prstGeom>
          <a:noFill/>
          <a:ln/>
        </p:spPr>
        <p:txBody>
          <a:bodyPr wrap="square" lIns="0" tIns="0" rIns="0" bIns="0" rtlCol="0" anchor="t"/>
          <a:lstStyle/>
          <a:p>
            <a:pPr indent="0" marL="0">
              <a:buNone/>
            </a:pPr>
            <a:r>
              <a:rPr lang="en-US" sz="1700" dirty="0">
                <a:solidFill>
                  <a:srgbClr val="5A5478"/>
                </a:solidFill>
                <a:latin typeface="Arial" pitchFamily="34" charset="0"/>
                <a:ea typeface="Arial" pitchFamily="34" charset="-122"/>
                <a:cs typeface="Arial" pitchFamily="34" charset="-120"/>
              </a:rPr>
              <a:t>A testing tool for Bengaluru traffic decisions, built on 20+ years of Indian traffic research.</a:t>
            </a:r>
            <a:endParaRPr lang="en-US" sz="1700" dirty="0"/>
          </a:p>
        </p:txBody>
      </p:sp>
      <p:sp>
        <p:nvSpPr>
          <p:cNvPr id="7" name="Text 4"/>
          <p:cNvSpPr txBox="1"/>
          <p:nvPr/>
        </p:nvSpPr>
        <p:spPr>
          <a:xfrm>
            <a:off x="731520" y="5989320"/>
            <a:ext cx="6858000" cy="320040"/>
          </a:xfrm>
          <a:prstGeom prst="rect">
            <a:avLst/>
          </a:prstGeom>
          <a:noFill/>
          <a:ln/>
        </p:spPr>
        <p:txBody>
          <a:bodyPr wrap="square" lIns="0" tIns="0" rIns="0" bIns="0" rtlCol="0" anchor="t"/>
          <a:lstStyle/>
          <a:p>
            <a:pPr indent="0" marL="0">
              <a:buNone/>
            </a:pPr>
            <a:r>
              <a:rPr lang="en-US" sz="1300" dirty="0">
                <a:solidFill>
                  <a:srgbClr val="5A5478"/>
                </a:solidFill>
                <a:latin typeface="Arial" pitchFamily="34" charset="0"/>
                <a:ea typeface="Arial" pitchFamily="34" charset="-122"/>
                <a:cs typeface="Arial" pitchFamily="34" charset="-120"/>
              </a:rPr>
              <a:t>[Team name]  ·  [Problem statement ID]  ·  [College]</a:t>
            </a:r>
            <a:endParaRPr lang="en-US" sz="1300" dirty="0"/>
          </a:p>
        </p:txBody>
      </p:sp>
      <p:pic>
        <p:nvPicPr>
          <p:cNvPr id="8" name="traffic light body" descr="preencoded.png">    </p:cNvPr>
          <p:cNvPicPr>
            <a:picLocks noChangeAspect="1"/>
          </p:cNvPicPr>
          <p:nvPr/>
        </p:nvPicPr>
        <p:blipFill>
          <a:blip r:embed="rId2"/>
          <a:stretch>
            <a:fillRect/>
          </a:stretch>
        </p:blipFill>
        <p:spPr>
          <a:xfrm>
            <a:off x="8622792" y="530352"/>
            <a:ext cx="2688336" cy="5797296"/>
          </a:xfrm>
          <a:prstGeom prst="rect">
            <a:avLst/>
          </a:prstGeom>
        </p:spPr>
      </p:pic>
      <p:pic>
        <p:nvPicPr>
          <p:cNvPr id="9" name="red light" descr="preencoded.png">    </p:cNvPr>
          <p:cNvPicPr>
            <a:picLocks noChangeAspect="1"/>
          </p:cNvPicPr>
          <p:nvPr/>
        </p:nvPicPr>
        <p:blipFill>
          <a:blip r:embed="rId3"/>
          <a:stretch>
            <a:fillRect/>
          </a:stretch>
        </p:blipFill>
        <p:spPr>
          <a:xfrm>
            <a:off x="9034272" y="941832"/>
            <a:ext cx="1865376" cy="1865376"/>
          </a:xfrm>
          <a:prstGeom prst="rect">
            <a:avLst/>
          </a:prstGeom>
        </p:spPr>
      </p:pic>
      <p:pic>
        <p:nvPicPr>
          <p:cNvPr id="10" name="amber light" descr="preencoded.png">    </p:cNvPr>
          <p:cNvPicPr>
            <a:picLocks noChangeAspect="1"/>
          </p:cNvPicPr>
          <p:nvPr/>
        </p:nvPicPr>
        <p:blipFill>
          <a:blip r:embed="rId4"/>
          <a:stretch>
            <a:fillRect/>
          </a:stretch>
        </p:blipFill>
        <p:spPr>
          <a:xfrm>
            <a:off x="9034272" y="2496312"/>
            <a:ext cx="1865376" cy="1865376"/>
          </a:xfrm>
          <a:prstGeom prst="rect">
            <a:avLst/>
          </a:prstGeom>
        </p:spPr>
      </p:pic>
      <p:pic>
        <p:nvPicPr>
          <p:cNvPr id="11" name="green light" descr="preencoded.png">    </p:cNvPr>
          <p:cNvPicPr>
            <a:picLocks noChangeAspect="1"/>
          </p:cNvPicPr>
          <p:nvPr/>
        </p:nvPicPr>
        <p:blipFill>
          <a:blip r:embed="rId5"/>
          <a:stretch>
            <a:fillRect/>
          </a:stretch>
        </p:blipFill>
        <p:spPr>
          <a:xfrm>
            <a:off x="9034272" y="4050792"/>
            <a:ext cx="1865376" cy="18653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THE PROBLEM</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Bengaluru roads are already over-full</a:t>
            </a:r>
            <a:endParaRPr lang="en-US" sz="3200" dirty="0"/>
          </a:p>
        </p:txBody>
      </p:sp>
      <p:pic>
        <p:nvPicPr>
          <p:cNvPr id="4" name="problem stat" descr="preencoded.png">    </p:cNvPr>
          <p:cNvPicPr>
            <a:picLocks noChangeAspect="1"/>
          </p:cNvPicPr>
          <p:nvPr/>
        </p:nvPicPr>
        <p:blipFill>
          <a:blip r:embed="rId1"/>
          <a:stretch>
            <a:fillRect/>
          </a:stretch>
        </p:blipFill>
        <p:spPr>
          <a:xfrm>
            <a:off x="256032" y="1444752"/>
            <a:ext cx="4105656" cy="3511296"/>
          </a:xfrm>
          <a:prstGeom prst="rect">
            <a:avLst/>
          </a:prstGeom>
        </p:spPr>
      </p:pic>
      <p:sp>
        <p:nvSpPr>
          <p:cNvPr id="5" name="Text 2"/>
          <p:cNvSpPr txBox="1"/>
          <p:nvPr/>
        </p:nvSpPr>
        <p:spPr>
          <a:xfrm>
            <a:off x="868680" y="2057400"/>
            <a:ext cx="2880360" cy="914400"/>
          </a:xfrm>
          <a:prstGeom prst="rect">
            <a:avLst/>
          </a:prstGeom>
          <a:noFill/>
          <a:ln/>
        </p:spPr>
        <p:txBody>
          <a:bodyPr wrap="square" lIns="0" tIns="0" rIns="0" bIns="0" rtlCol="0" anchor="t"/>
          <a:lstStyle/>
          <a:p>
            <a:pPr indent="0" marL="0">
              <a:buNone/>
            </a:pPr>
            <a:r>
              <a:rPr lang="en-US" sz="4600" b="1" dirty="0">
                <a:solidFill>
                  <a:srgbClr val="2A2346"/>
                </a:solidFill>
                <a:latin typeface="Arial" pitchFamily="34" charset="0"/>
                <a:ea typeface="Arial" pitchFamily="34" charset="-122"/>
                <a:cs typeface="Arial" pitchFamily="34" charset="-120"/>
              </a:rPr>
              <a:t>36 min</a:t>
            </a:r>
            <a:endParaRPr lang="en-US" sz="4600" dirty="0"/>
          </a:p>
        </p:txBody>
      </p:sp>
      <p:sp>
        <p:nvSpPr>
          <p:cNvPr id="6" name="Text 3"/>
          <p:cNvSpPr txBox="1"/>
          <p:nvPr/>
        </p:nvSpPr>
        <p:spPr>
          <a:xfrm>
            <a:off x="868680" y="3108960"/>
            <a:ext cx="2880360" cy="1371600"/>
          </a:xfrm>
          <a:prstGeom prst="rect">
            <a:avLst/>
          </a:prstGeom>
          <a:noFill/>
          <a:ln/>
        </p:spPr>
        <p:txBody>
          <a:bodyPr wrap="square" lIns="0" tIns="0" rIns="0" bIns="0" rtlCol="0" anchor="t"/>
          <a:lstStyle/>
          <a:p>
            <a:pPr indent="0" marL="0">
              <a:buNone/>
            </a:pPr>
            <a:r>
              <a:rPr lang="en-US" sz="1700" b="1" dirty="0">
                <a:solidFill>
                  <a:srgbClr val="2A2346"/>
                </a:solidFill>
                <a:latin typeface="Arial" pitchFamily="34" charset="0"/>
                <a:ea typeface="Arial" pitchFamily="34" charset="-122"/>
                <a:cs typeface="Arial" pitchFamily="34" charset="-120"/>
              </a:rPr>
              <a:t>to go just 10 km</a:t>
            </a:r>
            <a:endParaRPr lang="en-US" sz="1700" dirty="0"/>
          </a:p>
          <a:p>
            <a:pPr indent="0" marL="0">
              <a:buNone/>
            </a:pPr>
            <a:r>
              <a:rPr lang="en-US" sz="1250" dirty="0">
                <a:solidFill>
                  <a:srgbClr val="5A5478"/>
                </a:solidFill>
                <a:latin typeface="Arial" pitchFamily="34" charset="0"/>
                <a:ea typeface="Arial" pitchFamily="34" charset="-122"/>
                <a:cs typeface="Arial" pitchFamily="34" charset="-120"/>
              </a:rPr>
              <a:t>2nd worst city in the whole world (TomTom 2025)</a:t>
            </a:r>
            <a:endParaRPr lang="en-US" sz="1700" dirty="0"/>
          </a:p>
        </p:txBody>
      </p:sp>
      <p:pic>
        <p:nvPicPr>
          <p:cNvPr id="7" name="problem stat" descr="preencoded.png">    </p:cNvPr>
          <p:cNvPicPr>
            <a:picLocks noChangeAspect="1"/>
          </p:cNvPicPr>
          <p:nvPr/>
        </p:nvPicPr>
        <p:blipFill>
          <a:blip r:embed="rId2"/>
          <a:stretch>
            <a:fillRect/>
          </a:stretch>
        </p:blipFill>
        <p:spPr>
          <a:xfrm>
            <a:off x="4041648" y="1444752"/>
            <a:ext cx="4105656" cy="3511296"/>
          </a:xfrm>
          <a:prstGeom prst="rect">
            <a:avLst/>
          </a:prstGeom>
        </p:spPr>
      </p:pic>
      <p:sp>
        <p:nvSpPr>
          <p:cNvPr id="8" name="Text 4"/>
          <p:cNvSpPr txBox="1"/>
          <p:nvPr/>
        </p:nvSpPr>
        <p:spPr>
          <a:xfrm>
            <a:off x="4654296" y="2057400"/>
            <a:ext cx="2880360" cy="914400"/>
          </a:xfrm>
          <a:prstGeom prst="rect">
            <a:avLst/>
          </a:prstGeom>
          <a:noFill/>
          <a:ln/>
        </p:spPr>
        <p:txBody>
          <a:bodyPr wrap="square" lIns="0" tIns="0" rIns="0" bIns="0" rtlCol="0" anchor="t"/>
          <a:lstStyle/>
          <a:p>
            <a:pPr indent="0" marL="0">
              <a:buNone/>
            </a:pPr>
            <a:r>
              <a:rPr lang="en-US" sz="4600" b="1" dirty="0">
                <a:solidFill>
                  <a:srgbClr val="2A2346"/>
                </a:solidFill>
                <a:latin typeface="Arial" pitchFamily="34" charset="0"/>
                <a:ea typeface="Arial" pitchFamily="34" charset="-122"/>
                <a:cs typeface="Arial" pitchFamily="34" charset="-120"/>
              </a:rPr>
              <a:t>168 hours</a:t>
            </a:r>
            <a:endParaRPr lang="en-US" sz="4600" dirty="0"/>
          </a:p>
        </p:txBody>
      </p:sp>
      <p:sp>
        <p:nvSpPr>
          <p:cNvPr id="9" name="Text 5"/>
          <p:cNvSpPr txBox="1"/>
          <p:nvPr/>
        </p:nvSpPr>
        <p:spPr>
          <a:xfrm>
            <a:off x="4654296" y="3108960"/>
            <a:ext cx="2880360" cy="1371600"/>
          </a:xfrm>
          <a:prstGeom prst="rect">
            <a:avLst/>
          </a:prstGeom>
          <a:noFill/>
          <a:ln/>
        </p:spPr>
        <p:txBody>
          <a:bodyPr wrap="square" lIns="0" tIns="0" rIns="0" bIns="0" rtlCol="0" anchor="t"/>
          <a:lstStyle/>
          <a:p>
            <a:pPr indent="0" marL="0">
              <a:buNone/>
            </a:pPr>
            <a:r>
              <a:rPr lang="en-US" sz="1700" b="1" dirty="0">
                <a:solidFill>
                  <a:srgbClr val="2A2346"/>
                </a:solidFill>
                <a:latin typeface="Arial" pitchFamily="34" charset="0"/>
                <a:ea typeface="Arial" pitchFamily="34" charset="-122"/>
                <a:cs typeface="Arial" pitchFamily="34" charset="-120"/>
              </a:rPr>
              <a:t>lost per person in peak hour</a:t>
            </a:r>
            <a:endParaRPr lang="en-US" sz="1700" dirty="0"/>
          </a:p>
          <a:p>
            <a:pPr indent="0" marL="0">
              <a:buNone/>
            </a:pPr>
            <a:r>
              <a:rPr lang="en-US" sz="1250" dirty="0">
                <a:solidFill>
                  <a:srgbClr val="5A5478"/>
                </a:solidFill>
                <a:latin typeface="Arial" pitchFamily="34" charset="0"/>
                <a:ea typeface="Arial" pitchFamily="34" charset="-122"/>
                <a:cs typeface="Arial" pitchFamily="34" charset="-120"/>
              </a:rPr>
              <a:t>in 2025. That's about 7 full days.</a:t>
            </a:r>
            <a:endParaRPr lang="en-US" sz="1700" dirty="0"/>
          </a:p>
        </p:txBody>
      </p:sp>
      <p:pic>
        <p:nvPicPr>
          <p:cNvPr id="10" name="problem stat" descr="preencoded.png">    </p:cNvPr>
          <p:cNvPicPr>
            <a:picLocks noChangeAspect="1"/>
          </p:cNvPicPr>
          <p:nvPr/>
        </p:nvPicPr>
        <p:blipFill>
          <a:blip r:embed="rId3"/>
          <a:stretch>
            <a:fillRect/>
          </a:stretch>
        </p:blipFill>
        <p:spPr>
          <a:xfrm>
            <a:off x="7827264" y="1444752"/>
            <a:ext cx="4105656" cy="3511296"/>
          </a:xfrm>
          <a:prstGeom prst="rect">
            <a:avLst/>
          </a:prstGeom>
        </p:spPr>
      </p:pic>
      <p:sp>
        <p:nvSpPr>
          <p:cNvPr id="11" name="Text 6"/>
          <p:cNvSpPr txBox="1"/>
          <p:nvPr/>
        </p:nvSpPr>
        <p:spPr>
          <a:xfrm>
            <a:off x="8439912" y="2057400"/>
            <a:ext cx="2880360" cy="914400"/>
          </a:xfrm>
          <a:prstGeom prst="rect">
            <a:avLst/>
          </a:prstGeom>
          <a:noFill/>
          <a:ln/>
        </p:spPr>
        <p:txBody>
          <a:bodyPr wrap="square" lIns="0" tIns="0" rIns="0" bIns="0" rtlCol="0" anchor="t"/>
          <a:lstStyle/>
          <a:p>
            <a:pPr indent="0" marL="0">
              <a:buNone/>
            </a:pPr>
            <a:r>
              <a:rPr lang="en-US" sz="4600" b="1" dirty="0">
                <a:solidFill>
                  <a:srgbClr val="2A2346"/>
                </a:solidFill>
                <a:latin typeface="Arial" pitchFamily="34" charset="0"/>
                <a:ea typeface="Arial" pitchFamily="34" charset="-122"/>
                <a:cs typeface="Arial" pitchFamily="34" charset="-120"/>
              </a:rPr>
              <a:t>3.5×</a:t>
            </a:r>
            <a:endParaRPr lang="en-US" sz="4600" dirty="0"/>
          </a:p>
        </p:txBody>
      </p:sp>
      <p:sp>
        <p:nvSpPr>
          <p:cNvPr id="12" name="Text 7"/>
          <p:cNvSpPr txBox="1"/>
          <p:nvPr/>
        </p:nvSpPr>
        <p:spPr>
          <a:xfrm>
            <a:off x="8439912" y="3108960"/>
            <a:ext cx="2880360" cy="1371600"/>
          </a:xfrm>
          <a:prstGeom prst="rect">
            <a:avLst/>
          </a:prstGeom>
          <a:noFill/>
          <a:ln/>
        </p:spPr>
        <p:txBody>
          <a:bodyPr wrap="square" lIns="0" tIns="0" rIns="0" bIns="0" rtlCol="0" anchor="t"/>
          <a:lstStyle/>
          <a:p>
            <a:pPr indent="0" marL="0">
              <a:buNone/>
            </a:pPr>
            <a:r>
              <a:rPr lang="en-US" sz="1700" b="1" dirty="0">
                <a:solidFill>
                  <a:srgbClr val="2A2346"/>
                </a:solidFill>
                <a:latin typeface="Arial" pitchFamily="34" charset="0"/>
                <a:ea typeface="Arial" pitchFamily="34" charset="-122"/>
                <a:cs typeface="Arial" pitchFamily="34" charset="-120"/>
              </a:rPr>
              <a:t>more traffic than Sarjapur Road was built for</a:t>
            </a:r>
            <a:endParaRPr lang="en-US" sz="1700" dirty="0"/>
          </a:p>
          <a:p>
            <a:pPr indent="0" marL="0">
              <a:buNone/>
            </a:pPr>
            <a:r>
              <a:rPr lang="en-US" sz="1250" dirty="0">
                <a:solidFill>
                  <a:srgbClr val="5A5478"/>
                </a:solidFill>
                <a:latin typeface="Arial" pitchFamily="34" charset="0"/>
                <a:ea typeface="Arial" pitchFamily="34" charset="-122"/>
                <a:cs typeface="Arial" pitchFamily="34" charset="-120"/>
              </a:rPr>
              <a:t>Traffic Police peak-hour study (ORR: 2.2×)</a:t>
            </a:r>
            <a:endParaRPr lang="en-US" sz="1700" dirty="0"/>
          </a:p>
        </p:txBody>
      </p:sp>
      <p:pic>
        <p:nvPicPr>
          <p:cNvPr id="13" name="punchline" descr="preencoded.png">    </p:cNvPr>
          <p:cNvPicPr>
            <a:picLocks noChangeAspect="1"/>
          </p:cNvPicPr>
          <p:nvPr/>
        </p:nvPicPr>
        <p:blipFill>
          <a:blip r:embed="rId4"/>
          <a:stretch>
            <a:fillRect/>
          </a:stretch>
        </p:blipFill>
        <p:spPr>
          <a:xfrm>
            <a:off x="256032" y="4736592"/>
            <a:ext cx="11676888" cy="1362456"/>
          </a:xfrm>
          <a:prstGeom prst="rect">
            <a:avLst/>
          </a:prstGeom>
        </p:spPr>
      </p:pic>
      <p:sp>
        <p:nvSpPr>
          <p:cNvPr id="14" name="Text 8"/>
          <p:cNvSpPr txBox="1"/>
          <p:nvPr/>
        </p:nvSpPr>
        <p:spPr>
          <a:xfrm>
            <a:off x="868680" y="5029200"/>
            <a:ext cx="10515600" cy="77724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And now thousands more buses are coming on the same roads.</a:t>
            </a:r>
            <a:endParaRPr lang="en-US" sz="1900" dirty="0"/>
          </a:p>
        </p:txBody>
      </p:sp>
      <p:sp>
        <p:nvSpPr>
          <p:cNvPr id="15" name="Text 9"/>
          <p:cNvSpPr txBox="1"/>
          <p:nvPr/>
        </p:nvSpPr>
        <p:spPr>
          <a:xfrm>
            <a:off x="548640" y="6108192"/>
            <a:ext cx="10515600" cy="228600"/>
          </a:xfrm>
          <a:prstGeom prst="rect">
            <a:avLst/>
          </a:prstGeom>
          <a:noFill/>
          <a:ln/>
        </p:spPr>
        <p:txBody>
          <a:bodyPr wrap="square" lIns="0" tIns="0" rIns="0" bIns="0" rtlCol="0" anchor="t"/>
          <a:lstStyle/>
          <a:p>
            <a:pPr indent="0" marL="0">
              <a:buNone/>
            </a:pPr>
            <a:r>
              <a:rPr lang="en-US" sz="1000" dirty="0">
                <a:solidFill>
                  <a:srgbClr val="5A5478"/>
                </a:solidFill>
                <a:latin typeface="Arial" pitchFamily="34" charset="0"/>
                <a:ea typeface="Arial" pitchFamily="34" charset="-122"/>
                <a:cs typeface="Arial" pitchFamily="34" charset="-120"/>
              </a:rPr>
              <a:t>Sources: TomTom Traffic Index 2025; Bengaluru Traffic Police ORR–Sarjapur Road study (via Deccan Herald)</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731520" y="822960"/>
            <a:ext cx="10698480" cy="914400"/>
          </a:xfrm>
          <a:prstGeom prst="rect">
            <a:avLst/>
          </a:prstGeom>
          <a:noFill/>
          <a:ln/>
        </p:spPr>
        <p:txBody>
          <a:bodyPr wrap="square" lIns="0" tIns="0" rIns="0" bIns="0" rtlCol="0" anchor="t"/>
          <a:lstStyle/>
          <a:p>
            <a:pPr algn="l" indent="0" marL="0">
              <a:buNone/>
            </a:pPr>
            <a:r>
              <a:rPr lang="en-US" sz="4400" b="1" dirty="0">
                <a:solidFill>
                  <a:schemeClr val="tx1"/>
                </a:solidFill>
              </a:rPr>
              <a:t>What people have tried so far</a:t>
            </a:r>
            <a:endParaRPr lang="en-US" sz="4400" dirty="0"/>
          </a:p>
        </p:txBody>
      </p:sp>
      <p:pic>
        <p:nvPicPr>
          <p:cNvPr id="3" name="statement card" descr="preencoded.png">    </p:cNvPr>
          <p:cNvPicPr>
            <a:picLocks noChangeAspect="1"/>
          </p:cNvPicPr>
          <p:nvPr/>
        </p:nvPicPr>
        <p:blipFill>
          <a:blip r:embed="rId1"/>
          <a:stretch>
            <a:fillRect/>
          </a:stretch>
        </p:blipFill>
        <p:spPr>
          <a:xfrm>
            <a:off x="438912" y="1810512"/>
            <a:ext cx="8266176" cy="3099816"/>
          </a:xfrm>
          <a:prstGeom prst="rect">
            <a:avLst/>
          </a:prstGeom>
        </p:spPr>
      </p:pic>
      <p:sp>
        <p:nvSpPr>
          <p:cNvPr id="4" name="Text 1"/>
          <p:cNvSpPr txBox="1"/>
          <p:nvPr/>
        </p:nvSpPr>
        <p:spPr>
          <a:xfrm>
            <a:off x="1143000" y="2423160"/>
            <a:ext cx="6858000" cy="2011680"/>
          </a:xfrm>
          <a:prstGeom prst="rect">
            <a:avLst/>
          </a:prstGeom>
          <a:noFill/>
          <a:ln/>
        </p:spPr>
        <p:txBody>
          <a:bodyPr wrap="square" lIns="0" tIns="0" rIns="0" bIns="0" rtlCol="0" anchor="t"/>
          <a:lstStyle/>
          <a:p>
            <a:pPr indent="0" marL="0">
              <a:lnSpc>
                <a:spcPct val="110000"/>
              </a:lnSpc>
              <a:buNone/>
            </a:pPr>
            <a:r>
              <a:rPr lang="en-US" sz="2100" dirty="0">
                <a:solidFill>
                  <a:srgbClr val="2A2346"/>
                </a:solidFill>
                <a:latin typeface="Arial" pitchFamily="34" charset="0"/>
                <a:ea typeface="Arial" pitchFamily="34" charset="-122"/>
                <a:cs typeface="Arial" pitchFamily="34" charset="-120"/>
              </a:rPr>
              <a:t>Researchers and companies have been simulating Indian traffic since the early 2000s: IIT Madras, IIT Bombay, IISc, CSIR-CRRI, and now Google and C-DAC.</a:t>
            </a:r>
            <a:endParaRPr lang="en-US" sz="2100" dirty="0"/>
          </a:p>
          <a:p>
            <a:pPr indent="0" marL="0">
              <a:lnSpc>
                <a:spcPct val="110000"/>
              </a:lnSpc>
              <a:buNone/>
            </a:pPr>
            <a:r>
              <a:rPr lang="en-US" sz="1000" dirty="0">
                <a:solidFill>
                  <a:srgbClr val="2A2346"/>
                </a:solidFill>
                <a:latin typeface="Arial" pitchFamily="34" charset="0"/>
                <a:ea typeface="Arial" pitchFamily="34" charset="-122"/>
                <a:cs typeface="Arial" pitchFamily="34" charset="-120"/>
              </a:rPr>
              <a:t> </a:t>
            </a:r>
            <a:endParaRPr lang="en-US" sz="2100" dirty="0"/>
          </a:p>
          <a:p>
            <a:pPr indent="0" marL="0">
              <a:lnSpc>
                <a:spcPct val="110000"/>
              </a:lnSpc>
              <a:buNone/>
            </a:pPr>
            <a:r>
              <a:rPr lang="en-US" sz="2100" b="1" dirty="0">
                <a:solidFill>
                  <a:srgbClr val="B8402A"/>
                </a:solidFill>
                <a:latin typeface="Arial" pitchFamily="34" charset="0"/>
                <a:ea typeface="Arial" pitchFamily="34" charset="-122"/>
                <a:cs typeface="Arial" pitchFamily="34" charset="-120"/>
              </a:rPr>
              <a:t>Abhyas builds on their work.</a:t>
            </a:r>
            <a:endParaRPr lang="en-US" sz="2100" dirty="0"/>
          </a:p>
        </p:txBody>
      </p:sp>
      <p:pic>
        <p:nvPicPr>
          <p:cNvPr id="5" name="icon blob" descr="preencoded.png">    </p:cNvPr>
          <p:cNvPicPr>
            <a:picLocks noChangeAspect="1"/>
          </p:cNvPicPr>
          <p:nvPr/>
        </p:nvPicPr>
        <p:blipFill>
          <a:blip r:embed="rId2"/>
          <a:stretch>
            <a:fillRect/>
          </a:stretch>
        </p:blipFill>
        <p:spPr>
          <a:xfrm>
            <a:off x="8805672" y="1810512"/>
            <a:ext cx="2596896" cy="2596896"/>
          </a:xfrm>
          <a:prstGeom prst="rect">
            <a:avLst/>
          </a:prstGeom>
        </p:spPr>
      </p:pic>
      <p:pic>
        <p:nvPicPr>
          <p:cNvPr id="6" name="icon FaBookOpen" descr="preencoded.png">    </p:cNvPr>
          <p:cNvPicPr>
            <a:picLocks noChangeAspect="1"/>
          </p:cNvPicPr>
          <p:nvPr/>
        </p:nvPicPr>
        <p:blipFill>
          <a:blip r:embed="rId3"/>
          <a:stretch>
            <a:fillRect/>
          </a:stretch>
        </p:blipFill>
        <p:spPr>
          <a:xfrm>
            <a:off x="9601200" y="2606040"/>
            <a:ext cx="1005840" cy="1005840"/>
          </a:xfrm>
          <a:prstGeom prst="rect">
            <a:avLst/>
          </a:prstGeom>
        </p:spPr>
      </p:pic>
      <p:sp>
        <p:nvSpPr>
          <p:cNvPr id="7" name="Text 2"/>
          <p:cNvSpPr txBox="1"/>
          <p:nvPr/>
        </p:nvSpPr>
        <p:spPr>
          <a:xfrm>
            <a:off x="8778240" y="4297680"/>
            <a:ext cx="2651760" cy="914400"/>
          </a:xfrm>
          <a:prstGeom prst="rect">
            <a:avLst/>
          </a:prstGeom>
          <a:noFill/>
          <a:ln/>
        </p:spPr>
        <p:txBody>
          <a:bodyPr wrap="square" lIns="0" tIns="0" rIns="0" bIns="0" rtlCol="0" anchor="t"/>
          <a:lstStyle/>
          <a:p>
            <a:pPr algn="ctr" indent="0" marL="0">
              <a:buNone/>
            </a:pPr>
            <a:r>
              <a:rPr lang="en-US" sz="1400" b="1" dirty="0">
                <a:solidFill>
                  <a:srgbClr val="2A2346"/>
                </a:solidFill>
                <a:latin typeface="Arial" pitchFamily="34" charset="0"/>
                <a:ea typeface="Arial" pitchFamily="34" charset="-122"/>
                <a:cs typeface="Arial" pitchFamily="34" charset="-120"/>
              </a:rPr>
              <a:t>8 earlier projects</a:t>
            </a:r>
            <a:endParaRPr lang="en-US" sz="1400" dirty="0"/>
          </a:p>
          <a:p>
            <a:pPr algn="ctr" indent="0" marL="0">
              <a:buNone/>
            </a:pPr>
            <a:r>
              <a:rPr lang="en-US" sz="1400" b="1" dirty="0">
                <a:solidFill>
                  <a:srgbClr val="2A2346"/>
                </a:solidFill>
                <a:latin typeface="Arial" pitchFamily="34" charset="0"/>
                <a:ea typeface="Arial" pitchFamily="34" charset="-122"/>
                <a:cs typeface="Arial" pitchFamily="34" charset="-120"/>
              </a:rPr>
              <a:t>18 sources cited</a:t>
            </a:r>
            <a:endParaRPr lang="en-US" sz="1400" dirty="0"/>
          </a:p>
          <a:p>
            <a:pPr algn="ctr" indent="0" marL="0">
              <a:buNone/>
            </a:pPr>
            <a:r>
              <a:rPr lang="en-US" sz="1400" b="1" dirty="0">
                <a:solidFill>
                  <a:srgbClr val="2A2346"/>
                </a:solidFill>
                <a:latin typeface="Arial" pitchFamily="34" charset="0"/>
                <a:ea typeface="Arial" pitchFamily="34" charset="-122"/>
                <a:cs typeface="Arial" pitchFamily="34" charset="-120"/>
              </a:rPr>
              <a:t>2 Indian standards</a:t>
            </a:r>
            <a:endParaRPr lang="en-US" sz="1400" dirty="0"/>
          </a:p>
        </p:txBody>
      </p:sp>
      <p:pic>
        <p:nvPicPr>
          <p:cNvPr id="8" name="lab chip" descr="preencoded.png">    </p:cNvPr>
          <p:cNvPicPr>
            <a:picLocks noChangeAspect="1"/>
          </p:cNvPicPr>
          <p:nvPr/>
        </p:nvPicPr>
        <p:blipFill>
          <a:blip r:embed="rId4"/>
          <a:stretch>
            <a:fillRect/>
          </a:stretch>
        </p:blipFill>
        <p:spPr>
          <a:xfrm>
            <a:off x="438912" y="5056632"/>
            <a:ext cx="1956816" cy="1088136"/>
          </a:xfrm>
          <a:prstGeom prst="rect">
            <a:avLst/>
          </a:prstGeom>
        </p:spPr>
      </p:pic>
      <p:sp>
        <p:nvSpPr>
          <p:cNvPr id="9" name="Text 3"/>
          <p:cNvSpPr txBox="1"/>
          <p:nvPr/>
        </p:nvSpPr>
        <p:spPr>
          <a:xfrm>
            <a:off x="731520" y="5349240"/>
            <a:ext cx="1371600" cy="502920"/>
          </a:xfrm>
          <a:prstGeom prst="rect">
            <a:avLst/>
          </a:prstGeom>
          <a:noFill/>
          <a:ln/>
        </p:spPr>
        <p:txBody>
          <a:bodyPr wrap="square" lIns="0" tIns="0" rIns="0" bIns="0" rtlCol="0" anchor="ctr"/>
          <a:lstStyle/>
          <a:p>
            <a:pPr algn="ctr" indent="0" marL="0">
              <a:buNone/>
            </a:pPr>
            <a:r>
              <a:rPr lang="en-US" sz="1300" b="1" dirty="0">
                <a:solidFill>
                  <a:srgbClr val="2A2346"/>
                </a:solidFill>
                <a:latin typeface="Arial" pitchFamily="34" charset="0"/>
                <a:ea typeface="Arial" pitchFamily="34" charset="-122"/>
                <a:cs typeface="Arial" pitchFamily="34" charset="-120"/>
              </a:rPr>
              <a:t>IIT Madras</a:t>
            </a:r>
            <a:endParaRPr lang="en-US" sz="1300" dirty="0"/>
          </a:p>
        </p:txBody>
      </p:sp>
      <p:pic>
        <p:nvPicPr>
          <p:cNvPr id="10" name="lab chip" descr="preencoded.png">    </p:cNvPr>
          <p:cNvPicPr>
            <a:picLocks noChangeAspect="1"/>
          </p:cNvPicPr>
          <p:nvPr/>
        </p:nvPicPr>
        <p:blipFill>
          <a:blip r:embed="rId5"/>
          <a:stretch>
            <a:fillRect/>
          </a:stretch>
        </p:blipFill>
        <p:spPr>
          <a:xfrm>
            <a:off x="1975104" y="5056632"/>
            <a:ext cx="1956816" cy="1088136"/>
          </a:xfrm>
          <a:prstGeom prst="rect">
            <a:avLst/>
          </a:prstGeom>
        </p:spPr>
      </p:pic>
      <p:sp>
        <p:nvSpPr>
          <p:cNvPr id="11" name="Text 4"/>
          <p:cNvSpPr txBox="1"/>
          <p:nvPr/>
        </p:nvSpPr>
        <p:spPr>
          <a:xfrm>
            <a:off x="2267712" y="5349240"/>
            <a:ext cx="1371600" cy="502920"/>
          </a:xfrm>
          <a:prstGeom prst="rect">
            <a:avLst/>
          </a:prstGeom>
          <a:noFill/>
          <a:ln/>
        </p:spPr>
        <p:txBody>
          <a:bodyPr wrap="square" lIns="0" tIns="0" rIns="0" bIns="0" rtlCol="0" anchor="ctr"/>
          <a:lstStyle/>
          <a:p>
            <a:pPr algn="ctr" indent="0" marL="0">
              <a:buNone/>
            </a:pPr>
            <a:r>
              <a:rPr lang="en-US" sz="1300" b="1" dirty="0">
                <a:solidFill>
                  <a:srgbClr val="2A2346"/>
                </a:solidFill>
                <a:latin typeface="Arial" pitchFamily="34" charset="0"/>
                <a:ea typeface="Arial" pitchFamily="34" charset="-122"/>
                <a:cs typeface="Arial" pitchFamily="34" charset="-120"/>
              </a:rPr>
              <a:t>IIT Bombay</a:t>
            </a:r>
            <a:endParaRPr lang="en-US" sz="1300" dirty="0"/>
          </a:p>
        </p:txBody>
      </p:sp>
      <p:pic>
        <p:nvPicPr>
          <p:cNvPr id="12" name="lab chip" descr="preencoded.png">    </p:cNvPr>
          <p:cNvPicPr>
            <a:picLocks noChangeAspect="1"/>
          </p:cNvPicPr>
          <p:nvPr/>
        </p:nvPicPr>
        <p:blipFill>
          <a:blip r:embed="rId6"/>
          <a:stretch>
            <a:fillRect/>
          </a:stretch>
        </p:blipFill>
        <p:spPr>
          <a:xfrm>
            <a:off x="3511296" y="5056632"/>
            <a:ext cx="1956816" cy="1088136"/>
          </a:xfrm>
          <a:prstGeom prst="rect">
            <a:avLst/>
          </a:prstGeom>
        </p:spPr>
      </p:pic>
      <p:sp>
        <p:nvSpPr>
          <p:cNvPr id="13" name="Text 5"/>
          <p:cNvSpPr txBox="1"/>
          <p:nvPr/>
        </p:nvSpPr>
        <p:spPr>
          <a:xfrm>
            <a:off x="3803904" y="5349240"/>
            <a:ext cx="1371600" cy="502920"/>
          </a:xfrm>
          <a:prstGeom prst="rect">
            <a:avLst/>
          </a:prstGeom>
          <a:noFill/>
          <a:ln/>
        </p:spPr>
        <p:txBody>
          <a:bodyPr wrap="square" lIns="0" tIns="0" rIns="0" bIns="0" rtlCol="0" anchor="ctr"/>
          <a:lstStyle/>
          <a:p>
            <a:pPr algn="ctr" indent="0" marL="0">
              <a:buNone/>
            </a:pPr>
            <a:r>
              <a:rPr lang="en-US" sz="1300" b="1" dirty="0">
                <a:solidFill>
                  <a:srgbClr val="2A2346"/>
                </a:solidFill>
                <a:latin typeface="Arial" pitchFamily="34" charset="0"/>
                <a:ea typeface="Arial" pitchFamily="34" charset="-122"/>
                <a:cs typeface="Arial" pitchFamily="34" charset="-120"/>
              </a:rPr>
              <a:t>IISc</a:t>
            </a:r>
            <a:endParaRPr lang="en-US" sz="1300" dirty="0"/>
          </a:p>
        </p:txBody>
      </p:sp>
      <p:pic>
        <p:nvPicPr>
          <p:cNvPr id="14" name="lab chip" descr="preencoded.png">    </p:cNvPr>
          <p:cNvPicPr>
            <a:picLocks noChangeAspect="1"/>
          </p:cNvPicPr>
          <p:nvPr/>
        </p:nvPicPr>
        <p:blipFill>
          <a:blip r:embed="rId7"/>
          <a:stretch>
            <a:fillRect/>
          </a:stretch>
        </p:blipFill>
        <p:spPr>
          <a:xfrm>
            <a:off x="5047488" y="5056632"/>
            <a:ext cx="1956816" cy="1088136"/>
          </a:xfrm>
          <a:prstGeom prst="rect">
            <a:avLst/>
          </a:prstGeom>
        </p:spPr>
      </p:pic>
      <p:sp>
        <p:nvSpPr>
          <p:cNvPr id="15" name="Text 6"/>
          <p:cNvSpPr txBox="1"/>
          <p:nvPr/>
        </p:nvSpPr>
        <p:spPr>
          <a:xfrm>
            <a:off x="5340096" y="5349240"/>
            <a:ext cx="1371600" cy="502920"/>
          </a:xfrm>
          <a:prstGeom prst="rect">
            <a:avLst/>
          </a:prstGeom>
          <a:noFill/>
          <a:ln/>
        </p:spPr>
        <p:txBody>
          <a:bodyPr wrap="square" lIns="0" tIns="0" rIns="0" bIns="0" rtlCol="0" anchor="ctr"/>
          <a:lstStyle/>
          <a:p>
            <a:pPr algn="ctr" indent="0" marL="0">
              <a:buNone/>
            </a:pPr>
            <a:r>
              <a:rPr lang="en-US" sz="1300" b="1" dirty="0">
                <a:solidFill>
                  <a:srgbClr val="2A2346"/>
                </a:solidFill>
                <a:latin typeface="Arial" pitchFamily="34" charset="0"/>
                <a:ea typeface="Arial" pitchFamily="34" charset="-122"/>
                <a:cs typeface="Arial" pitchFamily="34" charset="-120"/>
              </a:rPr>
              <a:t>CSIR-CRRI</a:t>
            </a:r>
            <a:endParaRPr lang="en-US" sz="1300" dirty="0"/>
          </a:p>
        </p:txBody>
      </p:sp>
      <p:pic>
        <p:nvPicPr>
          <p:cNvPr id="16" name="lab chip" descr="preencoded.png">    </p:cNvPr>
          <p:cNvPicPr>
            <a:picLocks noChangeAspect="1"/>
          </p:cNvPicPr>
          <p:nvPr/>
        </p:nvPicPr>
        <p:blipFill>
          <a:blip r:embed="rId8"/>
          <a:stretch>
            <a:fillRect/>
          </a:stretch>
        </p:blipFill>
        <p:spPr>
          <a:xfrm>
            <a:off x="6583680" y="5056632"/>
            <a:ext cx="1956816" cy="1088136"/>
          </a:xfrm>
          <a:prstGeom prst="rect">
            <a:avLst/>
          </a:prstGeom>
        </p:spPr>
      </p:pic>
      <p:sp>
        <p:nvSpPr>
          <p:cNvPr id="17" name="Text 7"/>
          <p:cNvSpPr txBox="1"/>
          <p:nvPr/>
        </p:nvSpPr>
        <p:spPr>
          <a:xfrm>
            <a:off x="6876288" y="5349240"/>
            <a:ext cx="1371600" cy="502920"/>
          </a:xfrm>
          <a:prstGeom prst="rect">
            <a:avLst/>
          </a:prstGeom>
          <a:noFill/>
          <a:ln/>
        </p:spPr>
        <p:txBody>
          <a:bodyPr wrap="square" lIns="0" tIns="0" rIns="0" bIns="0" rtlCol="0" anchor="ctr"/>
          <a:lstStyle/>
          <a:p>
            <a:pPr algn="ctr" indent="0" marL="0">
              <a:buNone/>
            </a:pPr>
            <a:r>
              <a:rPr lang="en-US" sz="1300" b="1" dirty="0">
                <a:solidFill>
                  <a:srgbClr val="2A2346"/>
                </a:solidFill>
                <a:latin typeface="Arial" pitchFamily="34" charset="0"/>
                <a:ea typeface="Arial" pitchFamily="34" charset="-122"/>
                <a:cs typeface="Arial" pitchFamily="34" charset="-120"/>
              </a:rPr>
              <a:t>Google</a:t>
            </a:r>
            <a:endParaRPr lang="en-US" sz="1300" dirty="0"/>
          </a:p>
        </p:txBody>
      </p:sp>
      <p:pic>
        <p:nvPicPr>
          <p:cNvPr id="18" name="lab chip" descr="preencoded.png">    </p:cNvPr>
          <p:cNvPicPr>
            <a:picLocks noChangeAspect="1"/>
          </p:cNvPicPr>
          <p:nvPr/>
        </p:nvPicPr>
        <p:blipFill>
          <a:blip r:embed="rId9"/>
          <a:stretch>
            <a:fillRect/>
          </a:stretch>
        </p:blipFill>
        <p:spPr>
          <a:xfrm>
            <a:off x="8119872" y="5056632"/>
            <a:ext cx="1956816" cy="1088136"/>
          </a:xfrm>
          <a:prstGeom prst="rect">
            <a:avLst/>
          </a:prstGeom>
        </p:spPr>
      </p:pic>
      <p:sp>
        <p:nvSpPr>
          <p:cNvPr id="19" name="Text 8"/>
          <p:cNvSpPr txBox="1"/>
          <p:nvPr/>
        </p:nvSpPr>
        <p:spPr>
          <a:xfrm>
            <a:off x="8412480" y="5349240"/>
            <a:ext cx="1371600" cy="502920"/>
          </a:xfrm>
          <a:prstGeom prst="rect">
            <a:avLst/>
          </a:prstGeom>
          <a:noFill/>
          <a:ln/>
        </p:spPr>
        <p:txBody>
          <a:bodyPr wrap="square" lIns="0" tIns="0" rIns="0" bIns="0" rtlCol="0" anchor="ctr"/>
          <a:lstStyle/>
          <a:p>
            <a:pPr algn="ctr" indent="0" marL="0">
              <a:buNone/>
            </a:pPr>
            <a:r>
              <a:rPr lang="en-US" sz="1300" b="1" dirty="0">
                <a:solidFill>
                  <a:srgbClr val="2A2346"/>
                </a:solidFill>
                <a:latin typeface="Arial" pitchFamily="34" charset="0"/>
                <a:ea typeface="Arial" pitchFamily="34" charset="-122"/>
                <a:cs typeface="Arial" pitchFamily="34" charset="-120"/>
              </a:rPr>
              <a:t>C-DAC</a:t>
            </a:r>
            <a:endParaRPr lang="en-US" sz="1300" dirty="0"/>
          </a:p>
        </p:txBody>
      </p:sp>
      <p:pic>
        <p:nvPicPr>
          <p:cNvPr id="20" name="lab chip" descr="preencoded.png">    </p:cNvPr>
          <p:cNvPicPr>
            <a:picLocks noChangeAspect="1"/>
          </p:cNvPicPr>
          <p:nvPr/>
        </p:nvPicPr>
        <p:blipFill>
          <a:blip r:embed="rId10"/>
          <a:stretch>
            <a:fillRect/>
          </a:stretch>
        </p:blipFill>
        <p:spPr>
          <a:xfrm>
            <a:off x="9656064" y="5056632"/>
            <a:ext cx="1956816" cy="1088136"/>
          </a:xfrm>
          <a:prstGeom prst="rect">
            <a:avLst/>
          </a:prstGeom>
        </p:spPr>
      </p:pic>
      <p:sp>
        <p:nvSpPr>
          <p:cNvPr id="21" name="Text 9"/>
          <p:cNvSpPr txBox="1"/>
          <p:nvPr/>
        </p:nvSpPr>
        <p:spPr>
          <a:xfrm>
            <a:off x="9948672" y="5349240"/>
            <a:ext cx="1371600" cy="502920"/>
          </a:xfrm>
          <a:prstGeom prst="rect">
            <a:avLst/>
          </a:prstGeom>
          <a:noFill/>
          <a:ln/>
        </p:spPr>
        <p:txBody>
          <a:bodyPr wrap="square" lIns="0" tIns="0" rIns="0" bIns="0" rtlCol="0" anchor="ctr"/>
          <a:lstStyle/>
          <a:p>
            <a:pPr algn="ctr" indent="0" marL="0">
              <a:buNone/>
            </a:pPr>
            <a:r>
              <a:rPr lang="en-US" sz="1300" b="1" dirty="0">
                <a:solidFill>
                  <a:srgbClr val="2A2346"/>
                </a:solidFill>
                <a:latin typeface="Arial" pitchFamily="34" charset="0"/>
                <a:ea typeface="Arial" pitchFamily="34" charset="-122"/>
                <a:cs typeface="Arial" pitchFamily="34" charset="-120"/>
              </a:rPr>
              <a:t>WRI India</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WHAT PEOPLE TRIED</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Earlier research and tools</a:t>
            </a:r>
            <a:endParaRPr lang="en-US" sz="3200" dirty="0"/>
          </a:p>
        </p:txBody>
      </p:sp>
      <p:sp>
        <p:nvSpPr>
          <p:cNvPr id="4" name="Text 2"/>
          <p:cNvSpPr txBox="1"/>
          <p:nvPr/>
        </p:nvSpPr>
        <p:spPr>
          <a:xfrm>
            <a:off x="548640" y="1719072"/>
            <a:ext cx="5486400" cy="228600"/>
          </a:xfrm>
          <a:prstGeom prst="rect">
            <a:avLst/>
          </a:prstGeom>
          <a:noFill/>
          <a:ln/>
        </p:spPr>
        <p:txBody>
          <a:bodyPr wrap="square" lIns="0" tIns="0" rIns="0" bIns="0" rtlCol="0" anchor="t"/>
          <a:lstStyle/>
          <a:p>
            <a:pPr indent="0" marL="0">
              <a:buNone/>
            </a:pPr>
            <a:r>
              <a:rPr lang="en-US" sz="1100" b="1" spc="200" kern="0" dirty="0">
                <a:solidFill>
                  <a:srgbClr val="5A5478"/>
                </a:solidFill>
                <a:latin typeface="Arial" pitchFamily="34" charset="0"/>
                <a:ea typeface="Arial" pitchFamily="34" charset="-122"/>
                <a:cs typeface="Arial" pitchFamily="34" charset="-120"/>
              </a:rPr>
              <a:t>IN RESEARCH LABS</a:t>
            </a:r>
            <a:endParaRPr lang="en-US" sz="1100" dirty="0"/>
          </a:p>
        </p:txBody>
      </p:sp>
      <p:pic>
        <p:nvPicPr>
          <p:cNvPr id="5" name="timeline card" descr="preencoded.png">    </p:cNvPr>
          <p:cNvPicPr>
            <a:picLocks noChangeAspect="1"/>
          </p:cNvPicPr>
          <p:nvPr/>
        </p:nvPicPr>
        <p:blipFill>
          <a:blip r:embed="rId1"/>
          <a:stretch>
            <a:fillRect/>
          </a:stretch>
        </p:blipFill>
        <p:spPr>
          <a:xfrm>
            <a:off x="256032" y="1764792"/>
            <a:ext cx="3172968" cy="2368296"/>
          </a:xfrm>
          <a:prstGeom prst="rect">
            <a:avLst/>
          </a:prstGeom>
        </p:spPr>
      </p:pic>
      <p:pic>
        <p:nvPicPr>
          <p:cNvPr id="6" name="year pill" descr="preencoded.png">    </p:cNvPr>
          <p:cNvPicPr>
            <a:picLocks noChangeAspect="1"/>
          </p:cNvPicPr>
          <p:nvPr/>
        </p:nvPicPr>
        <p:blipFill>
          <a:blip r:embed="rId2"/>
          <a:stretch>
            <a:fillRect/>
          </a:stretch>
        </p:blipFill>
        <p:spPr>
          <a:xfrm>
            <a:off x="438912" y="1929384"/>
            <a:ext cx="1819656" cy="877824"/>
          </a:xfrm>
          <a:prstGeom prst="rect">
            <a:avLst/>
          </a:prstGeom>
        </p:spPr>
      </p:pic>
      <p:sp>
        <p:nvSpPr>
          <p:cNvPr id="7" name="Text 3"/>
          <p:cNvSpPr txBox="1"/>
          <p:nvPr/>
        </p:nvSpPr>
        <p:spPr>
          <a:xfrm>
            <a:off x="731520" y="2221992"/>
            <a:ext cx="1234440" cy="292608"/>
          </a:xfrm>
          <a:prstGeom prst="rect">
            <a:avLst/>
          </a:prstGeom>
          <a:noFill/>
          <a:ln/>
        </p:spPr>
        <p:txBody>
          <a:bodyPr wrap="square" lIns="0" tIns="0" rIns="0" bIns="0" rtlCol="0" anchor="ctr"/>
          <a:lstStyle/>
          <a:p>
            <a:pPr algn="ctr" indent="0" marL="0">
              <a:buNone/>
            </a:pPr>
            <a:r>
              <a:rPr lang="en-US" sz="1000" b="1" dirty="0">
                <a:solidFill>
                  <a:srgbClr val="B8402A"/>
                </a:solidFill>
                <a:latin typeface="Arial" pitchFamily="34" charset="0"/>
                <a:ea typeface="Arial" pitchFamily="34" charset="-122"/>
                <a:cs typeface="Arial" pitchFamily="34" charset="-120"/>
              </a:rPr>
              <a:t>2000s</a:t>
            </a:r>
            <a:endParaRPr lang="en-US" sz="1000" dirty="0"/>
          </a:p>
        </p:txBody>
      </p:sp>
      <p:sp>
        <p:nvSpPr>
          <p:cNvPr id="8" name="Text 4"/>
          <p:cNvSpPr txBox="1"/>
          <p:nvPr/>
        </p:nvSpPr>
        <p:spPr>
          <a:xfrm>
            <a:off x="731520" y="2606040"/>
            <a:ext cx="2221992" cy="502920"/>
          </a:xfrm>
          <a:prstGeom prst="rect">
            <a:avLst/>
          </a:prstGeom>
          <a:noFill/>
          <a:ln/>
        </p:spPr>
        <p:txBody>
          <a:bodyPr wrap="square" lIns="0" tIns="0" rIns="0" bIns="0" rtlCol="0" anchor="t"/>
          <a:lstStyle/>
          <a:p>
            <a:pPr indent="0" marL="0">
              <a:buNone/>
            </a:pPr>
            <a:r>
              <a:rPr lang="en-US" sz="1500" b="1" dirty="0">
                <a:solidFill>
                  <a:srgbClr val="2A2346"/>
                </a:solidFill>
                <a:latin typeface="Arial" pitchFamily="34" charset="0"/>
                <a:ea typeface="Arial" pitchFamily="34" charset="-122"/>
                <a:cs typeface="Arial" pitchFamily="34" charset="-120"/>
              </a:rPr>
              <a:t>HETEROSIM</a:t>
            </a:r>
            <a:endParaRPr lang="en-US" sz="1500" dirty="0"/>
          </a:p>
          <a:p>
            <a:pPr indent="0" marL="0">
              <a:buNone/>
            </a:pPr>
            <a:r>
              <a:rPr lang="en-US" sz="1050" dirty="0">
                <a:solidFill>
                  <a:srgbClr val="5A5478"/>
                </a:solidFill>
                <a:latin typeface="Arial" pitchFamily="34" charset="0"/>
                <a:ea typeface="Arial" pitchFamily="34" charset="-122"/>
                <a:cs typeface="Arial" pitchFamily="34" charset="-120"/>
              </a:rPr>
              <a:t>IIT Madras</a:t>
            </a:r>
            <a:endParaRPr lang="en-US" sz="1500" dirty="0"/>
          </a:p>
        </p:txBody>
      </p:sp>
      <p:sp>
        <p:nvSpPr>
          <p:cNvPr id="9" name="Text 5"/>
          <p:cNvSpPr txBox="1"/>
          <p:nvPr/>
        </p:nvSpPr>
        <p:spPr>
          <a:xfrm>
            <a:off x="731520" y="3127248"/>
            <a:ext cx="2221992" cy="658368"/>
          </a:xfrm>
          <a:prstGeom prst="rect">
            <a:avLst/>
          </a:prstGeom>
          <a:noFill/>
          <a:ln/>
        </p:spPr>
        <p:txBody>
          <a:bodyPr wrap="square" lIns="0" tIns="0" rIns="0" bIns="0" rtlCol="0" anchor="t"/>
          <a:lstStyle/>
          <a:p>
            <a:pPr indent="0" marL="0">
              <a:buNone/>
            </a:pPr>
            <a:r>
              <a:rPr lang="en-US" sz="1050" dirty="0">
                <a:solidFill>
                  <a:srgbClr val="2A2346"/>
                </a:solidFill>
                <a:latin typeface="Arial" pitchFamily="34" charset="0"/>
                <a:ea typeface="Arial" pitchFamily="34" charset="-122"/>
                <a:cs typeface="Arial" pitchFamily="34" charset="-120"/>
              </a:rPr>
              <a:t>First simulator built for mixed Indian traffic. Used to work out PCU values.</a:t>
            </a:r>
            <a:endParaRPr lang="en-US" sz="1050" dirty="0"/>
          </a:p>
        </p:txBody>
      </p:sp>
      <p:pic>
        <p:nvPicPr>
          <p:cNvPr id="10" name="timeline card" descr="preencoded.png">    </p:cNvPr>
          <p:cNvPicPr>
            <a:picLocks noChangeAspect="1"/>
          </p:cNvPicPr>
          <p:nvPr/>
        </p:nvPicPr>
        <p:blipFill>
          <a:blip r:embed="rId3"/>
          <a:stretch>
            <a:fillRect/>
          </a:stretch>
        </p:blipFill>
        <p:spPr>
          <a:xfrm>
            <a:off x="3081528" y="1764792"/>
            <a:ext cx="3172968" cy="2368296"/>
          </a:xfrm>
          <a:prstGeom prst="rect">
            <a:avLst/>
          </a:prstGeom>
        </p:spPr>
      </p:pic>
      <p:pic>
        <p:nvPicPr>
          <p:cNvPr id="11" name="year pill" descr="preencoded.png">    </p:cNvPr>
          <p:cNvPicPr>
            <a:picLocks noChangeAspect="1"/>
          </p:cNvPicPr>
          <p:nvPr/>
        </p:nvPicPr>
        <p:blipFill>
          <a:blip r:embed="rId4"/>
          <a:stretch>
            <a:fillRect/>
          </a:stretch>
        </p:blipFill>
        <p:spPr>
          <a:xfrm>
            <a:off x="3264408" y="1929384"/>
            <a:ext cx="1819656" cy="877824"/>
          </a:xfrm>
          <a:prstGeom prst="rect">
            <a:avLst/>
          </a:prstGeom>
        </p:spPr>
      </p:pic>
      <p:sp>
        <p:nvSpPr>
          <p:cNvPr id="12" name="Text 6"/>
          <p:cNvSpPr txBox="1"/>
          <p:nvPr/>
        </p:nvSpPr>
        <p:spPr>
          <a:xfrm>
            <a:off x="3557016" y="2221992"/>
            <a:ext cx="1234440" cy="292608"/>
          </a:xfrm>
          <a:prstGeom prst="rect">
            <a:avLst/>
          </a:prstGeom>
          <a:noFill/>
          <a:ln/>
        </p:spPr>
        <p:txBody>
          <a:bodyPr wrap="square" lIns="0" tIns="0" rIns="0" bIns="0" rtlCol="0" anchor="ctr"/>
          <a:lstStyle/>
          <a:p>
            <a:pPr algn="ctr" indent="0" marL="0">
              <a:buNone/>
            </a:pPr>
            <a:r>
              <a:rPr lang="en-US" sz="1000" b="1" dirty="0">
                <a:solidFill>
                  <a:srgbClr val="B8402A"/>
                </a:solidFill>
                <a:latin typeface="Arial" pitchFamily="34" charset="0"/>
                <a:ea typeface="Arial" pitchFamily="34" charset="-122"/>
                <a:cs typeface="Arial" pitchFamily="34" charset="-120"/>
              </a:rPr>
              <a:t>Early 2010s</a:t>
            </a:r>
            <a:endParaRPr lang="en-US" sz="1000" dirty="0"/>
          </a:p>
        </p:txBody>
      </p:sp>
      <p:sp>
        <p:nvSpPr>
          <p:cNvPr id="13" name="Text 7"/>
          <p:cNvSpPr txBox="1"/>
          <p:nvPr/>
        </p:nvSpPr>
        <p:spPr>
          <a:xfrm>
            <a:off x="3557016" y="2606040"/>
            <a:ext cx="2221992" cy="502920"/>
          </a:xfrm>
          <a:prstGeom prst="rect">
            <a:avLst/>
          </a:prstGeom>
          <a:noFill/>
          <a:ln/>
        </p:spPr>
        <p:txBody>
          <a:bodyPr wrap="square" lIns="0" tIns="0" rIns="0" bIns="0" rtlCol="0" anchor="t"/>
          <a:lstStyle/>
          <a:p>
            <a:pPr indent="0" marL="0">
              <a:buNone/>
            </a:pPr>
            <a:r>
              <a:rPr lang="en-US" sz="1500" b="1" dirty="0">
                <a:solidFill>
                  <a:srgbClr val="2A2346"/>
                </a:solidFill>
                <a:latin typeface="Arial" pitchFamily="34" charset="0"/>
                <a:ea typeface="Arial" pitchFamily="34" charset="-122"/>
                <a:cs typeface="Arial" pitchFamily="34" charset="-120"/>
              </a:rPr>
              <a:t>SiMTraM</a:t>
            </a:r>
            <a:endParaRPr lang="en-US" sz="1500" dirty="0"/>
          </a:p>
          <a:p>
            <a:pPr indent="0" marL="0">
              <a:buNone/>
            </a:pPr>
            <a:r>
              <a:rPr lang="en-US" sz="1050" dirty="0">
                <a:solidFill>
                  <a:srgbClr val="5A5478"/>
                </a:solidFill>
                <a:latin typeface="Arial" pitchFamily="34" charset="0"/>
                <a:ea typeface="Arial" pitchFamily="34" charset="-122"/>
                <a:cs typeface="Arial" pitchFamily="34" charset="-120"/>
              </a:rPr>
              <a:t>IIT Bombay</a:t>
            </a:r>
            <a:endParaRPr lang="en-US" sz="1500" dirty="0"/>
          </a:p>
        </p:txBody>
      </p:sp>
      <p:sp>
        <p:nvSpPr>
          <p:cNvPr id="14" name="Text 8"/>
          <p:cNvSpPr txBox="1"/>
          <p:nvPr/>
        </p:nvSpPr>
        <p:spPr>
          <a:xfrm>
            <a:off x="3557016" y="3127248"/>
            <a:ext cx="2221992" cy="658368"/>
          </a:xfrm>
          <a:prstGeom prst="rect">
            <a:avLst/>
          </a:prstGeom>
          <a:noFill/>
          <a:ln/>
        </p:spPr>
        <p:txBody>
          <a:bodyPr wrap="square" lIns="0" tIns="0" rIns="0" bIns="0" rtlCol="0" anchor="t"/>
          <a:lstStyle/>
          <a:p>
            <a:pPr indent="0" marL="0">
              <a:buNone/>
            </a:pPr>
            <a:r>
              <a:rPr lang="en-US" sz="1050" dirty="0">
                <a:solidFill>
                  <a:srgbClr val="2A2346"/>
                </a:solidFill>
                <a:latin typeface="Arial" pitchFamily="34" charset="0"/>
                <a:ea typeface="Arial" pitchFamily="34" charset="-122"/>
                <a:cs typeface="Arial" pitchFamily="34" charset="-120"/>
              </a:rPr>
              <a:t>Cut each lane into thin strips so many bikes can share one lane, inside SUMO.</a:t>
            </a:r>
            <a:endParaRPr lang="en-US" sz="1050" dirty="0"/>
          </a:p>
        </p:txBody>
      </p:sp>
      <p:pic>
        <p:nvPicPr>
          <p:cNvPr id="15" name="timeline card" descr="preencoded.png">    </p:cNvPr>
          <p:cNvPicPr>
            <a:picLocks noChangeAspect="1"/>
          </p:cNvPicPr>
          <p:nvPr/>
        </p:nvPicPr>
        <p:blipFill>
          <a:blip r:embed="rId5"/>
          <a:stretch>
            <a:fillRect/>
          </a:stretch>
        </p:blipFill>
        <p:spPr>
          <a:xfrm>
            <a:off x="5907024" y="1764792"/>
            <a:ext cx="3172968" cy="2368296"/>
          </a:xfrm>
          <a:prstGeom prst="rect">
            <a:avLst/>
          </a:prstGeom>
        </p:spPr>
      </p:pic>
      <p:pic>
        <p:nvPicPr>
          <p:cNvPr id="16" name="year pill" descr="preencoded.png">    </p:cNvPr>
          <p:cNvPicPr>
            <a:picLocks noChangeAspect="1"/>
          </p:cNvPicPr>
          <p:nvPr/>
        </p:nvPicPr>
        <p:blipFill>
          <a:blip r:embed="rId6"/>
          <a:stretch>
            <a:fillRect/>
          </a:stretch>
        </p:blipFill>
        <p:spPr>
          <a:xfrm>
            <a:off x="6089904" y="1929384"/>
            <a:ext cx="1819656" cy="877824"/>
          </a:xfrm>
          <a:prstGeom prst="rect">
            <a:avLst/>
          </a:prstGeom>
        </p:spPr>
      </p:pic>
      <p:sp>
        <p:nvSpPr>
          <p:cNvPr id="17" name="Text 9"/>
          <p:cNvSpPr txBox="1"/>
          <p:nvPr/>
        </p:nvSpPr>
        <p:spPr>
          <a:xfrm>
            <a:off x="6382512" y="2221992"/>
            <a:ext cx="1234440" cy="292608"/>
          </a:xfrm>
          <a:prstGeom prst="rect">
            <a:avLst/>
          </a:prstGeom>
          <a:noFill/>
          <a:ln/>
        </p:spPr>
        <p:txBody>
          <a:bodyPr wrap="square" lIns="0" tIns="0" rIns="0" bIns="0" rtlCol="0" anchor="ctr"/>
          <a:lstStyle/>
          <a:p>
            <a:pPr algn="ctr" indent="0" marL="0">
              <a:buNone/>
            </a:pPr>
            <a:r>
              <a:rPr lang="en-US" sz="1000" b="1" dirty="0">
                <a:solidFill>
                  <a:srgbClr val="B8402A"/>
                </a:solidFill>
                <a:latin typeface="Arial" pitchFamily="34" charset="0"/>
                <a:ea typeface="Arial" pitchFamily="34" charset="-122"/>
                <a:cs typeface="Arial" pitchFamily="34" charset="-120"/>
              </a:rPr>
              <a:t>2017</a:t>
            </a:r>
            <a:endParaRPr lang="en-US" sz="1000" dirty="0"/>
          </a:p>
        </p:txBody>
      </p:sp>
      <p:sp>
        <p:nvSpPr>
          <p:cNvPr id="18" name="Text 10"/>
          <p:cNvSpPr txBox="1"/>
          <p:nvPr/>
        </p:nvSpPr>
        <p:spPr>
          <a:xfrm>
            <a:off x="6382512" y="2606040"/>
            <a:ext cx="2221992" cy="502920"/>
          </a:xfrm>
          <a:prstGeom prst="rect">
            <a:avLst/>
          </a:prstGeom>
          <a:noFill/>
          <a:ln/>
        </p:spPr>
        <p:txBody>
          <a:bodyPr wrap="square" lIns="0" tIns="0" rIns="0" bIns="0" rtlCol="0" anchor="t"/>
          <a:lstStyle/>
          <a:p>
            <a:pPr indent="0" marL="0">
              <a:buNone/>
            </a:pPr>
            <a:r>
              <a:rPr lang="en-US" sz="1500" b="1" dirty="0">
                <a:solidFill>
                  <a:srgbClr val="2A2346"/>
                </a:solidFill>
                <a:latin typeface="Arial" pitchFamily="34" charset="0"/>
                <a:ea typeface="Arial" pitchFamily="34" charset="-122"/>
                <a:cs typeface="Arial" pitchFamily="34" charset="-120"/>
              </a:rPr>
              <a:t>Indo-HCM</a:t>
            </a:r>
            <a:endParaRPr lang="en-US" sz="1500" dirty="0"/>
          </a:p>
          <a:p>
            <a:pPr indent="0" marL="0">
              <a:buNone/>
            </a:pPr>
            <a:r>
              <a:rPr lang="en-US" sz="1050" dirty="0">
                <a:solidFill>
                  <a:srgbClr val="5A5478"/>
                </a:solidFill>
                <a:latin typeface="Arial" pitchFamily="34" charset="0"/>
                <a:ea typeface="Arial" pitchFamily="34" charset="-122"/>
                <a:cs typeface="Arial" pitchFamily="34" charset="-120"/>
              </a:rPr>
              <a:t>CSIR-CRRI</a:t>
            </a:r>
            <a:endParaRPr lang="en-US" sz="1500" dirty="0"/>
          </a:p>
        </p:txBody>
      </p:sp>
      <p:sp>
        <p:nvSpPr>
          <p:cNvPr id="19" name="Text 11"/>
          <p:cNvSpPr txBox="1"/>
          <p:nvPr/>
        </p:nvSpPr>
        <p:spPr>
          <a:xfrm>
            <a:off x="6382512" y="3127248"/>
            <a:ext cx="2221992" cy="658368"/>
          </a:xfrm>
          <a:prstGeom prst="rect">
            <a:avLst/>
          </a:prstGeom>
          <a:noFill/>
          <a:ln/>
        </p:spPr>
        <p:txBody>
          <a:bodyPr wrap="square" lIns="0" tIns="0" rIns="0" bIns="0" rtlCol="0" anchor="t"/>
          <a:lstStyle/>
          <a:p>
            <a:pPr indent="0" marL="0">
              <a:buNone/>
            </a:pPr>
            <a:r>
              <a:rPr lang="en-US" sz="1050" dirty="0">
                <a:solidFill>
                  <a:srgbClr val="2A2346"/>
                </a:solidFill>
                <a:latin typeface="Arial" pitchFamily="34" charset="0"/>
                <a:ea typeface="Arial" pitchFamily="34" charset="-122"/>
                <a:cs typeface="Arial" pitchFamily="34" charset="-120"/>
              </a:rPr>
              <a:t>India's own road capacity manual. Real vehicle sizes and gap timings.</a:t>
            </a:r>
            <a:endParaRPr lang="en-US" sz="1050" dirty="0"/>
          </a:p>
        </p:txBody>
      </p:sp>
      <p:pic>
        <p:nvPicPr>
          <p:cNvPr id="20" name="timeline card" descr="preencoded.png">    </p:cNvPr>
          <p:cNvPicPr>
            <a:picLocks noChangeAspect="1"/>
          </p:cNvPicPr>
          <p:nvPr/>
        </p:nvPicPr>
        <p:blipFill>
          <a:blip r:embed="rId7"/>
          <a:stretch>
            <a:fillRect/>
          </a:stretch>
        </p:blipFill>
        <p:spPr>
          <a:xfrm>
            <a:off x="8732520" y="1764792"/>
            <a:ext cx="3172968" cy="2368296"/>
          </a:xfrm>
          <a:prstGeom prst="rect">
            <a:avLst/>
          </a:prstGeom>
        </p:spPr>
      </p:pic>
      <p:pic>
        <p:nvPicPr>
          <p:cNvPr id="21" name="year pill" descr="preencoded.png">    </p:cNvPr>
          <p:cNvPicPr>
            <a:picLocks noChangeAspect="1"/>
          </p:cNvPicPr>
          <p:nvPr/>
        </p:nvPicPr>
        <p:blipFill>
          <a:blip r:embed="rId8"/>
          <a:stretch>
            <a:fillRect/>
          </a:stretch>
        </p:blipFill>
        <p:spPr>
          <a:xfrm>
            <a:off x="8915400" y="1929384"/>
            <a:ext cx="1819656" cy="877824"/>
          </a:xfrm>
          <a:prstGeom prst="rect">
            <a:avLst/>
          </a:prstGeom>
        </p:spPr>
      </p:pic>
      <p:sp>
        <p:nvSpPr>
          <p:cNvPr id="22" name="Text 12"/>
          <p:cNvSpPr txBox="1"/>
          <p:nvPr/>
        </p:nvSpPr>
        <p:spPr>
          <a:xfrm>
            <a:off x="9208008" y="2221992"/>
            <a:ext cx="1234440" cy="292608"/>
          </a:xfrm>
          <a:prstGeom prst="rect">
            <a:avLst/>
          </a:prstGeom>
          <a:noFill/>
          <a:ln/>
        </p:spPr>
        <p:txBody>
          <a:bodyPr wrap="square" lIns="0" tIns="0" rIns="0" bIns="0" rtlCol="0" anchor="ctr"/>
          <a:lstStyle/>
          <a:p>
            <a:pPr algn="ctr" indent="0" marL="0">
              <a:buNone/>
            </a:pPr>
            <a:r>
              <a:rPr lang="en-US" sz="1000" b="1" dirty="0">
                <a:solidFill>
                  <a:srgbClr val="B8402A"/>
                </a:solidFill>
                <a:latin typeface="Arial" pitchFamily="34" charset="0"/>
                <a:ea typeface="Arial" pitchFamily="34" charset="-122"/>
                <a:cs typeface="Arial" pitchFamily="34" charset="-120"/>
              </a:rPr>
              <a:t>2019</a:t>
            </a:r>
            <a:endParaRPr lang="en-US" sz="1000" dirty="0"/>
          </a:p>
        </p:txBody>
      </p:sp>
      <p:sp>
        <p:nvSpPr>
          <p:cNvPr id="23" name="Text 13"/>
          <p:cNvSpPr txBox="1"/>
          <p:nvPr/>
        </p:nvSpPr>
        <p:spPr>
          <a:xfrm>
            <a:off x="9208008" y="2606040"/>
            <a:ext cx="2221992" cy="502920"/>
          </a:xfrm>
          <a:prstGeom prst="rect">
            <a:avLst/>
          </a:prstGeom>
          <a:noFill/>
          <a:ln/>
        </p:spPr>
        <p:txBody>
          <a:bodyPr wrap="square" lIns="0" tIns="0" rIns="0" bIns="0" rtlCol="0" anchor="t"/>
          <a:lstStyle/>
          <a:p>
            <a:pPr indent="0" marL="0">
              <a:buNone/>
            </a:pPr>
            <a:r>
              <a:rPr lang="en-US" sz="1500" b="1" dirty="0">
                <a:solidFill>
                  <a:srgbClr val="2A2346"/>
                </a:solidFill>
                <a:latin typeface="Arial" pitchFamily="34" charset="0"/>
                <a:ea typeface="Arial" pitchFamily="34" charset="-122"/>
                <a:cs typeface="Arial" pitchFamily="34" charset="-120"/>
              </a:rPr>
              <a:t>IISc Bengaluru</a:t>
            </a:r>
            <a:endParaRPr lang="en-US" sz="1500" dirty="0"/>
          </a:p>
          <a:p>
            <a:pPr indent="0" marL="0">
              <a:buNone/>
            </a:pPr>
            <a:r>
              <a:rPr lang="en-US" sz="1050" dirty="0">
                <a:solidFill>
                  <a:srgbClr val="5A5478"/>
                </a:solidFill>
                <a:latin typeface="Arial" pitchFamily="34" charset="0"/>
                <a:ea typeface="Arial" pitchFamily="34" charset="-122"/>
                <a:cs typeface="Arial" pitchFamily="34" charset="-120"/>
              </a:rPr>
              <a:t>Prof. Ashish Verma's lab</a:t>
            </a:r>
            <a:endParaRPr lang="en-US" sz="1500" dirty="0"/>
          </a:p>
        </p:txBody>
      </p:sp>
      <p:sp>
        <p:nvSpPr>
          <p:cNvPr id="24" name="Text 14"/>
          <p:cNvSpPr txBox="1"/>
          <p:nvPr/>
        </p:nvSpPr>
        <p:spPr>
          <a:xfrm>
            <a:off x="9208008" y="3127248"/>
            <a:ext cx="2221992" cy="658368"/>
          </a:xfrm>
          <a:prstGeom prst="rect">
            <a:avLst/>
          </a:prstGeom>
          <a:noFill/>
          <a:ln/>
        </p:spPr>
        <p:txBody>
          <a:bodyPr wrap="square" lIns="0" tIns="0" rIns="0" bIns="0" rtlCol="0" anchor="t"/>
          <a:lstStyle/>
          <a:p>
            <a:pPr indent="0" marL="0">
              <a:buNone/>
            </a:pPr>
            <a:r>
              <a:rPr lang="en-US" sz="1050" dirty="0">
                <a:solidFill>
                  <a:srgbClr val="2A2346"/>
                </a:solidFill>
                <a:latin typeface="Arial" pitchFamily="34" charset="0"/>
                <a:ea typeface="Arial" pitchFamily="34" charset="-122"/>
                <a:cs typeface="Arial" pitchFamily="34" charset="-120"/>
              </a:rPr>
              <a:t>Simulated 3 city junctions for better signal timing. Built a city travel-demand model.</a:t>
            </a:r>
            <a:endParaRPr lang="en-US" sz="1050" dirty="0"/>
          </a:p>
        </p:txBody>
      </p:sp>
      <p:sp>
        <p:nvSpPr>
          <p:cNvPr id="25" name="Text 15"/>
          <p:cNvSpPr txBox="1"/>
          <p:nvPr/>
        </p:nvSpPr>
        <p:spPr>
          <a:xfrm>
            <a:off x="548640" y="3959352"/>
            <a:ext cx="5486400" cy="228600"/>
          </a:xfrm>
          <a:prstGeom prst="rect">
            <a:avLst/>
          </a:prstGeom>
          <a:noFill/>
          <a:ln/>
        </p:spPr>
        <p:txBody>
          <a:bodyPr wrap="square" lIns="0" tIns="0" rIns="0" bIns="0" rtlCol="0" anchor="t"/>
          <a:lstStyle/>
          <a:p>
            <a:pPr indent="0" marL="0">
              <a:buNone/>
            </a:pPr>
            <a:r>
              <a:rPr lang="en-US" sz="1100" b="1" spc="200" kern="0" dirty="0">
                <a:solidFill>
                  <a:srgbClr val="5A5478"/>
                </a:solidFill>
                <a:latin typeface="Arial" pitchFamily="34" charset="0"/>
                <a:ea typeface="Arial" pitchFamily="34" charset="-122"/>
                <a:cs typeface="Arial" pitchFamily="34" charset="-120"/>
              </a:rPr>
              <a:t>ALREADY ON INDIAN ROADS</a:t>
            </a:r>
            <a:endParaRPr lang="en-US" sz="1100" dirty="0"/>
          </a:p>
        </p:txBody>
      </p:sp>
      <p:pic>
        <p:nvPicPr>
          <p:cNvPr id="26" name="timeline card" descr="preencoded.png">    </p:cNvPr>
          <p:cNvPicPr>
            <a:picLocks noChangeAspect="1"/>
          </p:cNvPicPr>
          <p:nvPr/>
        </p:nvPicPr>
        <p:blipFill>
          <a:blip r:embed="rId9"/>
          <a:stretch>
            <a:fillRect/>
          </a:stretch>
        </p:blipFill>
        <p:spPr>
          <a:xfrm>
            <a:off x="256032" y="4005072"/>
            <a:ext cx="3172968" cy="2368296"/>
          </a:xfrm>
          <a:prstGeom prst="rect">
            <a:avLst/>
          </a:prstGeom>
        </p:spPr>
      </p:pic>
      <p:pic>
        <p:nvPicPr>
          <p:cNvPr id="27" name="year pill" descr="preencoded.png">    </p:cNvPr>
          <p:cNvPicPr>
            <a:picLocks noChangeAspect="1"/>
          </p:cNvPicPr>
          <p:nvPr/>
        </p:nvPicPr>
        <p:blipFill>
          <a:blip r:embed="rId10"/>
          <a:stretch>
            <a:fillRect/>
          </a:stretch>
        </p:blipFill>
        <p:spPr>
          <a:xfrm>
            <a:off x="438912" y="4169664"/>
            <a:ext cx="1819656" cy="877824"/>
          </a:xfrm>
          <a:prstGeom prst="rect">
            <a:avLst/>
          </a:prstGeom>
        </p:spPr>
      </p:pic>
      <p:sp>
        <p:nvSpPr>
          <p:cNvPr id="28" name="Text 16"/>
          <p:cNvSpPr txBox="1"/>
          <p:nvPr/>
        </p:nvSpPr>
        <p:spPr>
          <a:xfrm>
            <a:off x="731520" y="4462272"/>
            <a:ext cx="1234440" cy="292608"/>
          </a:xfrm>
          <a:prstGeom prst="rect">
            <a:avLst/>
          </a:prstGeom>
          <a:noFill/>
          <a:ln/>
        </p:spPr>
        <p:txBody>
          <a:bodyPr wrap="square" lIns="0" tIns="0" rIns="0" bIns="0" rtlCol="0" anchor="ctr"/>
          <a:lstStyle/>
          <a:p>
            <a:pPr algn="ctr" indent="0" marL="0">
              <a:buNone/>
            </a:pPr>
            <a:r>
              <a:rPr lang="en-US" sz="1000" b="1" dirty="0">
                <a:solidFill>
                  <a:srgbClr val="B8402A"/>
                </a:solidFill>
                <a:latin typeface="Arial" pitchFamily="34" charset="0"/>
                <a:ea typeface="Arial" pitchFamily="34" charset="-122"/>
                <a:cs typeface="Arial" pitchFamily="34" charset="-120"/>
              </a:rPr>
              <a:t>Since 2021</a:t>
            </a:r>
            <a:endParaRPr lang="en-US" sz="1000" dirty="0"/>
          </a:p>
        </p:txBody>
      </p:sp>
      <p:sp>
        <p:nvSpPr>
          <p:cNvPr id="29" name="Text 17"/>
          <p:cNvSpPr txBox="1"/>
          <p:nvPr/>
        </p:nvSpPr>
        <p:spPr>
          <a:xfrm>
            <a:off x="731520" y="4846320"/>
            <a:ext cx="2221992" cy="502920"/>
          </a:xfrm>
          <a:prstGeom prst="rect">
            <a:avLst/>
          </a:prstGeom>
          <a:noFill/>
          <a:ln/>
        </p:spPr>
        <p:txBody>
          <a:bodyPr wrap="square" lIns="0" tIns="0" rIns="0" bIns="0" rtlCol="0" anchor="t"/>
          <a:lstStyle/>
          <a:p>
            <a:pPr indent="0" marL="0">
              <a:buNone/>
            </a:pPr>
            <a:r>
              <a:rPr lang="en-US" sz="1500" b="1" dirty="0">
                <a:solidFill>
                  <a:srgbClr val="2A2346"/>
                </a:solidFill>
                <a:latin typeface="Arial" pitchFamily="34" charset="0"/>
                <a:ea typeface="Arial" pitchFamily="34" charset="-122"/>
                <a:cs typeface="Arial" pitchFamily="34" charset="-120"/>
              </a:rPr>
              <a:t>Google Green Light</a:t>
            </a:r>
            <a:endParaRPr lang="en-US" sz="1500" dirty="0"/>
          </a:p>
          <a:p>
            <a:pPr indent="0" marL="0">
              <a:buNone/>
            </a:pPr>
            <a:r>
              <a:rPr lang="en-US" sz="1050" dirty="0">
                <a:solidFill>
                  <a:srgbClr val="5A5478"/>
                </a:solidFill>
                <a:latin typeface="Arial" pitchFamily="34" charset="0"/>
                <a:ea typeface="Arial" pitchFamily="34" charset="-122"/>
                <a:cs typeface="Arial" pitchFamily="34" charset="-120"/>
              </a:rPr>
              <a:t>Bengaluru, Kolkata</a:t>
            </a:r>
            <a:endParaRPr lang="en-US" sz="1500" dirty="0"/>
          </a:p>
        </p:txBody>
      </p:sp>
      <p:sp>
        <p:nvSpPr>
          <p:cNvPr id="30" name="Text 18"/>
          <p:cNvSpPr txBox="1"/>
          <p:nvPr/>
        </p:nvSpPr>
        <p:spPr>
          <a:xfrm>
            <a:off x="731520" y="5367528"/>
            <a:ext cx="2221992" cy="658368"/>
          </a:xfrm>
          <a:prstGeom prst="rect">
            <a:avLst/>
          </a:prstGeom>
          <a:noFill/>
          <a:ln/>
        </p:spPr>
        <p:txBody>
          <a:bodyPr wrap="square" lIns="0" tIns="0" rIns="0" bIns="0" rtlCol="0" anchor="t"/>
          <a:lstStyle/>
          <a:p>
            <a:pPr indent="0" marL="0">
              <a:buNone/>
            </a:pPr>
            <a:r>
              <a:rPr lang="en-US" sz="1050" dirty="0">
                <a:solidFill>
                  <a:srgbClr val="2A2346"/>
                </a:solidFill>
                <a:latin typeface="Arial" pitchFamily="34" charset="0"/>
                <a:ea typeface="Arial" pitchFamily="34" charset="-122"/>
                <a:cs typeface="Arial" pitchFamily="34" charset="-120"/>
              </a:rPr>
              <a:t>AI suggests signal timings from Maps data. Up to 30% fewer stops.</a:t>
            </a:r>
            <a:endParaRPr lang="en-US" sz="1050" dirty="0"/>
          </a:p>
        </p:txBody>
      </p:sp>
      <p:pic>
        <p:nvPicPr>
          <p:cNvPr id="31" name="timeline card" descr="preencoded.png">    </p:cNvPr>
          <p:cNvPicPr>
            <a:picLocks noChangeAspect="1"/>
          </p:cNvPicPr>
          <p:nvPr/>
        </p:nvPicPr>
        <p:blipFill>
          <a:blip r:embed="rId11"/>
          <a:stretch>
            <a:fillRect/>
          </a:stretch>
        </p:blipFill>
        <p:spPr>
          <a:xfrm>
            <a:off x="3081528" y="4005072"/>
            <a:ext cx="3172968" cy="2368296"/>
          </a:xfrm>
          <a:prstGeom prst="rect">
            <a:avLst/>
          </a:prstGeom>
        </p:spPr>
      </p:pic>
      <p:pic>
        <p:nvPicPr>
          <p:cNvPr id="32" name="year pill" descr="preencoded.png">    </p:cNvPr>
          <p:cNvPicPr>
            <a:picLocks noChangeAspect="1"/>
          </p:cNvPicPr>
          <p:nvPr/>
        </p:nvPicPr>
        <p:blipFill>
          <a:blip r:embed="rId12"/>
          <a:stretch>
            <a:fillRect/>
          </a:stretch>
        </p:blipFill>
        <p:spPr>
          <a:xfrm>
            <a:off x="3264408" y="4169664"/>
            <a:ext cx="1819656" cy="877824"/>
          </a:xfrm>
          <a:prstGeom prst="rect">
            <a:avLst/>
          </a:prstGeom>
        </p:spPr>
      </p:pic>
      <p:sp>
        <p:nvSpPr>
          <p:cNvPr id="33" name="Text 19"/>
          <p:cNvSpPr txBox="1"/>
          <p:nvPr/>
        </p:nvSpPr>
        <p:spPr>
          <a:xfrm>
            <a:off x="3557016" y="4462272"/>
            <a:ext cx="1234440" cy="292608"/>
          </a:xfrm>
          <a:prstGeom prst="rect">
            <a:avLst/>
          </a:prstGeom>
          <a:noFill/>
          <a:ln/>
        </p:spPr>
        <p:txBody>
          <a:bodyPr wrap="square" lIns="0" tIns="0" rIns="0" bIns="0" rtlCol="0" anchor="ctr"/>
          <a:lstStyle/>
          <a:p>
            <a:pPr algn="ctr" indent="0" marL="0">
              <a:buNone/>
            </a:pPr>
            <a:r>
              <a:rPr lang="en-US" sz="1000" b="1" dirty="0">
                <a:solidFill>
                  <a:srgbClr val="B8402A"/>
                </a:solidFill>
                <a:latin typeface="Arial" pitchFamily="34" charset="0"/>
                <a:ea typeface="Arial" pitchFamily="34" charset="-122"/>
                <a:cs typeface="Arial" pitchFamily="34" charset="-120"/>
              </a:rPr>
              <a:t>2022</a:t>
            </a:r>
            <a:endParaRPr lang="en-US" sz="1000" dirty="0"/>
          </a:p>
        </p:txBody>
      </p:sp>
      <p:sp>
        <p:nvSpPr>
          <p:cNvPr id="34" name="Text 20"/>
          <p:cNvSpPr txBox="1"/>
          <p:nvPr/>
        </p:nvSpPr>
        <p:spPr>
          <a:xfrm>
            <a:off x="3557016" y="4846320"/>
            <a:ext cx="2221992" cy="502920"/>
          </a:xfrm>
          <a:prstGeom prst="rect">
            <a:avLst/>
          </a:prstGeom>
          <a:noFill/>
          <a:ln/>
        </p:spPr>
        <p:txBody>
          <a:bodyPr wrap="square" lIns="0" tIns="0" rIns="0" bIns="0" rtlCol="0" anchor="t"/>
          <a:lstStyle/>
          <a:p>
            <a:pPr indent="0" marL="0">
              <a:buNone/>
            </a:pPr>
            <a:r>
              <a:rPr lang="en-US" sz="1500" b="1" dirty="0">
                <a:solidFill>
                  <a:srgbClr val="2A2346"/>
                </a:solidFill>
                <a:latin typeface="Arial" pitchFamily="34" charset="0"/>
                <a:ea typeface="Arial" pitchFamily="34" charset="-122"/>
                <a:cs typeface="Arial" pitchFamily="34" charset="-120"/>
              </a:rPr>
              <a:t>WRI e-bus guidebook</a:t>
            </a:r>
            <a:endParaRPr lang="en-US" sz="1500" dirty="0"/>
          </a:p>
          <a:p>
            <a:pPr indent="0" marL="0">
              <a:buNone/>
            </a:pPr>
            <a:r>
              <a:rPr lang="en-US" sz="1050" dirty="0">
                <a:solidFill>
                  <a:srgbClr val="5A5478"/>
                </a:solidFill>
                <a:latin typeface="Arial" pitchFamily="34" charset="0"/>
                <a:ea typeface="Arial" pitchFamily="34" charset="-122"/>
                <a:cs typeface="Arial" pitchFamily="34" charset="-120"/>
              </a:rPr>
              <a:t>WRI India</a:t>
            </a:r>
            <a:endParaRPr lang="en-US" sz="1500" dirty="0"/>
          </a:p>
        </p:txBody>
      </p:sp>
      <p:sp>
        <p:nvSpPr>
          <p:cNvPr id="35" name="Text 21"/>
          <p:cNvSpPr txBox="1"/>
          <p:nvPr/>
        </p:nvSpPr>
        <p:spPr>
          <a:xfrm>
            <a:off x="3557016" y="5367528"/>
            <a:ext cx="2221992" cy="658368"/>
          </a:xfrm>
          <a:prstGeom prst="rect">
            <a:avLst/>
          </a:prstGeom>
          <a:noFill/>
          <a:ln/>
        </p:spPr>
        <p:txBody>
          <a:bodyPr wrap="square" lIns="0" tIns="0" rIns="0" bIns="0" rtlCol="0" anchor="t"/>
          <a:lstStyle/>
          <a:p>
            <a:pPr indent="0" marL="0">
              <a:buNone/>
            </a:pPr>
            <a:r>
              <a:rPr lang="en-US" sz="1050" dirty="0">
                <a:solidFill>
                  <a:srgbClr val="2A2346"/>
                </a:solidFill>
                <a:latin typeface="Arial" pitchFamily="34" charset="0"/>
                <a:ea typeface="Arial" pitchFamily="34" charset="-122"/>
                <a:cs typeface="Arial" pitchFamily="34" charset="-120"/>
              </a:rPr>
              <a:t>A method to pick which routes should get e-buses first.</a:t>
            </a:r>
            <a:endParaRPr lang="en-US" sz="1050" dirty="0"/>
          </a:p>
        </p:txBody>
      </p:sp>
      <p:pic>
        <p:nvPicPr>
          <p:cNvPr id="36" name="timeline card" descr="preencoded.png">    </p:cNvPr>
          <p:cNvPicPr>
            <a:picLocks noChangeAspect="1"/>
          </p:cNvPicPr>
          <p:nvPr/>
        </p:nvPicPr>
        <p:blipFill>
          <a:blip r:embed="rId13"/>
          <a:stretch>
            <a:fillRect/>
          </a:stretch>
        </p:blipFill>
        <p:spPr>
          <a:xfrm>
            <a:off x="5907024" y="4005072"/>
            <a:ext cx="3172968" cy="2368296"/>
          </a:xfrm>
          <a:prstGeom prst="rect">
            <a:avLst/>
          </a:prstGeom>
        </p:spPr>
      </p:pic>
      <p:pic>
        <p:nvPicPr>
          <p:cNvPr id="37" name="year pill" descr="preencoded.png">    </p:cNvPr>
          <p:cNvPicPr>
            <a:picLocks noChangeAspect="1"/>
          </p:cNvPicPr>
          <p:nvPr/>
        </p:nvPicPr>
        <p:blipFill>
          <a:blip r:embed="rId14"/>
          <a:stretch>
            <a:fillRect/>
          </a:stretch>
        </p:blipFill>
        <p:spPr>
          <a:xfrm>
            <a:off x="6089904" y="4169664"/>
            <a:ext cx="1819656" cy="877824"/>
          </a:xfrm>
          <a:prstGeom prst="rect">
            <a:avLst/>
          </a:prstGeom>
        </p:spPr>
      </p:pic>
      <p:sp>
        <p:nvSpPr>
          <p:cNvPr id="38" name="Text 22"/>
          <p:cNvSpPr txBox="1"/>
          <p:nvPr/>
        </p:nvSpPr>
        <p:spPr>
          <a:xfrm>
            <a:off x="6382512" y="4462272"/>
            <a:ext cx="1234440" cy="292608"/>
          </a:xfrm>
          <a:prstGeom prst="rect">
            <a:avLst/>
          </a:prstGeom>
          <a:noFill/>
          <a:ln/>
        </p:spPr>
        <p:txBody>
          <a:bodyPr wrap="square" lIns="0" tIns="0" rIns="0" bIns="0" rtlCol="0" anchor="ctr"/>
          <a:lstStyle/>
          <a:p>
            <a:pPr algn="ctr" indent="0" marL="0">
              <a:buNone/>
            </a:pPr>
            <a:r>
              <a:rPr lang="en-US" sz="1000" b="1" dirty="0">
                <a:solidFill>
                  <a:srgbClr val="B8402A"/>
                </a:solidFill>
                <a:latin typeface="Arial" pitchFamily="34" charset="0"/>
                <a:ea typeface="Arial" pitchFamily="34" charset="-122"/>
                <a:cs typeface="Arial" pitchFamily="34" charset="-120"/>
              </a:rPr>
              <a:t>2024</a:t>
            </a:r>
            <a:endParaRPr lang="en-US" sz="1000" dirty="0"/>
          </a:p>
        </p:txBody>
      </p:sp>
      <p:sp>
        <p:nvSpPr>
          <p:cNvPr id="39" name="Text 23"/>
          <p:cNvSpPr txBox="1"/>
          <p:nvPr/>
        </p:nvSpPr>
        <p:spPr>
          <a:xfrm>
            <a:off x="6382512" y="4846320"/>
            <a:ext cx="2221992" cy="502920"/>
          </a:xfrm>
          <a:prstGeom prst="rect">
            <a:avLst/>
          </a:prstGeom>
          <a:noFill/>
          <a:ln/>
        </p:spPr>
        <p:txBody>
          <a:bodyPr wrap="square" lIns="0" tIns="0" rIns="0" bIns="0" rtlCol="0" anchor="t"/>
          <a:lstStyle/>
          <a:p>
            <a:pPr indent="0" marL="0">
              <a:buNone/>
            </a:pPr>
            <a:r>
              <a:rPr lang="en-US" sz="1500" b="1" dirty="0">
                <a:solidFill>
                  <a:srgbClr val="2A2346"/>
                </a:solidFill>
                <a:latin typeface="Arial" pitchFamily="34" charset="0"/>
                <a:ea typeface="Arial" pitchFamily="34" charset="-122"/>
                <a:cs typeface="Arial" pitchFamily="34" charset="-120"/>
              </a:rPr>
              <a:t>B-ATCS</a:t>
            </a:r>
            <a:endParaRPr lang="en-US" sz="1500" dirty="0"/>
          </a:p>
          <a:p>
            <a:pPr indent="0" marL="0">
              <a:buNone/>
            </a:pPr>
            <a:r>
              <a:rPr lang="en-US" sz="1050" dirty="0">
                <a:solidFill>
                  <a:srgbClr val="5A5478"/>
                </a:solidFill>
                <a:latin typeface="Arial" pitchFamily="34" charset="0"/>
                <a:ea typeface="Arial" pitchFamily="34" charset="-122"/>
                <a:cs typeface="Arial" pitchFamily="34" charset="-120"/>
              </a:rPr>
              <a:t>C-DAC + Traffic Police</a:t>
            </a:r>
            <a:endParaRPr lang="en-US" sz="1500" dirty="0"/>
          </a:p>
        </p:txBody>
      </p:sp>
      <p:sp>
        <p:nvSpPr>
          <p:cNvPr id="40" name="Text 24"/>
          <p:cNvSpPr txBox="1"/>
          <p:nvPr/>
        </p:nvSpPr>
        <p:spPr>
          <a:xfrm>
            <a:off x="6382512" y="5367528"/>
            <a:ext cx="2221992" cy="658368"/>
          </a:xfrm>
          <a:prstGeom prst="rect">
            <a:avLst/>
          </a:prstGeom>
          <a:noFill/>
          <a:ln/>
        </p:spPr>
        <p:txBody>
          <a:bodyPr wrap="square" lIns="0" tIns="0" rIns="0" bIns="0" rtlCol="0" anchor="t"/>
          <a:lstStyle/>
          <a:p>
            <a:pPr indent="0" marL="0">
              <a:buNone/>
            </a:pPr>
            <a:r>
              <a:rPr lang="en-US" sz="1050" dirty="0">
                <a:solidFill>
                  <a:srgbClr val="2A2346"/>
                </a:solidFill>
                <a:latin typeface="Arial" pitchFamily="34" charset="0"/>
                <a:ea typeface="Arial" pitchFamily="34" charset="-122"/>
                <a:cs typeface="Arial" pitchFamily="34" charset="-120"/>
              </a:rPr>
              <a:t>Signals that adjust on their own, at 169 Bengaluru junctions.</a:t>
            </a:r>
            <a:endParaRPr lang="en-US" sz="1050" dirty="0"/>
          </a:p>
        </p:txBody>
      </p:sp>
      <p:pic>
        <p:nvPicPr>
          <p:cNvPr id="41" name="timeline card" descr="preencoded.png">    </p:cNvPr>
          <p:cNvPicPr>
            <a:picLocks noChangeAspect="1"/>
          </p:cNvPicPr>
          <p:nvPr/>
        </p:nvPicPr>
        <p:blipFill>
          <a:blip r:embed="rId15"/>
          <a:stretch>
            <a:fillRect/>
          </a:stretch>
        </p:blipFill>
        <p:spPr>
          <a:xfrm>
            <a:off x="8732520" y="4005072"/>
            <a:ext cx="3172968" cy="2368296"/>
          </a:xfrm>
          <a:prstGeom prst="rect">
            <a:avLst/>
          </a:prstGeom>
        </p:spPr>
      </p:pic>
      <p:pic>
        <p:nvPicPr>
          <p:cNvPr id="42" name="year pill" descr="preencoded.png">    </p:cNvPr>
          <p:cNvPicPr>
            <a:picLocks noChangeAspect="1"/>
          </p:cNvPicPr>
          <p:nvPr/>
        </p:nvPicPr>
        <p:blipFill>
          <a:blip r:embed="rId16"/>
          <a:stretch>
            <a:fillRect/>
          </a:stretch>
        </p:blipFill>
        <p:spPr>
          <a:xfrm>
            <a:off x="8915400" y="4169664"/>
            <a:ext cx="1819656" cy="877824"/>
          </a:xfrm>
          <a:prstGeom prst="rect">
            <a:avLst/>
          </a:prstGeom>
        </p:spPr>
      </p:pic>
      <p:sp>
        <p:nvSpPr>
          <p:cNvPr id="43" name="Text 25"/>
          <p:cNvSpPr txBox="1"/>
          <p:nvPr/>
        </p:nvSpPr>
        <p:spPr>
          <a:xfrm>
            <a:off x="9208008" y="4462272"/>
            <a:ext cx="1234440" cy="292608"/>
          </a:xfrm>
          <a:prstGeom prst="rect">
            <a:avLst/>
          </a:prstGeom>
          <a:noFill/>
          <a:ln/>
        </p:spPr>
        <p:txBody>
          <a:bodyPr wrap="square" lIns="0" tIns="0" rIns="0" bIns="0" rtlCol="0" anchor="ctr"/>
          <a:lstStyle/>
          <a:p>
            <a:pPr algn="ctr" indent="0" marL="0">
              <a:buNone/>
            </a:pPr>
            <a:r>
              <a:rPr lang="en-US" sz="1000" b="1" dirty="0">
                <a:solidFill>
                  <a:srgbClr val="B8402A"/>
                </a:solidFill>
                <a:latin typeface="Arial" pitchFamily="34" charset="0"/>
                <a:ea typeface="Arial" pitchFamily="34" charset="-122"/>
                <a:cs typeface="Arial" pitchFamily="34" charset="-120"/>
              </a:rPr>
              <a:t>Ongoing</a:t>
            </a:r>
            <a:endParaRPr lang="en-US" sz="1000" dirty="0"/>
          </a:p>
        </p:txBody>
      </p:sp>
      <p:sp>
        <p:nvSpPr>
          <p:cNvPr id="44" name="Text 26"/>
          <p:cNvSpPr txBox="1"/>
          <p:nvPr/>
        </p:nvSpPr>
        <p:spPr>
          <a:xfrm>
            <a:off x="9208008" y="4846320"/>
            <a:ext cx="2221992" cy="502920"/>
          </a:xfrm>
          <a:prstGeom prst="rect">
            <a:avLst/>
          </a:prstGeom>
          <a:noFill/>
          <a:ln/>
        </p:spPr>
        <p:txBody>
          <a:bodyPr wrap="square" lIns="0" tIns="0" rIns="0" bIns="0" rtlCol="0" anchor="t"/>
          <a:lstStyle/>
          <a:p>
            <a:pPr indent="0" marL="0">
              <a:buNone/>
            </a:pPr>
            <a:r>
              <a:rPr lang="en-US" sz="1500" b="1" dirty="0">
                <a:solidFill>
                  <a:srgbClr val="2A2346"/>
                </a:solidFill>
                <a:latin typeface="Arial" pitchFamily="34" charset="0"/>
                <a:ea typeface="Arial" pitchFamily="34" charset="-122"/>
                <a:cs typeface="Arial" pitchFamily="34" charset="-120"/>
              </a:rPr>
              <a:t>ASTraM</a:t>
            </a:r>
            <a:endParaRPr lang="en-US" sz="1500" dirty="0"/>
          </a:p>
          <a:p>
            <a:pPr indent="0" marL="0">
              <a:buNone/>
            </a:pPr>
            <a:r>
              <a:rPr lang="en-US" sz="1050" dirty="0">
                <a:solidFill>
                  <a:srgbClr val="5A5478"/>
                </a:solidFill>
                <a:latin typeface="Arial" pitchFamily="34" charset="0"/>
                <a:ea typeface="Arial" pitchFamily="34" charset="-122"/>
                <a:cs typeface="Arial" pitchFamily="34" charset="-120"/>
              </a:rPr>
              <a:t>Traffic Police + Arcadis</a:t>
            </a:r>
            <a:endParaRPr lang="en-US" sz="1500" dirty="0"/>
          </a:p>
        </p:txBody>
      </p:sp>
      <p:sp>
        <p:nvSpPr>
          <p:cNvPr id="45" name="Text 27"/>
          <p:cNvSpPr txBox="1"/>
          <p:nvPr/>
        </p:nvSpPr>
        <p:spPr>
          <a:xfrm>
            <a:off x="9208008" y="5367528"/>
            <a:ext cx="2221992" cy="658368"/>
          </a:xfrm>
          <a:prstGeom prst="rect">
            <a:avLst/>
          </a:prstGeom>
          <a:noFill/>
          <a:ln/>
        </p:spPr>
        <p:txBody>
          <a:bodyPr wrap="square" lIns="0" tIns="0" rIns="0" bIns="0" rtlCol="0" anchor="t"/>
          <a:lstStyle/>
          <a:p>
            <a:pPr indent="0" marL="0">
              <a:buNone/>
            </a:pPr>
            <a:r>
              <a:rPr lang="en-US" sz="1050" dirty="0">
                <a:solidFill>
                  <a:srgbClr val="2A2346"/>
                </a:solidFill>
                <a:latin typeface="Arial" pitchFamily="34" charset="0"/>
                <a:ea typeface="Arial" pitchFamily="34" charset="-122"/>
                <a:cs typeface="Arial" pitchFamily="34" charset="-120"/>
              </a:rPr>
              <a:t>Live monitoring of traffic and incidents across the city.</a:t>
            </a:r>
            <a:endParaRPr lang="en-US" sz="105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WHAT PEOPLE TRIED</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Software used around the world</a:t>
            </a:r>
            <a:endParaRPr lang="en-US" sz="3200" dirty="0"/>
          </a:p>
        </p:txBody>
      </p:sp>
      <p:pic>
        <p:nvPicPr>
          <p:cNvPr id="4" name="tool card" descr="preencoded.png">    </p:cNvPr>
          <p:cNvPicPr>
            <a:picLocks noChangeAspect="1"/>
          </p:cNvPicPr>
          <p:nvPr/>
        </p:nvPicPr>
        <p:blipFill>
          <a:blip r:embed="rId1"/>
          <a:stretch>
            <a:fillRect/>
          </a:stretch>
        </p:blipFill>
        <p:spPr>
          <a:xfrm>
            <a:off x="256032" y="1399032"/>
            <a:ext cx="4014216" cy="2734056"/>
          </a:xfrm>
          <a:prstGeom prst="rect">
            <a:avLst/>
          </a:prstGeom>
        </p:spPr>
      </p:pic>
      <p:pic>
        <p:nvPicPr>
          <p:cNvPr id="5" name="icon blob" descr="preencoded.png">    </p:cNvPr>
          <p:cNvPicPr>
            <a:picLocks noChangeAspect="1"/>
          </p:cNvPicPr>
          <p:nvPr/>
        </p:nvPicPr>
        <p:blipFill>
          <a:blip r:embed="rId2"/>
          <a:stretch>
            <a:fillRect/>
          </a:stretch>
        </p:blipFill>
        <p:spPr>
          <a:xfrm>
            <a:off x="530352" y="1673352"/>
            <a:ext cx="1271016" cy="1271016"/>
          </a:xfrm>
          <a:prstGeom prst="rect">
            <a:avLst/>
          </a:prstGeom>
        </p:spPr>
      </p:pic>
      <p:pic>
        <p:nvPicPr>
          <p:cNvPr id="6" name="icon FaBuilding" descr="preencoded.png">    </p:cNvPr>
          <p:cNvPicPr>
            <a:picLocks noChangeAspect="1"/>
          </p:cNvPicPr>
          <p:nvPr/>
        </p:nvPicPr>
        <p:blipFill>
          <a:blip r:embed="rId3"/>
          <a:stretch>
            <a:fillRect/>
          </a:stretch>
        </p:blipFill>
        <p:spPr>
          <a:xfrm>
            <a:off x="994410" y="2137410"/>
            <a:ext cx="342900" cy="342900"/>
          </a:xfrm>
          <a:prstGeom prst="rect">
            <a:avLst/>
          </a:prstGeom>
        </p:spPr>
      </p:pic>
      <p:sp>
        <p:nvSpPr>
          <p:cNvPr id="7" name="Text 2"/>
          <p:cNvSpPr txBox="1"/>
          <p:nvPr/>
        </p:nvSpPr>
        <p:spPr>
          <a:xfrm>
            <a:off x="1691640" y="2075688"/>
            <a:ext cx="2057400" cy="457200"/>
          </a:xfrm>
          <a:prstGeom prst="rect">
            <a:avLst/>
          </a:prstGeom>
          <a:noFill/>
          <a:ln/>
        </p:spPr>
        <p:txBody>
          <a:bodyPr wrap="square" lIns="0" tIns="0" rIns="0" bIns="0" rtlCol="0" anchor="t"/>
          <a:lstStyle/>
          <a:p>
            <a:pPr indent="0" marL="0">
              <a:buNone/>
            </a:pPr>
            <a:r>
              <a:rPr lang="en-US" sz="2000" b="1" dirty="0">
                <a:solidFill>
                  <a:srgbClr val="2A2346"/>
                </a:solidFill>
                <a:latin typeface="Arial" pitchFamily="34" charset="0"/>
                <a:ea typeface="Arial" pitchFamily="34" charset="-122"/>
                <a:cs typeface="Arial" pitchFamily="34" charset="-120"/>
              </a:rPr>
              <a:t>PTV Vissim</a:t>
            </a:r>
            <a:endParaRPr lang="en-US" sz="2000" dirty="0"/>
          </a:p>
        </p:txBody>
      </p:sp>
      <p:sp>
        <p:nvSpPr>
          <p:cNvPr id="8" name="Text 3"/>
          <p:cNvSpPr txBox="1"/>
          <p:nvPr/>
        </p:nvSpPr>
        <p:spPr>
          <a:xfrm>
            <a:off x="822960" y="2834640"/>
            <a:ext cx="2880360" cy="868680"/>
          </a:xfrm>
          <a:prstGeom prst="rect">
            <a:avLst/>
          </a:prstGeom>
          <a:noFill/>
          <a:ln/>
        </p:spPr>
        <p:txBody>
          <a:bodyPr wrap="square" lIns="0" tIns="0" rIns="0" bIns="0" rtlCol="0" anchor="t"/>
          <a:lstStyle/>
          <a:p>
            <a:pPr indent="0" marL="0">
              <a:buNone/>
            </a:pPr>
            <a:r>
              <a:rPr lang="en-US" sz="1300" dirty="0">
                <a:solidFill>
                  <a:srgbClr val="5A5478"/>
                </a:solidFill>
                <a:latin typeface="Arial" pitchFamily="34" charset="0"/>
                <a:ea typeface="Arial" pitchFamily="34" charset="-122"/>
                <a:cs typeface="Arial" pitchFamily="34" charset="-120"/>
              </a:rPr>
              <a:t>From Germany. The industry standard for junction simulation. Paid licence per seat.</a:t>
            </a:r>
            <a:endParaRPr lang="en-US" sz="1300" dirty="0"/>
          </a:p>
        </p:txBody>
      </p:sp>
      <p:pic>
        <p:nvPicPr>
          <p:cNvPr id="9" name="tool card" descr="preencoded.png">    </p:cNvPr>
          <p:cNvPicPr>
            <a:picLocks noChangeAspect="1"/>
          </p:cNvPicPr>
          <p:nvPr/>
        </p:nvPicPr>
        <p:blipFill>
          <a:blip r:embed="rId4"/>
          <a:stretch>
            <a:fillRect/>
          </a:stretch>
        </p:blipFill>
        <p:spPr>
          <a:xfrm>
            <a:off x="4069080" y="1399032"/>
            <a:ext cx="4014216" cy="2734056"/>
          </a:xfrm>
          <a:prstGeom prst="rect">
            <a:avLst/>
          </a:prstGeom>
        </p:spPr>
      </p:pic>
      <p:pic>
        <p:nvPicPr>
          <p:cNvPr id="10" name="icon blob" descr="preencoded.png">    </p:cNvPr>
          <p:cNvPicPr>
            <a:picLocks noChangeAspect="1"/>
          </p:cNvPicPr>
          <p:nvPr/>
        </p:nvPicPr>
        <p:blipFill>
          <a:blip r:embed="rId5"/>
          <a:stretch>
            <a:fillRect/>
          </a:stretch>
        </p:blipFill>
        <p:spPr>
          <a:xfrm>
            <a:off x="4343400" y="1673352"/>
            <a:ext cx="1271016" cy="1271016"/>
          </a:xfrm>
          <a:prstGeom prst="rect">
            <a:avLst/>
          </a:prstGeom>
        </p:spPr>
      </p:pic>
      <p:pic>
        <p:nvPicPr>
          <p:cNvPr id="11" name="icon FaCity" descr="preencoded.png">    </p:cNvPr>
          <p:cNvPicPr>
            <a:picLocks noChangeAspect="1"/>
          </p:cNvPicPr>
          <p:nvPr/>
        </p:nvPicPr>
        <p:blipFill>
          <a:blip r:embed="rId6"/>
          <a:stretch>
            <a:fillRect/>
          </a:stretch>
        </p:blipFill>
        <p:spPr>
          <a:xfrm>
            <a:off x="4807458" y="2137410"/>
            <a:ext cx="342900" cy="342900"/>
          </a:xfrm>
          <a:prstGeom prst="rect">
            <a:avLst/>
          </a:prstGeom>
        </p:spPr>
      </p:pic>
      <p:sp>
        <p:nvSpPr>
          <p:cNvPr id="12" name="Text 4"/>
          <p:cNvSpPr txBox="1"/>
          <p:nvPr/>
        </p:nvSpPr>
        <p:spPr>
          <a:xfrm>
            <a:off x="5504688" y="2075688"/>
            <a:ext cx="2057400" cy="457200"/>
          </a:xfrm>
          <a:prstGeom prst="rect">
            <a:avLst/>
          </a:prstGeom>
          <a:noFill/>
          <a:ln/>
        </p:spPr>
        <p:txBody>
          <a:bodyPr wrap="square" lIns="0" tIns="0" rIns="0" bIns="0" rtlCol="0" anchor="t"/>
          <a:lstStyle/>
          <a:p>
            <a:pPr indent="0" marL="0">
              <a:buNone/>
            </a:pPr>
            <a:r>
              <a:rPr lang="en-US" sz="2000" b="1" dirty="0">
                <a:solidFill>
                  <a:srgbClr val="2A2346"/>
                </a:solidFill>
                <a:latin typeface="Arial" pitchFamily="34" charset="0"/>
                <a:ea typeface="Arial" pitchFamily="34" charset="-122"/>
                <a:cs typeface="Arial" pitchFamily="34" charset="-120"/>
              </a:rPr>
              <a:t>Aimsun</a:t>
            </a:r>
            <a:endParaRPr lang="en-US" sz="2000" dirty="0"/>
          </a:p>
        </p:txBody>
      </p:sp>
      <p:sp>
        <p:nvSpPr>
          <p:cNvPr id="13" name="Text 5"/>
          <p:cNvSpPr txBox="1"/>
          <p:nvPr/>
        </p:nvSpPr>
        <p:spPr>
          <a:xfrm>
            <a:off x="4636008" y="2834640"/>
            <a:ext cx="2880360" cy="868680"/>
          </a:xfrm>
          <a:prstGeom prst="rect">
            <a:avLst/>
          </a:prstGeom>
          <a:noFill/>
          <a:ln/>
        </p:spPr>
        <p:txBody>
          <a:bodyPr wrap="square" lIns="0" tIns="0" rIns="0" bIns="0" rtlCol="0" anchor="t"/>
          <a:lstStyle/>
          <a:p>
            <a:pPr indent="0" marL="0">
              <a:buNone/>
            </a:pPr>
            <a:r>
              <a:rPr lang="en-US" sz="1300" dirty="0">
                <a:solidFill>
                  <a:srgbClr val="5A5478"/>
                </a:solidFill>
                <a:latin typeface="Arial" pitchFamily="34" charset="0"/>
                <a:ea typeface="Arial" pitchFamily="34" charset="-122"/>
                <a:cs typeface="Arial" pitchFamily="34" charset="-120"/>
              </a:rPr>
              <a:t>From Spain. Strong for city-level and junction-level models. Also paid.</a:t>
            </a:r>
            <a:endParaRPr lang="en-US" sz="1300" dirty="0"/>
          </a:p>
        </p:txBody>
      </p:sp>
      <p:pic>
        <p:nvPicPr>
          <p:cNvPr id="14" name="tool card" descr="preencoded.png">    </p:cNvPr>
          <p:cNvPicPr>
            <a:picLocks noChangeAspect="1"/>
          </p:cNvPicPr>
          <p:nvPr/>
        </p:nvPicPr>
        <p:blipFill>
          <a:blip r:embed="rId7"/>
          <a:stretch>
            <a:fillRect/>
          </a:stretch>
        </p:blipFill>
        <p:spPr>
          <a:xfrm>
            <a:off x="7882128" y="1399032"/>
            <a:ext cx="4014216" cy="2734056"/>
          </a:xfrm>
          <a:prstGeom prst="rect">
            <a:avLst/>
          </a:prstGeom>
        </p:spPr>
      </p:pic>
      <p:pic>
        <p:nvPicPr>
          <p:cNvPr id="15" name="icon blob" descr="preencoded.png">    </p:cNvPr>
          <p:cNvPicPr>
            <a:picLocks noChangeAspect="1"/>
          </p:cNvPicPr>
          <p:nvPr/>
        </p:nvPicPr>
        <p:blipFill>
          <a:blip r:embed="rId8"/>
          <a:stretch>
            <a:fillRect/>
          </a:stretch>
        </p:blipFill>
        <p:spPr>
          <a:xfrm>
            <a:off x="8156448" y="1673352"/>
            <a:ext cx="1271016" cy="1271016"/>
          </a:xfrm>
          <a:prstGeom prst="rect">
            <a:avLst/>
          </a:prstGeom>
        </p:spPr>
      </p:pic>
      <p:pic>
        <p:nvPicPr>
          <p:cNvPr id="16" name="icon FaCodeBranch" descr="preencoded.png">    </p:cNvPr>
          <p:cNvPicPr>
            <a:picLocks noChangeAspect="1"/>
          </p:cNvPicPr>
          <p:nvPr/>
        </p:nvPicPr>
        <p:blipFill>
          <a:blip r:embed="rId9"/>
          <a:stretch>
            <a:fillRect/>
          </a:stretch>
        </p:blipFill>
        <p:spPr>
          <a:xfrm>
            <a:off x="8620506" y="2137410"/>
            <a:ext cx="342900" cy="342900"/>
          </a:xfrm>
          <a:prstGeom prst="rect">
            <a:avLst/>
          </a:prstGeom>
        </p:spPr>
      </p:pic>
      <p:sp>
        <p:nvSpPr>
          <p:cNvPr id="17" name="Text 6"/>
          <p:cNvSpPr txBox="1"/>
          <p:nvPr/>
        </p:nvSpPr>
        <p:spPr>
          <a:xfrm>
            <a:off x="9317736" y="2075688"/>
            <a:ext cx="2057400" cy="457200"/>
          </a:xfrm>
          <a:prstGeom prst="rect">
            <a:avLst/>
          </a:prstGeom>
          <a:noFill/>
          <a:ln/>
        </p:spPr>
        <p:txBody>
          <a:bodyPr wrap="square" lIns="0" tIns="0" rIns="0" bIns="0" rtlCol="0" anchor="t"/>
          <a:lstStyle/>
          <a:p>
            <a:pPr indent="0" marL="0">
              <a:buNone/>
            </a:pPr>
            <a:r>
              <a:rPr lang="en-US" sz="2000" b="1" dirty="0">
                <a:solidFill>
                  <a:srgbClr val="2A2346"/>
                </a:solidFill>
                <a:latin typeface="Arial" pitchFamily="34" charset="0"/>
                <a:ea typeface="Arial" pitchFamily="34" charset="-122"/>
                <a:cs typeface="Arial" pitchFamily="34" charset="-120"/>
              </a:rPr>
              <a:t>SUMO</a:t>
            </a:r>
            <a:endParaRPr lang="en-US" sz="2000" dirty="0"/>
          </a:p>
        </p:txBody>
      </p:sp>
      <p:sp>
        <p:nvSpPr>
          <p:cNvPr id="18" name="Text 7"/>
          <p:cNvSpPr txBox="1"/>
          <p:nvPr/>
        </p:nvSpPr>
        <p:spPr>
          <a:xfrm>
            <a:off x="8449056" y="2834640"/>
            <a:ext cx="2880360" cy="868680"/>
          </a:xfrm>
          <a:prstGeom prst="rect">
            <a:avLst/>
          </a:prstGeom>
          <a:noFill/>
          <a:ln/>
        </p:spPr>
        <p:txBody>
          <a:bodyPr wrap="square" lIns="0" tIns="0" rIns="0" bIns="0" rtlCol="0" anchor="t"/>
          <a:lstStyle/>
          <a:p>
            <a:pPr indent="0" marL="0">
              <a:buNone/>
            </a:pPr>
            <a:r>
              <a:rPr lang="en-US" sz="1300" dirty="0">
                <a:solidFill>
                  <a:srgbClr val="5A5478"/>
                </a:solidFill>
                <a:latin typeface="Arial" pitchFamily="34" charset="0"/>
                <a:ea typeface="Arial" pitchFamily="34" charset="-122"/>
                <a:cs typeface="Arial" pitchFamily="34" charset="-120"/>
              </a:rPr>
              <a:t>Free and open source, from the German Aerospace Center. Abhyas runs on top of SUMO.</a:t>
            </a:r>
            <a:endParaRPr lang="en-US" sz="1300" dirty="0"/>
          </a:p>
        </p:txBody>
      </p:sp>
      <p:pic>
        <p:nvPicPr>
          <p:cNvPr id="19" name="research finding card" descr="preencoded.png">    </p:cNvPr>
          <p:cNvPicPr>
            <a:picLocks noChangeAspect="1"/>
          </p:cNvPicPr>
          <p:nvPr/>
        </p:nvPicPr>
        <p:blipFill>
          <a:blip r:embed="rId10"/>
          <a:stretch>
            <a:fillRect/>
          </a:stretch>
        </p:blipFill>
        <p:spPr>
          <a:xfrm>
            <a:off x="256032" y="3959352"/>
            <a:ext cx="11676888" cy="2185416"/>
          </a:xfrm>
          <a:prstGeom prst="rect">
            <a:avLst/>
          </a:prstGeom>
        </p:spPr>
      </p:pic>
      <p:pic>
        <p:nvPicPr>
          <p:cNvPr id="20" name="icon blob" descr="preencoded.png">    </p:cNvPr>
          <p:cNvPicPr>
            <a:picLocks noChangeAspect="1"/>
          </p:cNvPicPr>
          <p:nvPr/>
        </p:nvPicPr>
        <p:blipFill>
          <a:blip r:embed="rId11"/>
          <a:stretch>
            <a:fillRect/>
          </a:stretch>
        </p:blipFill>
        <p:spPr>
          <a:xfrm>
            <a:off x="576072" y="4233672"/>
            <a:ext cx="1591056" cy="1591056"/>
          </a:xfrm>
          <a:prstGeom prst="rect">
            <a:avLst/>
          </a:prstGeom>
        </p:spPr>
      </p:pic>
      <p:pic>
        <p:nvPicPr>
          <p:cNvPr id="21" name="icon FaFlask" descr="preencoded.png">    </p:cNvPr>
          <p:cNvPicPr>
            <a:picLocks noChangeAspect="1"/>
          </p:cNvPicPr>
          <p:nvPr/>
        </p:nvPicPr>
        <p:blipFill>
          <a:blip r:embed="rId12"/>
          <a:stretch>
            <a:fillRect/>
          </a:stretch>
        </p:blipFill>
        <p:spPr>
          <a:xfrm>
            <a:off x="1120140" y="4777740"/>
            <a:ext cx="502920" cy="502920"/>
          </a:xfrm>
          <a:prstGeom prst="rect">
            <a:avLst/>
          </a:prstGeom>
        </p:spPr>
      </p:pic>
      <p:sp>
        <p:nvSpPr>
          <p:cNvPr id="22" name="Text 8"/>
          <p:cNvSpPr txBox="1"/>
          <p:nvPr/>
        </p:nvSpPr>
        <p:spPr>
          <a:xfrm>
            <a:off x="2148840" y="4480560"/>
            <a:ext cx="9235440" cy="1188720"/>
          </a:xfrm>
          <a:prstGeom prst="rect">
            <a:avLst/>
          </a:prstGeom>
          <a:noFill/>
          <a:ln/>
        </p:spPr>
        <p:txBody>
          <a:bodyPr wrap="square" lIns="0" tIns="0" rIns="0" bIns="0" rtlCol="0" anchor="t"/>
          <a:lstStyle/>
          <a:p>
            <a:pPr indent="0" marL="0">
              <a:buNone/>
            </a:pPr>
            <a:r>
              <a:rPr lang="en-US" sz="1300" b="1" dirty="0">
                <a:solidFill>
                  <a:srgbClr val="B8402A"/>
                </a:solidFill>
                <a:latin typeface="Arial" pitchFamily="34" charset="0"/>
                <a:ea typeface="Arial" pitchFamily="34" charset="-122"/>
                <a:cs typeface="Arial" pitchFamily="34" charset="-120"/>
              </a:rPr>
              <a:t>What the research papers say</a:t>
            </a:r>
            <a:endParaRPr lang="en-US" sz="1300" dirty="0"/>
          </a:p>
          <a:p>
            <a:pPr indent="0" marL="0">
              <a:buNone/>
            </a:pPr>
            <a:r>
              <a:rPr lang="en-US" sz="1700" dirty="0">
                <a:solidFill>
                  <a:srgbClr val="2A2346"/>
                </a:solidFill>
                <a:latin typeface="Arial" pitchFamily="34" charset="0"/>
                <a:ea typeface="Arial" pitchFamily="34" charset="-122"/>
                <a:cs typeface="Arial" pitchFamily="34" charset="-120"/>
              </a:rPr>
              <a:t>These tools were made for countries where vehicles stay in lanes. Studies from India and Bangladesh say fitting them to our no-lane, bike-heavy traffic is still not fully solved.</a:t>
            </a:r>
            <a:endParaRPr lang="en-US" sz="1300" dirty="0"/>
          </a:p>
        </p:txBody>
      </p:sp>
      <p:sp>
        <p:nvSpPr>
          <p:cNvPr id="23" name="Text 9"/>
          <p:cNvSpPr txBox="1"/>
          <p:nvPr/>
        </p:nvSpPr>
        <p:spPr>
          <a:xfrm>
            <a:off x="548640" y="6108192"/>
            <a:ext cx="10515600" cy="228600"/>
          </a:xfrm>
          <a:prstGeom prst="rect">
            <a:avLst/>
          </a:prstGeom>
          <a:noFill/>
          <a:ln/>
        </p:spPr>
        <p:txBody>
          <a:bodyPr wrap="square" lIns="0" tIns="0" rIns="0" bIns="0" rtlCol="0" anchor="t"/>
          <a:lstStyle/>
          <a:p>
            <a:pPr indent="0" marL="0">
              <a:buNone/>
            </a:pPr>
            <a:r>
              <a:rPr lang="en-US" sz="1000" dirty="0">
                <a:solidFill>
                  <a:srgbClr val="5A5478"/>
                </a:solidFill>
                <a:latin typeface="Arial" pitchFamily="34" charset="0"/>
                <a:ea typeface="Arial" pitchFamily="34" charset="-122"/>
                <a:cs typeface="Arial" pitchFamily="34" charset="-120"/>
              </a:rPr>
              <a:t>Sources: Calibration of VISSIM for Indian heterogeneous traffic (TRID 1279997); VISSIM calibration survey for heterogeneous traffic (engrXiv 4441)</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THE GAP</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What is still missing</a:t>
            </a:r>
            <a:endParaRPr lang="en-US" sz="3200" dirty="0"/>
          </a:p>
        </p:txBody>
      </p:sp>
      <p:pic>
        <p:nvPicPr>
          <p:cNvPr id="4" name="gap card" descr="preencoded.png">    </p:cNvPr>
          <p:cNvPicPr>
            <a:picLocks noChangeAspect="1"/>
          </p:cNvPicPr>
          <p:nvPr/>
        </p:nvPicPr>
        <p:blipFill>
          <a:blip r:embed="rId1"/>
          <a:stretch>
            <a:fillRect/>
          </a:stretch>
        </p:blipFill>
        <p:spPr>
          <a:xfrm>
            <a:off x="256032" y="1353312"/>
            <a:ext cx="5980176" cy="2688336"/>
          </a:xfrm>
          <a:prstGeom prst="rect">
            <a:avLst/>
          </a:prstGeom>
        </p:spPr>
      </p:pic>
      <p:pic>
        <p:nvPicPr>
          <p:cNvPr id="5" name="icon blob" descr="preencoded.png">    </p:cNvPr>
          <p:cNvPicPr>
            <a:picLocks noChangeAspect="1"/>
          </p:cNvPicPr>
          <p:nvPr/>
        </p:nvPicPr>
        <p:blipFill>
          <a:blip r:embed="rId2"/>
          <a:stretch>
            <a:fillRect/>
          </a:stretch>
        </p:blipFill>
        <p:spPr>
          <a:xfrm>
            <a:off x="484632" y="1581912"/>
            <a:ext cx="1225296" cy="1225296"/>
          </a:xfrm>
          <a:prstGeom prst="rect">
            <a:avLst/>
          </a:prstGeom>
        </p:spPr>
      </p:pic>
      <p:pic>
        <p:nvPicPr>
          <p:cNvPr id="6" name="icon FaFlask" descr="preencoded.png">    </p:cNvPr>
          <p:cNvPicPr>
            <a:picLocks noChangeAspect="1"/>
          </p:cNvPicPr>
          <p:nvPr/>
        </p:nvPicPr>
        <p:blipFill>
          <a:blip r:embed="rId3"/>
          <a:stretch>
            <a:fillRect/>
          </a:stretch>
        </p:blipFill>
        <p:spPr>
          <a:xfrm>
            <a:off x="937260" y="2034540"/>
            <a:ext cx="320040" cy="320040"/>
          </a:xfrm>
          <a:prstGeom prst="rect">
            <a:avLst/>
          </a:prstGeom>
        </p:spPr>
      </p:pic>
      <p:sp>
        <p:nvSpPr>
          <p:cNvPr id="7" name="Text 2"/>
          <p:cNvSpPr txBox="1"/>
          <p:nvPr/>
        </p:nvSpPr>
        <p:spPr>
          <a:xfrm>
            <a:off x="1600200" y="1874520"/>
            <a:ext cx="4114800" cy="685800"/>
          </a:xfrm>
          <a:prstGeom prst="rect">
            <a:avLst/>
          </a:prstGeom>
          <a:noFill/>
          <a:ln/>
        </p:spPr>
        <p:txBody>
          <a:bodyPr wrap="square" lIns="0" tIns="0" rIns="0" bIns="0" rtlCol="0" anchor="t"/>
          <a:lstStyle/>
          <a:p>
            <a:pPr indent="0" marL="0">
              <a:buNone/>
            </a:pPr>
            <a:r>
              <a:rPr lang="en-US" sz="1700" b="1" dirty="0">
                <a:solidFill>
                  <a:srgbClr val="2A2346"/>
                </a:solidFill>
                <a:latin typeface="Arial" pitchFamily="34" charset="0"/>
                <a:ea typeface="Arial" pitchFamily="34" charset="-122"/>
                <a:cs typeface="Arial" pitchFamily="34" charset="-120"/>
              </a:rPr>
              <a:t>Research models</a:t>
            </a:r>
            <a:endParaRPr lang="en-US" sz="1700" dirty="0"/>
          </a:p>
          <a:p>
            <a:pPr indent="0" marL="0">
              <a:buNone/>
            </a:pPr>
            <a:r>
              <a:rPr lang="en-US" sz="1100" dirty="0">
                <a:solidFill>
                  <a:srgbClr val="5A5478"/>
                </a:solidFill>
                <a:latin typeface="Arial" pitchFamily="34" charset="0"/>
                <a:ea typeface="Arial" pitchFamily="34" charset="-122"/>
                <a:cs typeface="Arial" pitchFamily="34" charset="-120"/>
              </a:rPr>
              <a:t>HETEROSIM, SiMTraM, IISc, IIT Madras</a:t>
            </a:r>
            <a:endParaRPr lang="en-US" sz="1700" dirty="0"/>
          </a:p>
        </p:txBody>
      </p:sp>
      <p:sp>
        <p:nvSpPr>
          <p:cNvPr id="8" name="Text 3"/>
          <p:cNvSpPr txBox="1"/>
          <p:nvPr/>
        </p:nvSpPr>
        <p:spPr>
          <a:xfrm>
            <a:off x="777240" y="2651760"/>
            <a:ext cx="4937760" cy="1005840"/>
          </a:xfrm>
          <a:prstGeom prst="rect">
            <a:avLst/>
          </a:prstGeom>
          <a:noFill/>
          <a:ln/>
        </p:spPr>
        <p:txBody>
          <a:bodyPr wrap="square" lIns="0" tIns="0" rIns="0" bIns="0" rtlCol="0" anchor="t"/>
          <a:lstStyle/>
          <a:p>
            <a:pPr indent="0" marL="0">
              <a:spcAft>
                <a:spcPts val="400"/>
              </a:spcAft>
              <a:buNone/>
            </a:pPr>
            <a:r>
              <a:rPr lang="en-US" sz="1300" b="1" dirty="0">
                <a:solidFill>
                  <a:srgbClr val="2A2346"/>
                </a:solidFill>
                <a:latin typeface="Arial" pitchFamily="34" charset="0"/>
                <a:ea typeface="Arial" pitchFamily="34" charset="-122"/>
                <a:cs typeface="Arial" pitchFamily="34" charset="-120"/>
              </a:rPr>
              <a:t>Good: </a:t>
            </a:r>
            <a:pPr indent="0" marL="0">
              <a:spcAft>
                <a:spcPts val="400"/>
              </a:spcAft>
              <a:buNone/>
            </a:pPr>
            <a:r>
              <a:rPr lang="en-US" sz="1300" dirty="0">
                <a:solidFill>
                  <a:srgbClr val="2A2346"/>
                </a:solidFill>
                <a:latin typeface="Arial" pitchFamily="34" charset="0"/>
                <a:ea typeface="Arial" pitchFamily="34" charset="-122"/>
                <a:cs typeface="Arial" pitchFamily="34" charset="-120"/>
              </a:rPr>
              <a:t>The science is solid. Proved mixed traffic can be simulated.</a:t>
            </a:r>
            <a:endParaRPr lang="en-US" sz="1300" dirty="0"/>
          </a:p>
          <a:p>
            <a:pPr indent="0" marL="0">
              <a:spcAft>
                <a:spcPts val="400"/>
              </a:spcAft>
              <a:buNone/>
            </a:pPr>
            <a:r>
              <a:rPr lang="en-US" sz="1300" b="1" dirty="0">
                <a:solidFill>
                  <a:srgbClr val="B8402A"/>
                </a:solidFill>
                <a:latin typeface="Arial" pitchFamily="34" charset="0"/>
                <a:ea typeface="Arial" pitchFamily="34" charset="-122"/>
                <a:cs typeface="Arial" pitchFamily="34" charset="-120"/>
              </a:rPr>
              <a:t>Missing: </a:t>
            </a:r>
            <a:pPr indent="0" marL="0">
              <a:spcAft>
                <a:spcPts val="400"/>
              </a:spcAft>
              <a:buNone/>
            </a:pPr>
            <a:r>
              <a:rPr lang="en-US" sz="1300" dirty="0">
                <a:solidFill>
                  <a:srgbClr val="2A2346"/>
                </a:solidFill>
                <a:latin typeface="Arial" pitchFamily="34" charset="0"/>
                <a:ea typeface="Arial" pitchFamily="34" charset="-122"/>
                <a:cs typeface="Arial" pitchFamily="34" charset="-120"/>
              </a:rPr>
              <a:t>Stays inside the paper. One site, checked one time. A traffic officer can't use it.</a:t>
            </a:r>
            <a:endParaRPr lang="en-US" sz="1300" dirty="0"/>
          </a:p>
        </p:txBody>
      </p:sp>
      <p:pic>
        <p:nvPicPr>
          <p:cNvPr id="9" name="gap card" descr="preencoded.png">    </p:cNvPr>
          <p:cNvPicPr>
            <a:picLocks noChangeAspect="1"/>
          </p:cNvPicPr>
          <p:nvPr/>
        </p:nvPicPr>
        <p:blipFill>
          <a:blip r:embed="rId4"/>
          <a:stretch>
            <a:fillRect/>
          </a:stretch>
        </p:blipFill>
        <p:spPr>
          <a:xfrm>
            <a:off x="5952744" y="1353312"/>
            <a:ext cx="5980176" cy="2688336"/>
          </a:xfrm>
          <a:prstGeom prst="rect">
            <a:avLst/>
          </a:prstGeom>
        </p:spPr>
      </p:pic>
      <p:pic>
        <p:nvPicPr>
          <p:cNvPr id="10" name="icon blob" descr="preencoded.png">    </p:cNvPr>
          <p:cNvPicPr>
            <a:picLocks noChangeAspect="1"/>
          </p:cNvPicPr>
          <p:nvPr/>
        </p:nvPicPr>
        <p:blipFill>
          <a:blip r:embed="rId5"/>
          <a:stretch>
            <a:fillRect/>
          </a:stretch>
        </p:blipFill>
        <p:spPr>
          <a:xfrm>
            <a:off x="6181344" y="1581912"/>
            <a:ext cx="1225296" cy="1225296"/>
          </a:xfrm>
          <a:prstGeom prst="rect">
            <a:avLst/>
          </a:prstGeom>
        </p:spPr>
      </p:pic>
      <p:pic>
        <p:nvPicPr>
          <p:cNvPr id="11" name="icon FaBuilding" descr="preencoded.png">    </p:cNvPr>
          <p:cNvPicPr>
            <a:picLocks noChangeAspect="1"/>
          </p:cNvPicPr>
          <p:nvPr/>
        </p:nvPicPr>
        <p:blipFill>
          <a:blip r:embed="rId6"/>
          <a:stretch>
            <a:fillRect/>
          </a:stretch>
        </p:blipFill>
        <p:spPr>
          <a:xfrm>
            <a:off x="6633972" y="2034540"/>
            <a:ext cx="320040" cy="320040"/>
          </a:xfrm>
          <a:prstGeom prst="rect">
            <a:avLst/>
          </a:prstGeom>
        </p:spPr>
      </p:pic>
      <p:sp>
        <p:nvSpPr>
          <p:cNvPr id="12" name="Text 4"/>
          <p:cNvSpPr txBox="1"/>
          <p:nvPr/>
        </p:nvSpPr>
        <p:spPr>
          <a:xfrm>
            <a:off x="7296912" y="1874520"/>
            <a:ext cx="4114800" cy="685800"/>
          </a:xfrm>
          <a:prstGeom prst="rect">
            <a:avLst/>
          </a:prstGeom>
          <a:noFill/>
          <a:ln/>
        </p:spPr>
        <p:txBody>
          <a:bodyPr wrap="square" lIns="0" tIns="0" rIns="0" bIns="0" rtlCol="0" anchor="t"/>
          <a:lstStyle/>
          <a:p>
            <a:pPr indent="0" marL="0">
              <a:buNone/>
            </a:pPr>
            <a:r>
              <a:rPr lang="en-US" sz="1700" b="1" dirty="0">
                <a:solidFill>
                  <a:srgbClr val="2A2346"/>
                </a:solidFill>
                <a:latin typeface="Arial" pitchFamily="34" charset="0"/>
                <a:ea typeface="Arial" pitchFamily="34" charset="-122"/>
                <a:cs typeface="Arial" pitchFamily="34" charset="-120"/>
              </a:rPr>
              <a:t>Paid software</a:t>
            </a:r>
            <a:endParaRPr lang="en-US" sz="1700" dirty="0"/>
          </a:p>
          <a:p>
            <a:pPr indent="0" marL="0">
              <a:buNone/>
            </a:pPr>
            <a:r>
              <a:rPr lang="en-US" sz="1100" dirty="0">
                <a:solidFill>
                  <a:srgbClr val="5A5478"/>
                </a:solidFill>
                <a:latin typeface="Arial" pitchFamily="34" charset="0"/>
                <a:ea typeface="Arial" pitchFamily="34" charset="-122"/>
                <a:cs typeface="Arial" pitchFamily="34" charset="-120"/>
              </a:rPr>
              <a:t>Vissim, Aimsun</a:t>
            </a:r>
            <a:endParaRPr lang="en-US" sz="1700" dirty="0"/>
          </a:p>
        </p:txBody>
      </p:sp>
      <p:sp>
        <p:nvSpPr>
          <p:cNvPr id="13" name="Text 5"/>
          <p:cNvSpPr txBox="1"/>
          <p:nvPr/>
        </p:nvSpPr>
        <p:spPr>
          <a:xfrm>
            <a:off x="6473952" y="2651760"/>
            <a:ext cx="4937760" cy="1005840"/>
          </a:xfrm>
          <a:prstGeom prst="rect">
            <a:avLst/>
          </a:prstGeom>
          <a:noFill/>
          <a:ln/>
        </p:spPr>
        <p:txBody>
          <a:bodyPr wrap="square" lIns="0" tIns="0" rIns="0" bIns="0" rtlCol="0" anchor="t"/>
          <a:lstStyle/>
          <a:p>
            <a:pPr indent="0" marL="0">
              <a:spcAft>
                <a:spcPts val="400"/>
              </a:spcAft>
              <a:buNone/>
            </a:pPr>
            <a:r>
              <a:rPr lang="en-US" sz="1300" b="1" dirty="0">
                <a:solidFill>
                  <a:srgbClr val="2A2346"/>
                </a:solidFill>
                <a:latin typeface="Arial" pitchFamily="34" charset="0"/>
                <a:ea typeface="Arial" pitchFamily="34" charset="-122"/>
                <a:cs typeface="Arial" pitchFamily="34" charset="-120"/>
              </a:rPr>
              <a:t>Good: </a:t>
            </a:r>
            <a:pPr indent="0" marL="0">
              <a:spcAft>
                <a:spcPts val="400"/>
              </a:spcAft>
              <a:buNone/>
            </a:pPr>
            <a:r>
              <a:rPr lang="en-US" sz="1300" dirty="0">
                <a:solidFill>
                  <a:srgbClr val="2A2346"/>
                </a:solidFill>
                <a:latin typeface="Arial" pitchFamily="34" charset="0"/>
                <a:ea typeface="Arial" pitchFamily="34" charset="-122"/>
                <a:cs typeface="Arial" pitchFamily="34" charset="-120"/>
              </a:rPr>
              <a:t>Very powerful. Used all over the world.</a:t>
            </a:r>
            <a:endParaRPr lang="en-US" sz="1300" dirty="0"/>
          </a:p>
          <a:p>
            <a:pPr indent="0" marL="0">
              <a:spcAft>
                <a:spcPts val="400"/>
              </a:spcAft>
              <a:buNone/>
            </a:pPr>
            <a:r>
              <a:rPr lang="en-US" sz="1300" b="1" dirty="0">
                <a:solidFill>
                  <a:srgbClr val="B8402A"/>
                </a:solidFill>
                <a:latin typeface="Arial" pitchFamily="34" charset="0"/>
                <a:ea typeface="Arial" pitchFamily="34" charset="-122"/>
                <a:cs typeface="Arial" pitchFamily="34" charset="-120"/>
              </a:rPr>
              <a:t>Missing: </a:t>
            </a:r>
            <a:pPr indent="0" marL="0">
              <a:spcAft>
                <a:spcPts val="400"/>
              </a:spcAft>
              <a:buNone/>
            </a:pPr>
            <a:r>
              <a:rPr lang="en-US" sz="1300" dirty="0">
                <a:solidFill>
                  <a:srgbClr val="2A2346"/>
                </a:solidFill>
                <a:latin typeface="Arial" pitchFamily="34" charset="0"/>
                <a:ea typeface="Arial" pitchFamily="34" charset="-122"/>
                <a:cs typeface="Arial" pitchFamily="34" charset="-120"/>
              </a:rPr>
              <a:t>Costly licence, made for lane traffic, needs an expert to run.</a:t>
            </a:r>
            <a:endParaRPr lang="en-US" sz="1300" dirty="0"/>
          </a:p>
        </p:txBody>
      </p:sp>
      <p:pic>
        <p:nvPicPr>
          <p:cNvPr id="14" name="gap card" descr="preencoded.png">    </p:cNvPr>
          <p:cNvPicPr>
            <a:picLocks noChangeAspect="1"/>
          </p:cNvPicPr>
          <p:nvPr/>
        </p:nvPicPr>
        <p:blipFill>
          <a:blip r:embed="rId7"/>
          <a:stretch>
            <a:fillRect/>
          </a:stretch>
        </p:blipFill>
        <p:spPr>
          <a:xfrm>
            <a:off x="256032" y="3776472"/>
            <a:ext cx="5980176" cy="2688336"/>
          </a:xfrm>
          <a:prstGeom prst="rect">
            <a:avLst/>
          </a:prstGeom>
        </p:spPr>
      </p:pic>
      <p:pic>
        <p:nvPicPr>
          <p:cNvPr id="15" name="icon blob" descr="preencoded.png">    </p:cNvPr>
          <p:cNvPicPr>
            <a:picLocks noChangeAspect="1"/>
          </p:cNvPicPr>
          <p:nvPr/>
        </p:nvPicPr>
        <p:blipFill>
          <a:blip r:embed="rId8"/>
          <a:stretch>
            <a:fillRect/>
          </a:stretch>
        </p:blipFill>
        <p:spPr>
          <a:xfrm>
            <a:off x="484632" y="4005072"/>
            <a:ext cx="1225296" cy="1225296"/>
          </a:xfrm>
          <a:prstGeom prst="rect">
            <a:avLst/>
          </a:prstGeom>
        </p:spPr>
      </p:pic>
      <p:pic>
        <p:nvPicPr>
          <p:cNvPr id="16" name="icon FaTrafficLight" descr="preencoded.png">    </p:cNvPr>
          <p:cNvPicPr>
            <a:picLocks noChangeAspect="1"/>
          </p:cNvPicPr>
          <p:nvPr/>
        </p:nvPicPr>
        <p:blipFill>
          <a:blip r:embed="rId9"/>
          <a:stretch>
            <a:fillRect/>
          </a:stretch>
        </p:blipFill>
        <p:spPr>
          <a:xfrm>
            <a:off x="937260" y="4457700"/>
            <a:ext cx="320040" cy="320040"/>
          </a:xfrm>
          <a:prstGeom prst="rect">
            <a:avLst/>
          </a:prstGeom>
        </p:spPr>
      </p:pic>
      <p:sp>
        <p:nvSpPr>
          <p:cNvPr id="17" name="Text 6"/>
          <p:cNvSpPr txBox="1"/>
          <p:nvPr/>
        </p:nvSpPr>
        <p:spPr>
          <a:xfrm>
            <a:off x="1600200" y="4297680"/>
            <a:ext cx="4114800" cy="685800"/>
          </a:xfrm>
          <a:prstGeom prst="rect">
            <a:avLst/>
          </a:prstGeom>
          <a:noFill/>
          <a:ln/>
        </p:spPr>
        <p:txBody>
          <a:bodyPr wrap="square" lIns="0" tIns="0" rIns="0" bIns="0" rtlCol="0" anchor="t"/>
          <a:lstStyle/>
          <a:p>
            <a:pPr indent="0" marL="0">
              <a:buNone/>
            </a:pPr>
            <a:r>
              <a:rPr lang="en-US" sz="1700" b="1" dirty="0">
                <a:solidFill>
                  <a:srgbClr val="2A2346"/>
                </a:solidFill>
                <a:latin typeface="Arial" pitchFamily="34" charset="0"/>
                <a:ea typeface="Arial" pitchFamily="34" charset="-122"/>
                <a:cs typeface="Arial" pitchFamily="34" charset="-120"/>
              </a:rPr>
              <a:t>Signal and monitoring tools</a:t>
            </a:r>
            <a:endParaRPr lang="en-US" sz="1700" dirty="0"/>
          </a:p>
          <a:p>
            <a:pPr indent="0" marL="0">
              <a:buNone/>
            </a:pPr>
            <a:r>
              <a:rPr lang="en-US" sz="1100" dirty="0">
                <a:solidFill>
                  <a:srgbClr val="5A5478"/>
                </a:solidFill>
                <a:latin typeface="Arial" pitchFamily="34" charset="0"/>
                <a:ea typeface="Arial" pitchFamily="34" charset="-122"/>
                <a:cs typeface="Arial" pitchFamily="34" charset="-120"/>
              </a:rPr>
              <a:t>Green Light, B-ATCS, ASTraM</a:t>
            </a:r>
            <a:endParaRPr lang="en-US" sz="1700" dirty="0"/>
          </a:p>
        </p:txBody>
      </p:sp>
      <p:sp>
        <p:nvSpPr>
          <p:cNvPr id="18" name="Text 7"/>
          <p:cNvSpPr txBox="1"/>
          <p:nvPr/>
        </p:nvSpPr>
        <p:spPr>
          <a:xfrm>
            <a:off x="777240" y="5074920"/>
            <a:ext cx="4937760" cy="1005840"/>
          </a:xfrm>
          <a:prstGeom prst="rect">
            <a:avLst/>
          </a:prstGeom>
          <a:noFill/>
          <a:ln/>
        </p:spPr>
        <p:txBody>
          <a:bodyPr wrap="square" lIns="0" tIns="0" rIns="0" bIns="0" rtlCol="0" anchor="t"/>
          <a:lstStyle/>
          <a:p>
            <a:pPr indent="0" marL="0">
              <a:spcAft>
                <a:spcPts val="400"/>
              </a:spcAft>
              <a:buNone/>
            </a:pPr>
            <a:r>
              <a:rPr lang="en-US" sz="1300" b="1" dirty="0">
                <a:solidFill>
                  <a:srgbClr val="2A2346"/>
                </a:solidFill>
                <a:latin typeface="Arial" pitchFamily="34" charset="0"/>
                <a:ea typeface="Arial" pitchFamily="34" charset="-122"/>
                <a:cs typeface="Arial" pitchFamily="34" charset="-120"/>
              </a:rPr>
              <a:t>Good: </a:t>
            </a:r>
            <a:pPr indent="0" marL="0">
              <a:spcAft>
                <a:spcPts val="400"/>
              </a:spcAft>
              <a:buNone/>
            </a:pPr>
            <a:r>
              <a:rPr lang="en-US" sz="1300" dirty="0">
                <a:solidFill>
                  <a:srgbClr val="2A2346"/>
                </a:solidFill>
                <a:latin typeface="Arial" pitchFamily="34" charset="0"/>
                <a:ea typeface="Arial" pitchFamily="34" charset="-122"/>
                <a:cs typeface="Arial" pitchFamily="34" charset="-120"/>
              </a:rPr>
              <a:t>Already working on our roads today.</a:t>
            </a:r>
            <a:endParaRPr lang="en-US" sz="1300" dirty="0"/>
          </a:p>
          <a:p>
            <a:pPr indent="0" marL="0">
              <a:spcAft>
                <a:spcPts val="400"/>
              </a:spcAft>
              <a:buNone/>
            </a:pPr>
            <a:r>
              <a:rPr lang="en-US" sz="1300" b="1" dirty="0">
                <a:solidFill>
                  <a:srgbClr val="B8402A"/>
                </a:solidFill>
                <a:latin typeface="Arial" pitchFamily="34" charset="0"/>
                <a:ea typeface="Arial" pitchFamily="34" charset="-122"/>
                <a:cs typeface="Arial" pitchFamily="34" charset="-120"/>
              </a:rPr>
              <a:t>Missing: </a:t>
            </a:r>
            <a:pPr indent="0" marL="0">
              <a:spcAft>
                <a:spcPts val="400"/>
              </a:spcAft>
              <a:buNone/>
            </a:pPr>
            <a:r>
              <a:rPr lang="en-US" sz="1300" dirty="0">
                <a:solidFill>
                  <a:srgbClr val="2A2346"/>
                </a:solidFill>
                <a:latin typeface="Arial" pitchFamily="34" charset="0"/>
                <a:ea typeface="Arial" pitchFamily="34" charset="-122"/>
                <a:cs typeface="Arial" pitchFamily="34" charset="-120"/>
              </a:rPr>
              <a:t>They fix today's signals. They can't answer “what if 4,500 more buses come?”</a:t>
            </a:r>
            <a:endParaRPr lang="en-US" sz="1300" dirty="0"/>
          </a:p>
        </p:txBody>
      </p:sp>
      <p:pic>
        <p:nvPicPr>
          <p:cNvPr id="19" name="gap card" descr="preencoded.png">    </p:cNvPr>
          <p:cNvPicPr>
            <a:picLocks noChangeAspect="1"/>
          </p:cNvPicPr>
          <p:nvPr/>
        </p:nvPicPr>
        <p:blipFill>
          <a:blip r:embed="rId10"/>
          <a:stretch>
            <a:fillRect/>
          </a:stretch>
        </p:blipFill>
        <p:spPr>
          <a:xfrm>
            <a:off x="5952744" y="3776472"/>
            <a:ext cx="5980176" cy="2688336"/>
          </a:xfrm>
          <a:prstGeom prst="rect">
            <a:avLst/>
          </a:prstGeom>
        </p:spPr>
      </p:pic>
      <p:pic>
        <p:nvPicPr>
          <p:cNvPr id="20" name="icon blob" descr="preencoded.png">    </p:cNvPr>
          <p:cNvPicPr>
            <a:picLocks noChangeAspect="1"/>
          </p:cNvPicPr>
          <p:nvPr/>
        </p:nvPicPr>
        <p:blipFill>
          <a:blip r:embed="rId11"/>
          <a:stretch>
            <a:fillRect/>
          </a:stretch>
        </p:blipFill>
        <p:spPr>
          <a:xfrm>
            <a:off x="6181344" y="4005072"/>
            <a:ext cx="1225296" cy="1225296"/>
          </a:xfrm>
          <a:prstGeom prst="rect">
            <a:avLst/>
          </a:prstGeom>
        </p:spPr>
      </p:pic>
      <p:pic>
        <p:nvPicPr>
          <p:cNvPr id="21" name="icon FaBus" descr="preencoded.png">    </p:cNvPr>
          <p:cNvPicPr>
            <a:picLocks noChangeAspect="1"/>
          </p:cNvPicPr>
          <p:nvPr/>
        </p:nvPicPr>
        <p:blipFill>
          <a:blip r:embed="rId12"/>
          <a:stretch>
            <a:fillRect/>
          </a:stretch>
        </p:blipFill>
        <p:spPr>
          <a:xfrm>
            <a:off x="6633972" y="4457700"/>
            <a:ext cx="320040" cy="320040"/>
          </a:xfrm>
          <a:prstGeom prst="rect">
            <a:avLst/>
          </a:prstGeom>
        </p:spPr>
      </p:pic>
      <p:sp>
        <p:nvSpPr>
          <p:cNvPr id="22" name="Text 8"/>
          <p:cNvSpPr txBox="1"/>
          <p:nvPr/>
        </p:nvSpPr>
        <p:spPr>
          <a:xfrm>
            <a:off x="7296912" y="4297680"/>
            <a:ext cx="4114800" cy="685800"/>
          </a:xfrm>
          <a:prstGeom prst="rect">
            <a:avLst/>
          </a:prstGeom>
          <a:noFill/>
          <a:ln/>
        </p:spPr>
        <p:txBody>
          <a:bodyPr wrap="square" lIns="0" tIns="0" rIns="0" bIns="0" rtlCol="0" anchor="t"/>
          <a:lstStyle/>
          <a:p>
            <a:pPr indent="0" marL="0">
              <a:buNone/>
            </a:pPr>
            <a:r>
              <a:rPr lang="en-US" sz="1700" b="1" dirty="0">
                <a:solidFill>
                  <a:srgbClr val="2A2346"/>
                </a:solidFill>
                <a:latin typeface="Arial" pitchFamily="34" charset="0"/>
                <a:ea typeface="Arial" pitchFamily="34" charset="-122"/>
                <a:cs typeface="Arial" pitchFamily="34" charset="-120"/>
              </a:rPr>
              <a:t>E-bus planning studies</a:t>
            </a:r>
            <a:endParaRPr lang="en-US" sz="1700" dirty="0"/>
          </a:p>
          <a:p>
            <a:pPr indent="0" marL="0">
              <a:buNone/>
            </a:pPr>
            <a:r>
              <a:rPr lang="en-US" sz="1100" dirty="0">
                <a:solidFill>
                  <a:srgbClr val="5A5478"/>
                </a:solidFill>
                <a:latin typeface="Arial" pitchFamily="34" charset="0"/>
                <a:ea typeface="Arial" pitchFamily="34" charset="-122"/>
                <a:cs typeface="Arial" pitchFamily="34" charset="-120"/>
              </a:rPr>
              <a:t>WRI guidebook, Shakti Foundation roadmap</a:t>
            </a:r>
            <a:endParaRPr lang="en-US" sz="1700" dirty="0"/>
          </a:p>
        </p:txBody>
      </p:sp>
      <p:sp>
        <p:nvSpPr>
          <p:cNvPr id="23" name="Text 9"/>
          <p:cNvSpPr txBox="1"/>
          <p:nvPr/>
        </p:nvSpPr>
        <p:spPr>
          <a:xfrm>
            <a:off x="6473952" y="5074920"/>
            <a:ext cx="4937760" cy="1005840"/>
          </a:xfrm>
          <a:prstGeom prst="rect">
            <a:avLst/>
          </a:prstGeom>
          <a:noFill/>
          <a:ln/>
        </p:spPr>
        <p:txBody>
          <a:bodyPr wrap="square" lIns="0" tIns="0" rIns="0" bIns="0" rtlCol="0" anchor="t"/>
          <a:lstStyle/>
          <a:p>
            <a:pPr indent="0" marL="0">
              <a:spcAft>
                <a:spcPts val="400"/>
              </a:spcAft>
              <a:buNone/>
            </a:pPr>
            <a:r>
              <a:rPr lang="en-US" sz="1300" b="1" dirty="0">
                <a:solidFill>
                  <a:srgbClr val="2A2346"/>
                </a:solidFill>
                <a:latin typeface="Arial" pitchFamily="34" charset="0"/>
                <a:ea typeface="Arial" pitchFamily="34" charset="-122"/>
                <a:cs typeface="Arial" pitchFamily="34" charset="-120"/>
              </a:rPr>
              <a:t>Good: </a:t>
            </a:r>
            <a:pPr indent="0" marL="0">
              <a:spcAft>
                <a:spcPts val="400"/>
              </a:spcAft>
              <a:buNone/>
            </a:pPr>
            <a:r>
              <a:rPr lang="en-US" sz="1300" dirty="0">
                <a:solidFill>
                  <a:srgbClr val="2A2346"/>
                </a:solidFill>
                <a:latin typeface="Arial" pitchFamily="34" charset="0"/>
                <a:ea typeface="Arial" pitchFamily="34" charset="-122"/>
                <a:cs typeface="Arial" pitchFamily="34" charset="-120"/>
              </a:rPr>
              <a:t>Good method for choosing e-bus routes.</a:t>
            </a:r>
            <a:endParaRPr lang="en-US" sz="1300" dirty="0"/>
          </a:p>
          <a:p>
            <a:pPr indent="0" marL="0">
              <a:spcAft>
                <a:spcPts val="400"/>
              </a:spcAft>
              <a:buNone/>
            </a:pPr>
            <a:r>
              <a:rPr lang="en-US" sz="1300" b="1" dirty="0">
                <a:solidFill>
                  <a:srgbClr val="B8402A"/>
                </a:solidFill>
                <a:latin typeface="Arial" pitchFamily="34" charset="0"/>
                <a:ea typeface="Arial" pitchFamily="34" charset="-122"/>
                <a:cs typeface="Arial" pitchFamily="34" charset="-120"/>
              </a:rPr>
              <a:t>Missing: </a:t>
            </a:r>
            <a:pPr indent="0" marL="0">
              <a:spcAft>
                <a:spcPts val="400"/>
              </a:spcAft>
              <a:buNone/>
            </a:pPr>
            <a:r>
              <a:rPr lang="en-US" sz="1300" dirty="0">
                <a:solidFill>
                  <a:srgbClr val="2A2346"/>
                </a:solidFill>
                <a:latin typeface="Arial" pitchFamily="34" charset="0"/>
                <a:ea typeface="Arial" pitchFamily="34" charset="-122"/>
                <a:cs typeface="Arial" pitchFamily="34" charset="-120"/>
              </a:rPr>
              <a:t>Don't show what happens at the junction when those buses actually reach.</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ABHYAS</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What Abhyas adds</a:t>
            </a:r>
            <a:endParaRPr lang="en-US" sz="3200" dirty="0"/>
          </a:p>
        </p:txBody>
      </p:sp>
      <p:pic>
        <p:nvPicPr>
          <p:cNvPr id="4" name="statement card" descr="preencoded.png">    </p:cNvPr>
          <p:cNvPicPr>
            <a:picLocks noChangeAspect="1"/>
          </p:cNvPicPr>
          <p:nvPr/>
        </p:nvPicPr>
        <p:blipFill>
          <a:blip r:embed="rId1"/>
          <a:stretch>
            <a:fillRect/>
          </a:stretch>
        </p:blipFill>
        <p:spPr>
          <a:xfrm>
            <a:off x="256032" y="1399032"/>
            <a:ext cx="4791456" cy="4745736"/>
          </a:xfrm>
          <a:prstGeom prst="rect">
            <a:avLst/>
          </a:prstGeom>
        </p:spPr>
      </p:pic>
      <p:sp>
        <p:nvSpPr>
          <p:cNvPr id="5" name="Text 2"/>
          <p:cNvSpPr txBox="1"/>
          <p:nvPr/>
        </p:nvSpPr>
        <p:spPr>
          <a:xfrm>
            <a:off x="868680" y="2011680"/>
            <a:ext cx="3566160" cy="356616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Abhyas joins the proven pieces.</a:t>
            </a:r>
            <a:endParaRPr lang="en-US" sz="2800" dirty="0"/>
          </a:p>
          <a:p>
            <a:pPr indent="0" marL="0">
              <a:buNone/>
            </a:pPr>
            <a:r>
              <a:rPr lang="en-US" sz="1000" dirty="0">
                <a:solidFill>
                  <a:srgbClr val="2A2346"/>
                </a:solidFill>
                <a:latin typeface="Arial" pitchFamily="34" charset="0"/>
                <a:ea typeface="Arial" pitchFamily="34" charset="-122"/>
                <a:cs typeface="Arial" pitchFamily="34" charset="-120"/>
              </a:rPr>
              <a:t> </a:t>
            </a:r>
            <a:endParaRPr lang="en-US" sz="2800" dirty="0"/>
          </a:p>
          <a:p>
            <a:pPr indent="0" marL="0">
              <a:buNone/>
            </a:pPr>
            <a:r>
              <a:rPr lang="en-US" sz="2100" dirty="0">
                <a:solidFill>
                  <a:srgbClr val="D9D4F2"/>
                </a:solidFill>
                <a:latin typeface="Arial" pitchFamily="34" charset="0"/>
                <a:ea typeface="Arial" pitchFamily="34" charset="-122"/>
                <a:cs typeface="Arial" pitchFamily="34" charset="-120"/>
              </a:rPr>
              <a:t>Then it adds three things nobody gives together.</a:t>
            </a:r>
            <a:endParaRPr lang="en-US" sz="2800" dirty="0"/>
          </a:p>
          <a:p>
            <a:pPr indent="0" marL="0">
              <a:buNone/>
            </a:pPr>
            <a:r>
              <a:rPr lang="en-US" sz="1000" dirty="0">
                <a:solidFill>
                  <a:srgbClr val="2A2346"/>
                </a:solidFill>
                <a:latin typeface="Arial" pitchFamily="34" charset="0"/>
                <a:ea typeface="Arial" pitchFamily="34" charset="-122"/>
                <a:cs typeface="Arial" pitchFamily="34" charset="-120"/>
              </a:rPr>
              <a:t> </a:t>
            </a:r>
            <a:endParaRPr lang="en-US" sz="2800" dirty="0"/>
          </a:p>
          <a:p>
            <a:pPr indent="0" marL="0">
              <a:buNone/>
            </a:pPr>
            <a:r>
              <a:rPr lang="en-US" sz="1600" dirty="0">
                <a:solidFill>
                  <a:srgbClr val="FFE48F"/>
                </a:solidFill>
                <a:latin typeface="Arial" pitchFamily="34" charset="0"/>
                <a:ea typeface="Arial" pitchFamily="34" charset="-122"/>
                <a:cs typeface="Arial" pitchFamily="34" charset="-120"/>
              </a:rPr>
              <a:t>All vehicle numbers come from Indian standards (Indo-HCM 2017, IRC).</a:t>
            </a:r>
            <a:endParaRPr lang="en-US" sz="2800" dirty="0"/>
          </a:p>
        </p:txBody>
      </p:sp>
      <p:pic>
        <p:nvPicPr>
          <p:cNvPr id="6" name="new card" descr="preencoded.png">    </p:cNvPr>
          <p:cNvPicPr>
            <a:picLocks noChangeAspect="1"/>
          </p:cNvPicPr>
          <p:nvPr/>
        </p:nvPicPr>
        <p:blipFill>
          <a:blip r:embed="rId2"/>
          <a:stretch>
            <a:fillRect/>
          </a:stretch>
        </p:blipFill>
        <p:spPr>
          <a:xfrm>
            <a:off x="4828032" y="1399032"/>
            <a:ext cx="7104888" cy="1773936"/>
          </a:xfrm>
          <a:prstGeom prst="rect">
            <a:avLst/>
          </a:prstGeom>
        </p:spPr>
      </p:pic>
      <p:pic>
        <p:nvPicPr>
          <p:cNvPr id="7" name="icon blob" descr="preencoded.png">    </p:cNvPr>
          <p:cNvPicPr>
            <a:picLocks noChangeAspect="1"/>
          </p:cNvPicPr>
          <p:nvPr/>
        </p:nvPicPr>
        <p:blipFill>
          <a:blip r:embed="rId3"/>
          <a:stretch>
            <a:fillRect/>
          </a:stretch>
        </p:blipFill>
        <p:spPr>
          <a:xfrm>
            <a:off x="5056632" y="1627632"/>
            <a:ext cx="1316736" cy="1316736"/>
          </a:xfrm>
          <a:prstGeom prst="rect">
            <a:avLst/>
          </a:prstGeom>
        </p:spPr>
      </p:pic>
      <p:pic>
        <p:nvPicPr>
          <p:cNvPr id="8" name="icon FaCircleCheck" descr="preencoded.png">    </p:cNvPr>
          <p:cNvPicPr>
            <a:picLocks noChangeAspect="1"/>
          </p:cNvPicPr>
          <p:nvPr/>
        </p:nvPicPr>
        <p:blipFill>
          <a:blip r:embed="rId4"/>
          <a:stretch>
            <a:fillRect/>
          </a:stretch>
        </p:blipFill>
        <p:spPr>
          <a:xfrm>
            <a:off x="5532120" y="2103120"/>
            <a:ext cx="365760" cy="365760"/>
          </a:xfrm>
          <a:prstGeom prst="rect">
            <a:avLst/>
          </a:prstGeom>
        </p:spPr>
      </p:pic>
      <p:sp>
        <p:nvSpPr>
          <p:cNvPr id="9" name="Text 3"/>
          <p:cNvSpPr txBox="1"/>
          <p:nvPr/>
        </p:nvSpPr>
        <p:spPr>
          <a:xfrm>
            <a:off x="6309360" y="1856232"/>
            <a:ext cx="5102352" cy="914400"/>
          </a:xfrm>
          <a:prstGeom prst="rect">
            <a:avLst/>
          </a:prstGeom>
          <a:noFill/>
          <a:ln/>
        </p:spPr>
        <p:txBody>
          <a:bodyPr wrap="square" lIns="0" tIns="0" rIns="0" bIns="0" rtlCol="0" anchor="t"/>
          <a:lstStyle/>
          <a:p>
            <a:pPr indent="0" marL="0">
              <a:buNone/>
            </a:pPr>
            <a:r>
              <a:rPr lang="en-US" sz="1600" b="1" dirty="0">
                <a:solidFill>
                  <a:srgbClr val="2A2346"/>
                </a:solidFill>
                <a:latin typeface="Arial" pitchFamily="34" charset="0"/>
                <a:ea typeface="Arial" pitchFamily="34" charset="-122"/>
                <a:cs typeface="Arial" pitchFamily="34" charset="-120"/>
              </a:rPr>
              <a:t>1. It checks itself</a:t>
            </a:r>
            <a:endParaRPr lang="en-US" sz="1600" dirty="0"/>
          </a:p>
          <a:p>
            <a:pPr indent="0" marL="0">
              <a:buNone/>
            </a:pPr>
            <a:r>
              <a:rPr lang="en-US" sz="1250" dirty="0">
                <a:solidFill>
                  <a:srgbClr val="2A2346"/>
                </a:solidFill>
                <a:latin typeface="Arial" pitchFamily="34" charset="0"/>
                <a:ea typeface="Arial" pitchFamily="34" charset="-122"/>
                <a:cs typeface="Arial" pitchFamily="34" charset="-120"/>
              </a:rPr>
              <a:t>7 checkers compare every result with real TomTom travel times. If the data is not enough, it says “can't say”.</a:t>
            </a:r>
            <a:endParaRPr lang="en-US" sz="1600" dirty="0"/>
          </a:p>
        </p:txBody>
      </p:sp>
      <p:pic>
        <p:nvPicPr>
          <p:cNvPr id="10" name="new card" descr="preencoded.png">    </p:cNvPr>
          <p:cNvPicPr>
            <a:picLocks noChangeAspect="1"/>
          </p:cNvPicPr>
          <p:nvPr/>
        </p:nvPicPr>
        <p:blipFill>
          <a:blip r:embed="rId5"/>
          <a:stretch>
            <a:fillRect/>
          </a:stretch>
        </p:blipFill>
        <p:spPr>
          <a:xfrm>
            <a:off x="4828032" y="2816352"/>
            <a:ext cx="7104888" cy="1773936"/>
          </a:xfrm>
          <a:prstGeom prst="rect">
            <a:avLst/>
          </a:prstGeom>
        </p:spPr>
      </p:pic>
      <p:pic>
        <p:nvPicPr>
          <p:cNvPr id="11" name="icon blob" descr="preencoded.png">    </p:cNvPr>
          <p:cNvPicPr>
            <a:picLocks noChangeAspect="1"/>
          </p:cNvPicPr>
          <p:nvPr/>
        </p:nvPicPr>
        <p:blipFill>
          <a:blip r:embed="rId6"/>
          <a:stretch>
            <a:fillRect/>
          </a:stretch>
        </p:blipFill>
        <p:spPr>
          <a:xfrm>
            <a:off x="5056632" y="3044952"/>
            <a:ext cx="1316736" cy="1316736"/>
          </a:xfrm>
          <a:prstGeom prst="rect">
            <a:avLst/>
          </a:prstGeom>
        </p:spPr>
      </p:pic>
      <p:pic>
        <p:nvPicPr>
          <p:cNvPr id="12" name="icon FaUsers" descr="preencoded.png">    </p:cNvPr>
          <p:cNvPicPr>
            <a:picLocks noChangeAspect="1"/>
          </p:cNvPicPr>
          <p:nvPr/>
        </p:nvPicPr>
        <p:blipFill>
          <a:blip r:embed="rId7"/>
          <a:stretch>
            <a:fillRect/>
          </a:stretch>
        </p:blipFill>
        <p:spPr>
          <a:xfrm>
            <a:off x="5532120" y="3520440"/>
            <a:ext cx="365760" cy="365760"/>
          </a:xfrm>
          <a:prstGeom prst="rect">
            <a:avLst/>
          </a:prstGeom>
        </p:spPr>
      </p:pic>
      <p:sp>
        <p:nvSpPr>
          <p:cNvPr id="13" name="Text 4"/>
          <p:cNvSpPr txBox="1"/>
          <p:nvPr/>
        </p:nvSpPr>
        <p:spPr>
          <a:xfrm>
            <a:off x="6309360" y="3273552"/>
            <a:ext cx="5102352" cy="914400"/>
          </a:xfrm>
          <a:prstGeom prst="rect">
            <a:avLst/>
          </a:prstGeom>
          <a:noFill/>
          <a:ln/>
        </p:spPr>
        <p:txBody>
          <a:bodyPr wrap="square" lIns="0" tIns="0" rIns="0" bIns="0" rtlCol="0" anchor="t"/>
          <a:lstStyle/>
          <a:p>
            <a:pPr indent="0" marL="0">
              <a:buNone/>
            </a:pPr>
            <a:r>
              <a:rPr lang="en-US" sz="1600" b="1" dirty="0">
                <a:solidFill>
                  <a:srgbClr val="2A2346"/>
                </a:solidFill>
                <a:latin typeface="Arial" pitchFamily="34" charset="0"/>
                <a:ea typeface="Arial" pitchFamily="34" charset="-122"/>
                <a:cs typeface="Arial" pitchFamily="34" charset="-120"/>
              </a:rPr>
              <a:t>2. It counts people moved</a:t>
            </a:r>
            <a:endParaRPr lang="en-US" sz="1600" dirty="0"/>
          </a:p>
          <a:p>
            <a:pPr indent="0" marL="0">
              <a:buNone/>
            </a:pPr>
            <a:r>
              <a:rPr lang="en-US" sz="1250" dirty="0">
                <a:solidFill>
                  <a:srgbClr val="2A2346"/>
                </a:solidFill>
                <a:latin typeface="Arial" pitchFamily="34" charset="0"/>
                <a:ea typeface="Arial" pitchFamily="34" charset="-122"/>
                <a:cs typeface="Arial" pitchFamily="34" charset="-120"/>
              </a:rPr>
              <a:t>One full bus carries many people. So a bus lane gets judged fairly.</a:t>
            </a:r>
            <a:endParaRPr lang="en-US" sz="1600" dirty="0"/>
          </a:p>
        </p:txBody>
      </p:sp>
      <p:pic>
        <p:nvPicPr>
          <p:cNvPr id="14" name="new card" descr="preencoded.png">    </p:cNvPr>
          <p:cNvPicPr>
            <a:picLocks noChangeAspect="1"/>
          </p:cNvPicPr>
          <p:nvPr/>
        </p:nvPicPr>
        <p:blipFill>
          <a:blip r:embed="rId8"/>
          <a:stretch>
            <a:fillRect/>
          </a:stretch>
        </p:blipFill>
        <p:spPr>
          <a:xfrm>
            <a:off x="4828032" y="4233672"/>
            <a:ext cx="7104888" cy="1773936"/>
          </a:xfrm>
          <a:prstGeom prst="rect">
            <a:avLst/>
          </a:prstGeom>
        </p:spPr>
      </p:pic>
      <p:pic>
        <p:nvPicPr>
          <p:cNvPr id="15" name="icon blob" descr="preencoded.png">    </p:cNvPr>
          <p:cNvPicPr>
            <a:picLocks noChangeAspect="1"/>
          </p:cNvPicPr>
          <p:nvPr/>
        </p:nvPicPr>
        <p:blipFill>
          <a:blip r:embed="rId9"/>
          <a:stretch>
            <a:fillRect/>
          </a:stretch>
        </p:blipFill>
        <p:spPr>
          <a:xfrm>
            <a:off x="5056632" y="4462272"/>
            <a:ext cx="1316736" cy="1316736"/>
          </a:xfrm>
          <a:prstGeom prst="rect">
            <a:avLst/>
          </a:prstGeom>
        </p:spPr>
      </p:pic>
      <p:pic>
        <p:nvPicPr>
          <p:cNvPr id="16" name="icon FaMicrophone" descr="preencoded.png">    </p:cNvPr>
          <p:cNvPicPr>
            <a:picLocks noChangeAspect="1"/>
          </p:cNvPicPr>
          <p:nvPr/>
        </p:nvPicPr>
        <p:blipFill>
          <a:blip r:embed="rId10"/>
          <a:stretch>
            <a:fillRect/>
          </a:stretch>
        </p:blipFill>
        <p:spPr>
          <a:xfrm>
            <a:off x="5532120" y="4937760"/>
            <a:ext cx="365760" cy="365760"/>
          </a:xfrm>
          <a:prstGeom prst="rect">
            <a:avLst/>
          </a:prstGeom>
        </p:spPr>
      </p:pic>
      <p:sp>
        <p:nvSpPr>
          <p:cNvPr id="17" name="Text 5"/>
          <p:cNvSpPr txBox="1"/>
          <p:nvPr/>
        </p:nvSpPr>
        <p:spPr>
          <a:xfrm>
            <a:off x="6309360" y="4690872"/>
            <a:ext cx="5102352" cy="914400"/>
          </a:xfrm>
          <a:prstGeom prst="rect">
            <a:avLst/>
          </a:prstGeom>
          <a:noFill/>
          <a:ln/>
        </p:spPr>
        <p:txBody>
          <a:bodyPr wrap="square" lIns="0" tIns="0" rIns="0" bIns="0" rtlCol="0" anchor="t"/>
          <a:lstStyle/>
          <a:p>
            <a:pPr indent="0" marL="0">
              <a:buNone/>
            </a:pPr>
            <a:r>
              <a:rPr lang="en-US" sz="1600" b="1" dirty="0">
                <a:solidFill>
                  <a:srgbClr val="2A2346"/>
                </a:solidFill>
                <a:latin typeface="Arial" pitchFamily="34" charset="0"/>
                <a:ea typeface="Arial" pitchFamily="34" charset="-122"/>
                <a:cs typeface="Arial" pitchFamily="34" charset="-120"/>
              </a:rPr>
              <a:t>3. Anybody can ask</a:t>
            </a:r>
            <a:endParaRPr lang="en-US" sz="1600" dirty="0"/>
          </a:p>
          <a:p>
            <a:pPr indent="0" marL="0">
              <a:buNone/>
            </a:pPr>
            <a:r>
              <a:rPr lang="en-US" sz="1250" dirty="0">
                <a:solidFill>
                  <a:srgbClr val="2A2346"/>
                </a:solidFill>
                <a:latin typeface="Arial" pitchFamily="34" charset="0"/>
                <a:ea typeface="Arial" pitchFamily="34" charset="-122"/>
                <a:cs typeface="Arial" pitchFamily="34" charset="-120"/>
              </a:rPr>
              <a:t>Type or speak in simple words: “What if this signal is 10 seconds shorter?”</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BUILT ON EARLIER WORK</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What Abhyas uses from earlier work</a:t>
            </a:r>
            <a:endParaRPr lang="en-US" sz="3200" dirty="0"/>
          </a:p>
        </p:txBody>
      </p:sp>
      <p:sp>
        <p:nvSpPr>
          <p:cNvPr id="4" name="Text 2"/>
          <p:cNvSpPr txBox="1"/>
          <p:nvPr/>
        </p:nvSpPr>
        <p:spPr>
          <a:xfrm>
            <a:off x="548640" y="1463040"/>
            <a:ext cx="3657600" cy="228600"/>
          </a:xfrm>
          <a:prstGeom prst="rect">
            <a:avLst/>
          </a:prstGeom>
          <a:noFill/>
          <a:ln/>
        </p:spPr>
        <p:txBody>
          <a:bodyPr wrap="square" lIns="0" tIns="0" rIns="0" bIns="0" rtlCol="0" anchor="t"/>
          <a:lstStyle/>
          <a:p>
            <a:pPr indent="0" marL="0">
              <a:buNone/>
            </a:pPr>
            <a:r>
              <a:rPr lang="en-US" sz="1100" b="1" spc="200" kern="0" dirty="0">
                <a:solidFill>
                  <a:srgbClr val="5A5478"/>
                </a:solidFill>
                <a:latin typeface="Arial" pitchFamily="34" charset="0"/>
                <a:ea typeface="Arial" pitchFamily="34" charset="-122"/>
                <a:cs typeface="Arial" pitchFamily="34" charset="-120"/>
              </a:rPr>
              <a:t>EARLIER WORK</a:t>
            </a:r>
            <a:endParaRPr lang="en-US" sz="1100" dirty="0"/>
          </a:p>
        </p:txBody>
      </p:sp>
      <p:sp>
        <p:nvSpPr>
          <p:cNvPr id="5" name="Text 3"/>
          <p:cNvSpPr txBox="1"/>
          <p:nvPr/>
        </p:nvSpPr>
        <p:spPr>
          <a:xfrm>
            <a:off x="5806440" y="1463040"/>
            <a:ext cx="3657600" cy="228600"/>
          </a:xfrm>
          <a:prstGeom prst="rect">
            <a:avLst/>
          </a:prstGeom>
          <a:noFill/>
          <a:ln/>
        </p:spPr>
        <p:txBody>
          <a:bodyPr wrap="square" lIns="0" tIns="0" rIns="0" bIns="0" rtlCol="0" anchor="t"/>
          <a:lstStyle/>
          <a:p>
            <a:pPr indent="0" marL="0">
              <a:buNone/>
            </a:pPr>
            <a:r>
              <a:rPr lang="en-US" sz="1100" b="1" spc="200" kern="0" dirty="0">
                <a:solidFill>
                  <a:srgbClr val="5A5478"/>
                </a:solidFill>
                <a:latin typeface="Arial" pitchFamily="34" charset="0"/>
                <a:ea typeface="Arial" pitchFamily="34" charset="-122"/>
                <a:cs typeface="Arial" pitchFamily="34" charset="-120"/>
              </a:rPr>
              <a:t>HOW ABHYAS USES IT</a:t>
            </a:r>
            <a:endParaRPr lang="en-US" sz="1100" dirty="0"/>
          </a:p>
        </p:txBody>
      </p:sp>
      <p:pic>
        <p:nvPicPr>
          <p:cNvPr id="6" name="source pill" descr="preencoded.png">    </p:cNvPr>
          <p:cNvPicPr>
            <a:picLocks noChangeAspect="1"/>
          </p:cNvPicPr>
          <p:nvPr/>
        </p:nvPicPr>
        <p:blipFill>
          <a:blip r:embed="rId1"/>
          <a:stretch>
            <a:fillRect/>
          </a:stretch>
        </p:blipFill>
        <p:spPr>
          <a:xfrm>
            <a:off x="256032" y="1536192"/>
            <a:ext cx="5157216" cy="1271016"/>
          </a:xfrm>
          <a:prstGeom prst="rect">
            <a:avLst/>
          </a:prstGeom>
        </p:spPr>
      </p:pic>
      <p:sp>
        <p:nvSpPr>
          <p:cNvPr id="7" name="Text 4"/>
          <p:cNvSpPr txBox="1"/>
          <p:nvPr/>
        </p:nvSpPr>
        <p:spPr>
          <a:xfrm>
            <a:off x="777240" y="1901952"/>
            <a:ext cx="4206240" cy="576072"/>
          </a:xfrm>
          <a:prstGeom prst="rect">
            <a:avLst/>
          </a:prstGeom>
          <a:noFill/>
          <a:ln/>
        </p:spPr>
        <p:txBody>
          <a:bodyPr wrap="square" lIns="0" tIns="0" rIns="0" bIns="0" rtlCol="0" anchor="ctr"/>
          <a:lstStyle/>
          <a:p>
            <a:pPr indent="0" marL="0">
              <a:buNone/>
            </a:pPr>
            <a:r>
              <a:rPr lang="en-US" sz="1350" b="1" dirty="0">
                <a:solidFill>
                  <a:srgbClr val="2A2346"/>
                </a:solidFill>
                <a:latin typeface="Arial" pitchFamily="34" charset="0"/>
                <a:ea typeface="Arial" pitchFamily="34" charset="-122"/>
                <a:cs typeface="Arial" pitchFamily="34" charset="-120"/>
              </a:rPr>
              <a:t>HETEROSIM and SiMTraM</a:t>
            </a:r>
            <a:endParaRPr lang="en-US" sz="1350" dirty="0"/>
          </a:p>
          <a:p>
            <a:pPr indent="0" marL="0">
              <a:buNone/>
            </a:pPr>
            <a:r>
              <a:rPr lang="en-US" sz="1050" dirty="0">
                <a:solidFill>
                  <a:srgbClr val="5A5478"/>
                </a:solidFill>
                <a:latin typeface="Arial" pitchFamily="34" charset="0"/>
                <a:ea typeface="Arial" pitchFamily="34" charset="-122"/>
                <a:cs typeface="Arial" pitchFamily="34" charset="-120"/>
              </a:rPr>
              <a:t>IIT Madras, IIT Bombay</a:t>
            </a:r>
            <a:endParaRPr lang="en-US" sz="1350" dirty="0"/>
          </a:p>
        </p:txBody>
      </p:sp>
      <p:pic>
        <p:nvPicPr>
          <p:cNvPr id="8" name="arrow" descr="preencoded.png">    </p:cNvPr>
          <p:cNvPicPr>
            <a:picLocks noChangeAspect="1"/>
          </p:cNvPicPr>
          <p:nvPr/>
        </p:nvPicPr>
        <p:blipFill>
          <a:blip r:embed="rId2"/>
          <a:stretch>
            <a:fillRect/>
          </a:stretch>
        </p:blipFill>
        <p:spPr>
          <a:xfrm>
            <a:off x="5285232" y="2029968"/>
            <a:ext cx="292608" cy="292608"/>
          </a:xfrm>
          <a:prstGeom prst="rect">
            <a:avLst/>
          </a:prstGeom>
        </p:spPr>
      </p:pic>
      <p:pic>
        <p:nvPicPr>
          <p:cNvPr id="9" name="use pill" descr="preencoded.png">    </p:cNvPr>
          <p:cNvPicPr>
            <a:picLocks noChangeAspect="1"/>
          </p:cNvPicPr>
          <p:nvPr/>
        </p:nvPicPr>
        <p:blipFill>
          <a:blip r:embed="rId3"/>
          <a:stretch>
            <a:fillRect/>
          </a:stretch>
        </p:blipFill>
        <p:spPr>
          <a:xfrm>
            <a:off x="5513832" y="1536192"/>
            <a:ext cx="6419088" cy="1271016"/>
          </a:xfrm>
          <a:prstGeom prst="rect">
            <a:avLst/>
          </a:prstGeom>
        </p:spPr>
      </p:pic>
      <p:sp>
        <p:nvSpPr>
          <p:cNvPr id="10" name="Text 5"/>
          <p:cNvSpPr txBox="1"/>
          <p:nvPr/>
        </p:nvSpPr>
        <p:spPr>
          <a:xfrm>
            <a:off x="6035040" y="1874520"/>
            <a:ext cx="5440680" cy="594360"/>
          </a:xfrm>
          <a:prstGeom prst="rect">
            <a:avLst/>
          </a:prstGeom>
          <a:noFill/>
          <a:ln/>
        </p:spPr>
        <p:txBody>
          <a:bodyPr wrap="square" lIns="0" tIns="0" rIns="0" bIns="0" rtlCol="0" anchor="ctr"/>
          <a:lstStyle/>
          <a:p>
            <a:pPr indent="0" marL="0">
              <a:buNone/>
            </a:pPr>
            <a:r>
              <a:rPr lang="en-US" sz="1350" dirty="0">
                <a:solidFill>
                  <a:srgbClr val="2A2346"/>
                </a:solidFill>
                <a:latin typeface="Arial" pitchFamily="34" charset="0"/>
                <a:ea typeface="Arial" pitchFamily="34" charset="-122"/>
                <a:cs typeface="Arial" pitchFamily="34" charset="-120"/>
              </a:rPr>
              <a:t>Bikes and autos squeeze into gaps, like on real roads</a:t>
            </a:r>
            <a:endParaRPr lang="en-US" sz="1350" dirty="0"/>
          </a:p>
        </p:txBody>
      </p:sp>
      <p:pic>
        <p:nvPicPr>
          <p:cNvPr id="11" name="source pill" descr="preencoded.png">    </p:cNvPr>
          <p:cNvPicPr>
            <a:picLocks noChangeAspect="1"/>
          </p:cNvPicPr>
          <p:nvPr/>
        </p:nvPicPr>
        <p:blipFill>
          <a:blip r:embed="rId4"/>
          <a:stretch>
            <a:fillRect/>
          </a:stretch>
        </p:blipFill>
        <p:spPr>
          <a:xfrm>
            <a:off x="256032" y="2404872"/>
            <a:ext cx="5157216" cy="1271016"/>
          </a:xfrm>
          <a:prstGeom prst="rect">
            <a:avLst/>
          </a:prstGeom>
        </p:spPr>
      </p:pic>
      <p:sp>
        <p:nvSpPr>
          <p:cNvPr id="12" name="Text 6"/>
          <p:cNvSpPr txBox="1"/>
          <p:nvPr/>
        </p:nvSpPr>
        <p:spPr>
          <a:xfrm>
            <a:off x="777240" y="2770632"/>
            <a:ext cx="4206240" cy="576072"/>
          </a:xfrm>
          <a:prstGeom prst="rect">
            <a:avLst/>
          </a:prstGeom>
          <a:noFill/>
          <a:ln/>
        </p:spPr>
        <p:txBody>
          <a:bodyPr wrap="square" lIns="0" tIns="0" rIns="0" bIns="0" rtlCol="0" anchor="ctr"/>
          <a:lstStyle/>
          <a:p>
            <a:pPr indent="0" marL="0">
              <a:buNone/>
            </a:pPr>
            <a:r>
              <a:rPr lang="en-US" sz="1350" b="1" dirty="0">
                <a:solidFill>
                  <a:srgbClr val="2A2346"/>
                </a:solidFill>
                <a:latin typeface="Arial" pitchFamily="34" charset="0"/>
                <a:ea typeface="Arial" pitchFamily="34" charset="-122"/>
                <a:cs typeface="Arial" pitchFamily="34" charset="-120"/>
              </a:rPr>
              <a:t>Indo-HCM 2017 and IRC:106-1990</a:t>
            </a:r>
            <a:endParaRPr lang="en-US" sz="1350" dirty="0"/>
          </a:p>
          <a:p>
            <a:pPr indent="0" marL="0">
              <a:buNone/>
            </a:pPr>
            <a:r>
              <a:rPr lang="en-US" sz="1050" dirty="0">
                <a:solidFill>
                  <a:srgbClr val="5A5478"/>
                </a:solidFill>
                <a:latin typeface="Arial" pitchFamily="34" charset="0"/>
                <a:ea typeface="Arial" pitchFamily="34" charset="-122"/>
                <a:cs typeface="Arial" pitchFamily="34" charset="-120"/>
              </a:rPr>
              <a:t>CSIR-CRRI, Indian Roads Congress</a:t>
            </a:r>
            <a:endParaRPr lang="en-US" sz="1350" dirty="0"/>
          </a:p>
        </p:txBody>
      </p:sp>
      <p:pic>
        <p:nvPicPr>
          <p:cNvPr id="13" name="arrow" descr="preencoded.png">    </p:cNvPr>
          <p:cNvPicPr>
            <a:picLocks noChangeAspect="1"/>
          </p:cNvPicPr>
          <p:nvPr/>
        </p:nvPicPr>
        <p:blipFill>
          <a:blip r:embed="rId5"/>
          <a:stretch>
            <a:fillRect/>
          </a:stretch>
        </p:blipFill>
        <p:spPr>
          <a:xfrm>
            <a:off x="5285232" y="2898648"/>
            <a:ext cx="292608" cy="292608"/>
          </a:xfrm>
          <a:prstGeom prst="rect">
            <a:avLst/>
          </a:prstGeom>
        </p:spPr>
      </p:pic>
      <p:pic>
        <p:nvPicPr>
          <p:cNvPr id="14" name="use pill" descr="preencoded.png">    </p:cNvPr>
          <p:cNvPicPr>
            <a:picLocks noChangeAspect="1"/>
          </p:cNvPicPr>
          <p:nvPr/>
        </p:nvPicPr>
        <p:blipFill>
          <a:blip r:embed="rId6"/>
          <a:stretch>
            <a:fillRect/>
          </a:stretch>
        </p:blipFill>
        <p:spPr>
          <a:xfrm>
            <a:off x="5513832" y="2404872"/>
            <a:ext cx="6419088" cy="1271016"/>
          </a:xfrm>
          <a:prstGeom prst="rect">
            <a:avLst/>
          </a:prstGeom>
        </p:spPr>
      </p:pic>
      <p:sp>
        <p:nvSpPr>
          <p:cNvPr id="15" name="Text 7"/>
          <p:cNvSpPr txBox="1"/>
          <p:nvPr/>
        </p:nvSpPr>
        <p:spPr>
          <a:xfrm>
            <a:off x="6035040" y="2743200"/>
            <a:ext cx="5440680" cy="594360"/>
          </a:xfrm>
          <a:prstGeom prst="rect">
            <a:avLst/>
          </a:prstGeom>
          <a:noFill/>
          <a:ln/>
        </p:spPr>
        <p:txBody>
          <a:bodyPr wrap="square" lIns="0" tIns="0" rIns="0" bIns="0" rtlCol="0" anchor="ctr"/>
          <a:lstStyle/>
          <a:p>
            <a:pPr indent="0" marL="0">
              <a:buNone/>
            </a:pPr>
            <a:r>
              <a:rPr lang="en-US" sz="1350" dirty="0">
                <a:solidFill>
                  <a:srgbClr val="2A2346"/>
                </a:solidFill>
                <a:latin typeface="Arial" pitchFamily="34" charset="0"/>
                <a:ea typeface="Arial" pitchFamily="34" charset="-122"/>
                <a:cs typeface="Arial" pitchFamily="34" charset="-120"/>
              </a:rPr>
              <a:t>Vehicle sizes, speeds and gap timings, used exactly as published</a:t>
            </a:r>
            <a:endParaRPr lang="en-US" sz="1350" dirty="0"/>
          </a:p>
        </p:txBody>
      </p:sp>
      <p:pic>
        <p:nvPicPr>
          <p:cNvPr id="16" name="source pill" descr="preencoded.png">    </p:cNvPr>
          <p:cNvPicPr>
            <a:picLocks noChangeAspect="1"/>
          </p:cNvPicPr>
          <p:nvPr/>
        </p:nvPicPr>
        <p:blipFill>
          <a:blip r:embed="rId7"/>
          <a:stretch>
            <a:fillRect/>
          </a:stretch>
        </p:blipFill>
        <p:spPr>
          <a:xfrm>
            <a:off x="256032" y="3273552"/>
            <a:ext cx="5157216" cy="1271016"/>
          </a:xfrm>
          <a:prstGeom prst="rect">
            <a:avLst/>
          </a:prstGeom>
        </p:spPr>
      </p:pic>
      <p:sp>
        <p:nvSpPr>
          <p:cNvPr id="17" name="Text 8"/>
          <p:cNvSpPr txBox="1"/>
          <p:nvPr/>
        </p:nvSpPr>
        <p:spPr>
          <a:xfrm>
            <a:off x="777240" y="3639312"/>
            <a:ext cx="4206240" cy="576072"/>
          </a:xfrm>
          <a:prstGeom prst="rect">
            <a:avLst/>
          </a:prstGeom>
          <a:noFill/>
          <a:ln/>
        </p:spPr>
        <p:txBody>
          <a:bodyPr wrap="square" lIns="0" tIns="0" rIns="0" bIns="0" rtlCol="0" anchor="ctr"/>
          <a:lstStyle/>
          <a:p>
            <a:pPr indent="0" marL="0">
              <a:buNone/>
            </a:pPr>
            <a:r>
              <a:rPr lang="en-US" sz="1350" b="1" dirty="0">
                <a:solidFill>
                  <a:srgbClr val="2A2346"/>
                </a:solidFill>
                <a:latin typeface="Arial" pitchFamily="34" charset="0"/>
                <a:ea typeface="Arial" pitchFamily="34" charset="-122"/>
                <a:cs typeface="Arial" pitchFamily="34" charset="-120"/>
              </a:rPr>
              <a:t>Calibrating SUMO for Indian traffic</a:t>
            </a:r>
            <a:endParaRPr lang="en-US" sz="1350" dirty="0"/>
          </a:p>
          <a:p>
            <a:pPr indent="0" marL="0">
              <a:buNone/>
            </a:pPr>
            <a:r>
              <a:rPr lang="en-US" sz="1050" dirty="0">
                <a:solidFill>
                  <a:srgbClr val="5A5478"/>
                </a:solidFill>
                <a:latin typeface="Arial" pitchFamily="34" charset="0"/>
                <a:ea typeface="Arial" pitchFamily="34" charset="-122"/>
                <a:cs typeface="Arial" pitchFamily="34" charset="-120"/>
              </a:rPr>
              <a:t>IIT Madras</a:t>
            </a:r>
            <a:endParaRPr lang="en-US" sz="1350" dirty="0"/>
          </a:p>
        </p:txBody>
      </p:sp>
      <p:pic>
        <p:nvPicPr>
          <p:cNvPr id="18" name="arrow" descr="preencoded.png">    </p:cNvPr>
          <p:cNvPicPr>
            <a:picLocks noChangeAspect="1"/>
          </p:cNvPicPr>
          <p:nvPr/>
        </p:nvPicPr>
        <p:blipFill>
          <a:blip r:embed="rId8"/>
          <a:stretch>
            <a:fillRect/>
          </a:stretch>
        </p:blipFill>
        <p:spPr>
          <a:xfrm>
            <a:off x="5285232" y="3767328"/>
            <a:ext cx="292608" cy="292608"/>
          </a:xfrm>
          <a:prstGeom prst="rect">
            <a:avLst/>
          </a:prstGeom>
        </p:spPr>
      </p:pic>
      <p:pic>
        <p:nvPicPr>
          <p:cNvPr id="19" name="use pill" descr="preencoded.png">    </p:cNvPr>
          <p:cNvPicPr>
            <a:picLocks noChangeAspect="1"/>
          </p:cNvPicPr>
          <p:nvPr/>
        </p:nvPicPr>
        <p:blipFill>
          <a:blip r:embed="rId9"/>
          <a:stretch>
            <a:fillRect/>
          </a:stretch>
        </p:blipFill>
        <p:spPr>
          <a:xfrm>
            <a:off x="5513832" y="3273552"/>
            <a:ext cx="6419088" cy="1271016"/>
          </a:xfrm>
          <a:prstGeom prst="rect">
            <a:avLst/>
          </a:prstGeom>
        </p:spPr>
      </p:pic>
      <p:sp>
        <p:nvSpPr>
          <p:cNvPr id="20" name="Text 9"/>
          <p:cNvSpPr txBox="1"/>
          <p:nvPr/>
        </p:nvSpPr>
        <p:spPr>
          <a:xfrm>
            <a:off x="6035040" y="3611880"/>
            <a:ext cx="5440680" cy="594360"/>
          </a:xfrm>
          <a:prstGeom prst="rect">
            <a:avLst/>
          </a:prstGeom>
          <a:noFill/>
          <a:ln/>
        </p:spPr>
        <p:txBody>
          <a:bodyPr wrap="square" lIns="0" tIns="0" rIns="0" bIns="0" rtlCol="0" anchor="ctr"/>
          <a:lstStyle/>
          <a:p>
            <a:pPr indent="0" marL="0">
              <a:buNone/>
            </a:pPr>
            <a:r>
              <a:rPr lang="en-US" sz="1350" dirty="0">
                <a:solidFill>
                  <a:srgbClr val="2A2346"/>
                </a:solidFill>
                <a:latin typeface="Arial" pitchFamily="34" charset="0"/>
                <a:ea typeface="Arial" pitchFamily="34" charset="-122"/>
                <a:cs typeface="Arial" pitchFamily="34" charset="-120"/>
              </a:rPr>
              <a:t>Tune using real data, and only change what the data can support</a:t>
            </a:r>
            <a:endParaRPr lang="en-US" sz="1350" dirty="0"/>
          </a:p>
        </p:txBody>
      </p:sp>
      <p:pic>
        <p:nvPicPr>
          <p:cNvPr id="21" name="source pill" descr="preencoded.png">    </p:cNvPr>
          <p:cNvPicPr>
            <a:picLocks noChangeAspect="1"/>
          </p:cNvPicPr>
          <p:nvPr/>
        </p:nvPicPr>
        <p:blipFill>
          <a:blip r:embed="rId10"/>
          <a:stretch>
            <a:fillRect/>
          </a:stretch>
        </p:blipFill>
        <p:spPr>
          <a:xfrm>
            <a:off x="256032" y="4142232"/>
            <a:ext cx="5157216" cy="1271016"/>
          </a:xfrm>
          <a:prstGeom prst="rect">
            <a:avLst/>
          </a:prstGeom>
        </p:spPr>
      </p:pic>
      <p:sp>
        <p:nvSpPr>
          <p:cNvPr id="22" name="Text 10"/>
          <p:cNvSpPr txBox="1"/>
          <p:nvPr/>
        </p:nvSpPr>
        <p:spPr>
          <a:xfrm>
            <a:off x="777240" y="4507992"/>
            <a:ext cx="4206240" cy="576072"/>
          </a:xfrm>
          <a:prstGeom prst="rect">
            <a:avLst/>
          </a:prstGeom>
          <a:noFill/>
          <a:ln/>
        </p:spPr>
        <p:txBody>
          <a:bodyPr wrap="square" lIns="0" tIns="0" rIns="0" bIns="0" rtlCol="0" anchor="ctr"/>
          <a:lstStyle/>
          <a:p>
            <a:pPr indent="0" marL="0">
              <a:buNone/>
            </a:pPr>
            <a:r>
              <a:rPr lang="en-US" sz="1350" b="1" dirty="0">
                <a:solidFill>
                  <a:srgbClr val="2A2346"/>
                </a:solidFill>
                <a:latin typeface="Arial" pitchFamily="34" charset="0"/>
                <a:ea typeface="Arial" pitchFamily="34" charset="-122"/>
                <a:cs typeface="Arial" pitchFamily="34" charset="-120"/>
              </a:rPr>
              <a:t>TomTom and Google travel times</a:t>
            </a:r>
            <a:endParaRPr lang="en-US" sz="1350" dirty="0"/>
          </a:p>
          <a:p>
            <a:pPr indent="0" marL="0">
              <a:buNone/>
            </a:pPr>
            <a:r>
              <a:rPr lang="en-US" sz="1050" dirty="0">
                <a:solidFill>
                  <a:srgbClr val="5A5478"/>
                </a:solidFill>
                <a:latin typeface="Arial" pitchFamily="34" charset="0"/>
                <a:ea typeface="Arial" pitchFamily="34" charset="-122"/>
                <a:cs typeface="Arial" pitchFamily="34" charset="-120"/>
              </a:rPr>
              <a:t>Industry data</a:t>
            </a:r>
            <a:endParaRPr lang="en-US" sz="1350" dirty="0"/>
          </a:p>
        </p:txBody>
      </p:sp>
      <p:pic>
        <p:nvPicPr>
          <p:cNvPr id="23" name="arrow" descr="preencoded.png">    </p:cNvPr>
          <p:cNvPicPr>
            <a:picLocks noChangeAspect="1"/>
          </p:cNvPicPr>
          <p:nvPr/>
        </p:nvPicPr>
        <p:blipFill>
          <a:blip r:embed="rId11"/>
          <a:stretch>
            <a:fillRect/>
          </a:stretch>
        </p:blipFill>
        <p:spPr>
          <a:xfrm>
            <a:off x="5285232" y="4636008"/>
            <a:ext cx="292608" cy="292608"/>
          </a:xfrm>
          <a:prstGeom prst="rect">
            <a:avLst/>
          </a:prstGeom>
        </p:spPr>
      </p:pic>
      <p:pic>
        <p:nvPicPr>
          <p:cNvPr id="24" name="use pill" descr="preencoded.png">    </p:cNvPr>
          <p:cNvPicPr>
            <a:picLocks noChangeAspect="1"/>
          </p:cNvPicPr>
          <p:nvPr/>
        </p:nvPicPr>
        <p:blipFill>
          <a:blip r:embed="rId12"/>
          <a:stretch>
            <a:fillRect/>
          </a:stretch>
        </p:blipFill>
        <p:spPr>
          <a:xfrm>
            <a:off x="5513832" y="4142232"/>
            <a:ext cx="6419088" cy="1271016"/>
          </a:xfrm>
          <a:prstGeom prst="rect">
            <a:avLst/>
          </a:prstGeom>
        </p:spPr>
      </p:pic>
      <p:sp>
        <p:nvSpPr>
          <p:cNvPr id="25" name="Text 11"/>
          <p:cNvSpPr txBox="1"/>
          <p:nvPr/>
        </p:nvSpPr>
        <p:spPr>
          <a:xfrm>
            <a:off x="6035040" y="4480560"/>
            <a:ext cx="5440680" cy="594360"/>
          </a:xfrm>
          <a:prstGeom prst="rect">
            <a:avLst/>
          </a:prstGeom>
          <a:noFill/>
          <a:ln/>
        </p:spPr>
        <p:txBody>
          <a:bodyPr wrap="square" lIns="0" tIns="0" rIns="0" bIns="0" rtlCol="0" anchor="ctr"/>
          <a:lstStyle/>
          <a:p>
            <a:pPr indent="0" marL="0">
              <a:buNone/>
            </a:pPr>
            <a:r>
              <a:rPr lang="en-US" sz="1350" dirty="0">
                <a:solidFill>
                  <a:srgbClr val="2A2346"/>
                </a:solidFill>
                <a:latin typeface="Arial" pitchFamily="34" charset="0"/>
                <a:ea typeface="Arial" pitchFamily="34" charset="-122"/>
                <a:cs typeface="Arial" pitchFamily="34" charset="-120"/>
              </a:rPr>
              <a:t>Used as the answer sheet to check our model</a:t>
            </a:r>
            <a:endParaRPr lang="en-US" sz="1350" dirty="0"/>
          </a:p>
        </p:txBody>
      </p:sp>
      <p:pic>
        <p:nvPicPr>
          <p:cNvPr id="26" name="source pill" descr="preencoded.png">    </p:cNvPr>
          <p:cNvPicPr>
            <a:picLocks noChangeAspect="1"/>
          </p:cNvPicPr>
          <p:nvPr/>
        </p:nvPicPr>
        <p:blipFill>
          <a:blip r:embed="rId13"/>
          <a:stretch>
            <a:fillRect/>
          </a:stretch>
        </p:blipFill>
        <p:spPr>
          <a:xfrm>
            <a:off x="256032" y="5010912"/>
            <a:ext cx="5157216" cy="1271016"/>
          </a:xfrm>
          <a:prstGeom prst="rect">
            <a:avLst/>
          </a:prstGeom>
        </p:spPr>
      </p:pic>
      <p:sp>
        <p:nvSpPr>
          <p:cNvPr id="27" name="Text 12"/>
          <p:cNvSpPr txBox="1"/>
          <p:nvPr/>
        </p:nvSpPr>
        <p:spPr>
          <a:xfrm>
            <a:off x="777240" y="5376672"/>
            <a:ext cx="4206240" cy="576072"/>
          </a:xfrm>
          <a:prstGeom prst="rect">
            <a:avLst/>
          </a:prstGeom>
          <a:noFill/>
          <a:ln/>
        </p:spPr>
        <p:txBody>
          <a:bodyPr wrap="square" lIns="0" tIns="0" rIns="0" bIns="0" rtlCol="0" anchor="ctr"/>
          <a:lstStyle/>
          <a:p>
            <a:pPr indent="0" marL="0">
              <a:buNone/>
            </a:pPr>
            <a:r>
              <a:rPr lang="en-US" sz="1350" b="1" dirty="0">
                <a:solidFill>
                  <a:srgbClr val="2A2346"/>
                </a:solidFill>
                <a:latin typeface="Arial" pitchFamily="34" charset="0"/>
                <a:ea typeface="Arial" pitchFamily="34" charset="-122"/>
                <a:cs typeface="Arial" pitchFamily="34" charset="-120"/>
              </a:rPr>
              <a:t>Rolling Out Electric Buses</a:t>
            </a:r>
            <a:endParaRPr lang="en-US" sz="1350" dirty="0"/>
          </a:p>
          <a:p>
            <a:pPr indent="0" marL="0">
              <a:buNone/>
            </a:pPr>
            <a:r>
              <a:rPr lang="en-US" sz="1050" dirty="0">
                <a:solidFill>
                  <a:srgbClr val="5A5478"/>
                </a:solidFill>
                <a:latin typeface="Arial" pitchFamily="34" charset="0"/>
                <a:ea typeface="Arial" pitchFamily="34" charset="-122"/>
                <a:cs typeface="Arial" pitchFamily="34" charset="-120"/>
              </a:rPr>
              <a:t>WRI India</a:t>
            </a:r>
            <a:endParaRPr lang="en-US" sz="1350" dirty="0"/>
          </a:p>
        </p:txBody>
      </p:sp>
      <p:pic>
        <p:nvPicPr>
          <p:cNvPr id="28" name="arrow" descr="preencoded.png">    </p:cNvPr>
          <p:cNvPicPr>
            <a:picLocks noChangeAspect="1"/>
          </p:cNvPicPr>
          <p:nvPr/>
        </p:nvPicPr>
        <p:blipFill>
          <a:blip r:embed="rId14"/>
          <a:stretch>
            <a:fillRect/>
          </a:stretch>
        </p:blipFill>
        <p:spPr>
          <a:xfrm>
            <a:off x="5285232" y="5504688"/>
            <a:ext cx="292608" cy="292608"/>
          </a:xfrm>
          <a:prstGeom prst="rect">
            <a:avLst/>
          </a:prstGeom>
        </p:spPr>
      </p:pic>
      <p:pic>
        <p:nvPicPr>
          <p:cNvPr id="29" name="use pill" descr="preencoded.png">    </p:cNvPr>
          <p:cNvPicPr>
            <a:picLocks noChangeAspect="1"/>
          </p:cNvPicPr>
          <p:nvPr/>
        </p:nvPicPr>
        <p:blipFill>
          <a:blip r:embed="rId15"/>
          <a:stretch>
            <a:fillRect/>
          </a:stretch>
        </p:blipFill>
        <p:spPr>
          <a:xfrm>
            <a:off x="5513832" y="5010912"/>
            <a:ext cx="6419088" cy="1271016"/>
          </a:xfrm>
          <a:prstGeom prst="rect">
            <a:avLst/>
          </a:prstGeom>
        </p:spPr>
      </p:pic>
      <p:sp>
        <p:nvSpPr>
          <p:cNvPr id="30" name="Text 13"/>
          <p:cNvSpPr txBox="1"/>
          <p:nvPr/>
        </p:nvSpPr>
        <p:spPr>
          <a:xfrm>
            <a:off x="6035040" y="5349240"/>
            <a:ext cx="5440680" cy="594360"/>
          </a:xfrm>
          <a:prstGeom prst="rect">
            <a:avLst/>
          </a:prstGeom>
          <a:noFill/>
          <a:ln/>
        </p:spPr>
        <p:txBody>
          <a:bodyPr wrap="square" lIns="0" tIns="0" rIns="0" bIns="0" rtlCol="0" anchor="ctr"/>
          <a:lstStyle/>
          <a:p>
            <a:pPr indent="0" marL="0">
              <a:buNone/>
            </a:pPr>
            <a:r>
              <a:rPr lang="en-US" sz="1350" dirty="0">
                <a:solidFill>
                  <a:srgbClr val="2A2346"/>
                </a:solidFill>
                <a:latin typeface="Arial" pitchFamily="34" charset="0"/>
                <a:ea typeface="Arial" pitchFamily="34" charset="-122"/>
                <a:cs typeface="Arial" pitchFamily="34" charset="-120"/>
              </a:rPr>
              <a:t>The real questions BMTC asks before putting e-buses on a route</a:t>
            </a:r>
            <a:endParaRPr lang="en-US" sz="135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WHO IT'S FOR</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Who will actually use this?</a:t>
            </a:r>
            <a:endParaRPr lang="en-US" sz="3200" dirty="0"/>
          </a:p>
        </p:txBody>
      </p:sp>
      <p:pic>
        <p:nvPicPr>
          <p:cNvPr id="4" name="user card" descr="preencoded.png">    </p:cNvPr>
          <p:cNvPicPr>
            <a:picLocks noChangeAspect="1"/>
          </p:cNvPicPr>
          <p:nvPr/>
        </p:nvPicPr>
        <p:blipFill>
          <a:blip r:embed="rId1"/>
          <a:stretch>
            <a:fillRect/>
          </a:stretch>
        </p:blipFill>
        <p:spPr>
          <a:xfrm>
            <a:off x="256032" y="1399032"/>
            <a:ext cx="4105656" cy="4288536"/>
          </a:xfrm>
          <a:prstGeom prst="rect">
            <a:avLst/>
          </a:prstGeom>
        </p:spPr>
      </p:pic>
      <p:pic>
        <p:nvPicPr>
          <p:cNvPr id="5" name="icon blob" descr="preencoded.png">    </p:cNvPr>
          <p:cNvPicPr>
            <a:picLocks noChangeAspect="1"/>
          </p:cNvPicPr>
          <p:nvPr/>
        </p:nvPicPr>
        <p:blipFill>
          <a:blip r:embed="rId2"/>
          <a:stretch>
            <a:fillRect/>
          </a:stretch>
        </p:blipFill>
        <p:spPr>
          <a:xfrm>
            <a:off x="530352" y="1673352"/>
            <a:ext cx="1362456" cy="1362456"/>
          </a:xfrm>
          <a:prstGeom prst="rect">
            <a:avLst/>
          </a:prstGeom>
        </p:spPr>
      </p:pic>
      <p:pic>
        <p:nvPicPr>
          <p:cNvPr id="6" name="icon FaBus" descr="preencoded.png">    </p:cNvPr>
          <p:cNvPicPr>
            <a:picLocks noChangeAspect="1"/>
          </p:cNvPicPr>
          <p:nvPr/>
        </p:nvPicPr>
        <p:blipFill>
          <a:blip r:embed="rId3"/>
          <a:stretch>
            <a:fillRect/>
          </a:stretch>
        </p:blipFill>
        <p:spPr>
          <a:xfrm>
            <a:off x="1017270" y="2160270"/>
            <a:ext cx="388620" cy="388620"/>
          </a:xfrm>
          <a:prstGeom prst="rect">
            <a:avLst/>
          </a:prstGeom>
        </p:spPr>
      </p:pic>
      <p:sp>
        <p:nvSpPr>
          <p:cNvPr id="7" name="Text 2"/>
          <p:cNvSpPr txBox="1"/>
          <p:nvPr/>
        </p:nvSpPr>
        <p:spPr>
          <a:xfrm>
            <a:off x="1783080" y="2011680"/>
            <a:ext cx="2057400" cy="777240"/>
          </a:xfrm>
          <a:prstGeom prst="rect">
            <a:avLst/>
          </a:prstGeom>
          <a:noFill/>
          <a:ln/>
        </p:spPr>
        <p:txBody>
          <a:bodyPr wrap="square" lIns="0" tIns="0" rIns="0" bIns="0" rtlCol="0" anchor="t"/>
          <a:lstStyle/>
          <a:p>
            <a:pPr indent="0" marL="0">
              <a:buNone/>
            </a:pPr>
            <a:r>
              <a:rPr lang="en-US" sz="2100" b="1" dirty="0">
                <a:solidFill>
                  <a:srgbClr val="2A2346"/>
                </a:solidFill>
                <a:latin typeface="Arial" pitchFamily="34" charset="0"/>
                <a:ea typeface="Arial" pitchFamily="34" charset="-122"/>
                <a:cs typeface="Arial" pitchFamily="34" charset="-120"/>
              </a:rPr>
              <a:t>BMTC</a:t>
            </a:r>
            <a:endParaRPr lang="en-US" sz="2100" dirty="0"/>
          </a:p>
          <a:p>
            <a:pPr indent="0" marL="0">
              <a:buNone/>
            </a:pPr>
            <a:r>
              <a:rPr lang="en-US" sz="1150" dirty="0">
                <a:solidFill>
                  <a:srgbClr val="5A5478"/>
                </a:solidFill>
                <a:latin typeface="Arial" pitchFamily="34" charset="0"/>
                <a:ea typeface="Arial" pitchFamily="34" charset="-122"/>
                <a:cs typeface="Arial" pitchFamily="34" charset="-120"/>
              </a:rPr>
              <a:t>Bus planning team</a:t>
            </a:r>
            <a:endParaRPr lang="en-US" sz="2100" dirty="0"/>
          </a:p>
        </p:txBody>
      </p:sp>
      <p:sp>
        <p:nvSpPr>
          <p:cNvPr id="8" name="Text 3"/>
          <p:cNvSpPr txBox="1"/>
          <p:nvPr/>
        </p:nvSpPr>
        <p:spPr>
          <a:xfrm>
            <a:off x="822960" y="2971800"/>
            <a:ext cx="2971800" cy="1417320"/>
          </a:xfrm>
          <a:prstGeom prst="rect">
            <a:avLst/>
          </a:prstGeom>
          <a:noFill/>
          <a:ln/>
        </p:spPr>
        <p:txBody>
          <a:bodyPr wrap="square" lIns="0" tIns="0" rIns="0" bIns="0" rtlCol="0" anchor="t"/>
          <a:lstStyle/>
          <a:p>
            <a:pPr indent="0" marL="0">
              <a:buNone/>
            </a:pPr>
            <a:r>
              <a:rPr lang="en-US" sz="1500" b="1" i="1" dirty="0">
                <a:solidFill>
                  <a:srgbClr val="2A2346"/>
                </a:solidFill>
                <a:latin typeface="Arial" pitchFamily="34" charset="0"/>
                <a:ea typeface="Arial" pitchFamily="34" charset="-122"/>
                <a:cs typeface="Arial" pitchFamily="34" charset="-120"/>
              </a:rPr>
              <a:t>“Where to put 4,500 new buses? Which routes, stops and depots will choke first?”</a:t>
            </a:r>
            <a:endParaRPr lang="en-US" sz="1500" dirty="0"/>
          </a:p>
        </p:txBody>
      </p:sp>
      <p:sp>
        <p:nvSpPr>
          <p:cNvPr id="9" name="Text 4"/>
          <p:cNvSpPr txBox="1"/>
          <p:nvPr/>
        </p:nvSpPr>
        <p:spPr>
          <a:xfrm>
            <a:off x="822960" y="4434840"/>
            <a:ext cx="2971800" cy="822960"/>
          </a:xfrm>
          <a:prstGeom prst="rect">
            <a:avLst/>
          </a:prstGeom>
          <a:noFill/>
          <a:ln/>
        </p:spPr>
        <p:txBody>
          <a:bodyPr wrap="square" lIns="0" tIns="0" rIns="0" bIns="0" rtlCol="0" anchor="t"/>
          <a:lstStyle/>
          <a:p>
            <a:pPr indent="0" marL="0">
              <a:buNone/>
            </a:pPr>
            <a:r>
              <a:rPr lang="en-US" sz="1150" dirty="0">
                <a:solidFill>
                  <a:srgbClr val="5A5478"/>
                </a:solidFill>
                <a:latin typeface="Arial" pitchFamily="34" charset="0"/>
                <a:ea typeface="Arial" pitchFamily="34" charset="-122"/>
                <a:cs typeface="Arial" pitchFamily="34" charset="-120"/>
              </a:rPr>
              <a:t>Today: experience and Excel sheets</a:t>
            </a:r>
            <a:endParaRPr lang="en-US" sz="1150" dirty="0"/>
          </a:p>
        </p:txBody>
      </p:sp>
      <p:pic>
        <p:nvPicPr>
          <p:cNvPr id="10" name="user card" descr="preencoded.png">    </p:cNvPr>
          <p:cNvPicPr>
            <a:picLocks noChangeAspect="1"/>
          </p:cNvPicPr>
          <p:nvPr/>
        </p:nvPicPr>
        <p:blipFill>
          <a:blip r:embed="rId4"/>
          <a:stretch>
            <a:fillRect/>
          </a:stretch>
        </p:blipFill>
        <p:spPr>
          <a:xfrm>
            <a:off x="4041648" y="1399032"/>
            <a:ext cx="4105656" cy="4288536"/>
          </a:xfrm>
          <a:prstGeom prst="rect">
            <a:avLst/>
          </a:prstGeom>
        </p:spPr>
      </p:pic>
      <p:pic>
        <p:nvPicPr>
          <p:cNvPr id="11" name="icon blob" descr="preencoded.png">    </p:cNvPr>
          <p:cNvPicPr>
            <a:picLocks noChangeAspect="1"/>
          </p:cNvPicPr>
          <p:nvPr/>
        </p:nvPicPr>
        <p:blipFill>
          <a:blip r:embed="rId5"/>
          <a:stretch>
            <a:fillRect/>
          </a:stretch>
        </p:blipFill>
        <p:spPr>
          <a:xfrm>
            <a:off x="4315968" y="1673352"/>
            <a:ext cx="1362456" cy="1362456"/>
          </a:xfrm>
          <a:prstGeom prst="rect">
            <a:avLst/>
          </a:prstGeom>
        </p:spPr>
      </p:pic>
      <p:pic>
        <p:nvPicPr>
          <p:cNvPr id="12" name="icon FaUserShield" descr="preencoded.png">    </p:cNvPr>
          <p:cNvPicPr>
            <a:picLocks noChangeAspect="1"/>
          </p:cNvPicPr>
          <p:nvPr/>
        </p:nvPicPr>
        <p:blipFill>
          <a:blip r:embed="rId6"/>
          <a:stretch>
            <a:fillRect/>
          </a:stretch>
        </p:blipFill>
        <p:spPr>
          <a:xfrm>
            <a:off x="4802886" y="2160270"/>
            <a:ext cx="388620" cy="388620"/>
          </a:xfrm>
          <a:prstGeom prst="rect">
            <a:avLst/>
          </a:prstGeom>
        </p:spPr>
      </p:pic>
      <p:sp>
        <p:nvSpPr>
          <p:cNvPr id="13" name="Text 5"/>
          <p:cNvSpPr txBox="1"/>
          <p:nvPr/>
        </p:nvSpPr>
        <p:spPr>
          <a:xfrm>
            <a:off x="5568696" y="2011680"/>
            <a:ext cx="2057400" cy="777240"/>
          </a:xfrm>
          <a:prstGeom prst="rect">
            <a:avLst/>
          </a:prstGeom>
          <a:noFill/>
          <a:ln/>
        </p:spPr>
        <p:txBody>
          <a:bodyPr wrap="square" lIns="0" tIns="0" rIns="0" bIns="0" rtlCol="0" anchor="t"/>
          <a:lstStyle/>
          <a:p>
            <a:pPr indent="0" marL="0">
              <a:buNone/>
            </a:pPr>
            <a:r>
              <a:rPr lang="en-US" sz="2100" b="1" dirty="0">
                <a:solidFill>
                  <a:srgbClr val="2A2346"/>
                </a:solidFill>
                <a:latin typeface="Arial" pitchFamily="34" charset="0"/>
                <a:ea typeface="Arial" pitchFamily="34" charset="-122"/>
                <a:cs typeface="Arial" pitchFamily="34" charset="-120"/>
              </a:rPr>
              <a:t>Traffic Police</a:t>
            </a:r>
            <a:endParaRPr lang="en-US" sz="2100" dirty="0"/>
          </a:p>
          <a:p>
            <a:pPr indent="0" marL="0">
              <a:buNone/>
            </a:pPr>
            <a:r>
              <a:rPr lang="en-US" sz="1150" dirty="0">
                <a:solidFill>
                  <a:srgbClr val="5A5478"/>
                </a:solidFill>
                <a:latin typeface="Arial" pitchFamily="34" charset="0"/>
                <a:ea typeface="Arial" pitchFamily="34" charset="-122"/>
                <a:cs typeface="Arial" pitchFamily="34" charset="-120"/>
              </a:rPr>
              <a:t>Signals and diversions</a:t>
            </a:r>
            <a:endParaRPr lang="en-US" sz="2100" dirty="0"/>
          </a:p>
        </p:txBody>
      </p:sp>
      <p:sp>
        <p:nvSpPr>
          <p:cNvPr id="14" name="Text 6"/>
          <p:cNvSpPr txBox="1"/>
          <p:nvPr/>
        </p:nvSpPr>
        <p:spPr>
          <a:xfrm>
            <a:off x="4608576" y="2971800"/>
            <a:ext cx="2971800" cy="1417320"/>
          </a:xfrm>
          <a:prstGeom prst="rect">
            <a:avLst/>
          </a:prstGeom>
          <a:noFill/>
          <a:ln/>
        </p:spPr>
        <p:txBody>
          <a:bodyPr wrap="square" lIns="0" tIns="0" rIns="0" bIns="0" rtlCol="0" anchor="t"/>
          <a:lstStyle/>
          <a:p>
            <a:pPr indent="0" marL="0">
              <a:buNone/>
            </a:pPr>
            <a:r>
              <a:rPr lang="en-US" sz="1500" b="1" i="1" dirty="0">
                <a:solidFill>
                  <a:srgbClr val="2A2346"/>
                </a:solidFill>
                <a:latin typeface="Arial" pitchFamily="34" charset="0"/>
                <a:ea typeface="Arial" pitchFamily="34" charset="-122"/>
                <a:cs typeface="Arial" pitchFamily="34" charset="-120"/>
              </a:rPr>
              <a:t>“If buses get priority at Silk Board, how long will the Hosur Road queue become?”</a:t>
            </a:r>
            <a:endParaRPr lang="en-US" sz="1500" dirty="0"/>
          </a:p>
        </p:txBody>
      </p:sp>
      <p:sp>
        <p:nvSpPr>
          <p:cNvPr id="15" name="Text 7"/>
          <p:cNvSpPr txBox="1"/>
          <p:nvPr/>
        </p:nvSpPr>
        <p:spPr>
          <a:xfrm>
            <a:off x="4608576" y="4434840"/>
            <a:ext cx="2971800" cy="822960"/>
          </a:xfrm>
          <a:prstGeom prst="rect">
            <a:avLst/>
          </a:prstGeom>
          <a:noFill/>
          <a:ln/>
        </p:spPr>
        <p:txBody>
          <a:bodyPr wrap="square" lIns="0" tIns="0" rIns="0" bIns="0" rtlCol="0" anchor="t"/>
          <a:lstStyle/>
          <a:p>
            <a:pPr indent="0" marL="0">
              <a:buNone/>
            </a:pPr>
            <a:r>
              <a:rPr lang="en-US" sz="1150" dirty="0">
                <a:solidFill>
                  <a:srgbClr val="5A5478"/>
                </a:solidFill>
                <a:latin typeface="Arial" pitchFamily="34" charset="0"/>
                <a:ea typeface="Arial" pitchFamily="34" charset="-122"/>
                <a:cs typeface="Arial" pitchFamily="34" charset="-120"/>
              </a:rPr>
              <a:t>Today: try it on the real road. They've also tendered a ₹1 crore digital twin.</a:t>
            </a:r>
            <a:endParaRPr lang="en-US" sz="1150" dirty="0"/>
          </a:p>
        </p:txBody>
      </p:sp>
      <p:pic>
        <p:nvPicPr>
          <p:cNvPr id="16" name="user card" descr="preencoded.png">    </p:cNvPr>
          <p:cNvPicPr>
            <a:picLocks noChangeAspect="1"/>
          </p:cNvPicPr>
          <p:nvPr/>
        </p:nvPicPr>
        <p:blipFill>
          <a:blip r:embed="rId7"/>
          <a:stretch>
            <a:fillRect/>
          </a:stretch>
        </p:blipFill>
        <p:spPr>
          <a:xfrm>
            <a:off x="7827264" y="1399032"/>
            <a:ext cx="4105656" cy="4288536"/>
          </a:xfrm>
          <a:prstGeom prst="rect">
            <a:avLst/>
          </a:prstGeom>
        </p:spPr>
      </p:pic>
      <p:pic>
        <p:nvPicPr>
          <p:cNvPr id="17" name="icon blob" descr="preencoded.png">    </p:cNvPr>
          <p:cNvPicPr>
            <a:picLocks noChangeAspect="1"/>
          </p:cNvPicPr>
          <p:nvPr/>
        </p:nvPicPr>
        <p:blipFill>
          <a:blip r:embed="rId8"/>
          <a:stretch>
            <a:fillRect/>
          </a:stretch>
        </p:blipFill>
        <p:spPr>
          <a:xfrm>
            <a:off x="8101584" y="1673352"/>
            <a:ext cx="1362456" cy="1362456"/>
          </a:xfrm>
          <a:prstGeom prst="rect">
            <a:avLst/>
          </a:prstGeom>
        </p:spPr>
      </p:pic>
      <p:pic>
        <p:nvPicPr>
          <p:cNvPr id="18" name="icon FaLandmark" descr="preencoded.png">    </p:cNvPr>
          <p:cNvPicPr>
            <a:picLocks noChangeAspect="1"/>
          </p:cNvPicPr>
          <p:nvPr/>
        </p:nvPicPr>
        <p:blipFill>
          <a:blip r:embed="rId9"/>
          <a:stretch>
            <a:fillRect/>
          </a:stretch>
        </p:blipFill>
        <p:spPr>
          <a:xfrm>
            <a:off x="8588502" y="2160270"/>
            <a:ext cx="388620" cy="388620"/>
          </a:xfrm>
          <a:prstGeom prst="rect">
            <a:avLst/>
          </a:prstGeom>
        </p:spPr>
      </p:pic>
      <p:sp>
        <p:nvSpPr>
          <p:cNvPr id="19" name="Text 8"/>
          <p:cNvSpPr txBox="1"/>
          <p:nvPr/>
        </p:nvSpPr>
        <p:spPr>
          <a:xfrm>
            <a:off x="9354312" y="2011680"/>
            <a:ext cx="2057400" cy="777240"/>
          </a:xfrm>
          <a:prstGeom prst="rect">
            <a:avLst/>
          </a:prstGeom>
          <a:noFill/>
          <a:ln/>
        </p:spPr>
        <p:txBody>
          <a:bodyPr wrap="square" lIns="0" tIns="0" rIns="0" bIns="0" rtlCol="0" anchor="t"/>
          <a:lstStyle/>
          <a:p>
            <a:pPr indent="0" marL="0">
              <a:buNone/>
            </a:pPr>
            <a:r>
              <a:rPr lang="en-US" sz="2100" b="1" dirty="0">
                <a:solidFill>
                  <a:srgbClr val="2A2346"/>
                </a:solidFill>
                <a:latin typeface="Arial" pitchFamily="34" charset="0"/>
                <a:ea typeface="Arial" pitchFamily="34" charset="-122"/>
                <a:cs typeface="Arial" pitchFamily="34" charset="-120"/>
              </a:rPr>
              <a:t>BMLTA</a:t>
            </a:r>
            <a:endParaRPr lang="en-US" sz="2100" dirty="0"/>
          </a:p>
          <a:p>
            <a:pPr indent="0" marL="0">
              <a:buNone/>
            </a:pPr>
            <a:r>
              <a:rPr lang="en-US" sz="1150" dirty="0">
                <a:solidFill>
                  <a:srgbClr val="5A5478"/>
                </a:solidFill>
                <a:latin typeface="Arial" pitchFamily="34" charset="0"/>
                <a:ea typeface="Arial" pitchFamily="34" charset="-122"/>
                <a:cs typeface="Arial" pitchFamily="34" charset="-120"/>
              </a:rPr>
              <a:t>Approves big transport projects</a:t>
            </a:r>
            <a:endParaRPr lang="en-US" sz="2100" dirty="0"/>
          </a:p>
        </p:txBody>
      </p:sp>
      <p:sp>
        <p:nvSpPr>
          <p:cNvPr id="20" name="Text 9"/>
          <p:cNvSpPr txBox="1"/>
          <p:nvPr/>
        </p:nvSpPr>
        <p:spPr>
          <a:xfrm>
            <a:off x="8394192" y="2971800"/>
            <a:ext cx="2971800" cy="1417320"/>
          </a:xfrm>
          <a:prstGeom prst="rect">
            <a:avLst/>
          </a:prstGeom>
          <a:noFill/>
          <a:ln/>
        </p:spPr>
        <p:txBody>
          <a:bodyPr wrap="square" lIns="0" tIns="0" rIns="0" bIns="0" rtlCol="0" anchor="t"/>
          <a:lstStyle/>
          <a:p>
            <a:pPr indent="0" marL="0">
              <a:buNone/>
            </a:pPr>
            <a:r>
              <a:rPr lang="en-US" sz="1500" b="1" i="1" dirty="0">
                <a:solidFill>
                  <a:srgbClr val="2A2346"/>
                </a:solidFill>
                <a:latin typeface="Arial" pitchFamily="34" charset="0"/>
                <a:ea typeface="Arial" pitchFamily="34" charset="-122"/>
                <a:cs typeface="Arial" pitchFamily="34" charset="-120"/>
              </a:rPr>
              <a:t>“Will this flyover or tunnel move more people, or only more cars?”</a:t>
            </a:r>
            <a:endParaRPr lang="en-US" sz="1500" dirty="0"/>
          </a:p>
        </p:txBody>
      </p:sp>
      <p:sp>
        <p:nvSpPr>
          <p:cNvPr id="21" name="Text 10"/>
          <p:cNvSpPr txBox="1"/>
          <p:nvPr/>
        </p:nvSpPr>
        <p:spPr>
          <a:xfrm>
            <a:off x="8394192" y="4434840"/>
            <a:ext cx="2971800" cy="822960"/>
          </a:xfrm>
          <a:prstGeom prst="rect">
            <a:avLst/>
          </a:prstGeom>
          <a:noFill/>
          <a:ln/>
        </p:spPr>
        <p:txBody>
          <a:bodyPr wrap="square" lIns="0" tIns="0" rIns="0" bIns="0" rtlCol="0" anchor="t"/>
          <a:lstStyle/>
          <a:p>
            <a:pPr indent="0" marL="0">
              <a:buNone/>
            </a:pPr>
            <a:r>
              <a:rPr lang="en-US" sz="1150" dirty="0">
                <a:solidFill>
                  <a:srgbClr val="5A5478"/>
                </a:solidFill>
                <a:latin typeface="Arial" pitchFamily="34" charset="0"/>
                <a:ea typeface="Arial" pitchFamily="34" charset="-122"/>
                <a:cs typeface="Arial" pitchFamily="34" charset="-120"/>
              </a:rPr>
              <a:t>Today: one consultant report per project, no common model</a:t>
            </a:r>
            <a:endParaRPr lang="en-US" sz="1150" dirty="0"/>
          </a:p>
        </p:txBody>
      </p:sp>
      <p:sp>
        <p:nvSpPr>
          <p:cNvPr id="22" name="Text 11"/>
          <p:cNvSpPr txBox="1"/>
          <p:nvPr/>
        </p:nvSpPr>
        <p:spPr>
          <a:xfrm>
            <a:off x="548640" y="5669280"/>
            <a:ext cx="11064240" cy="365760"/>
          </a:xfrm>
          <a:prstGeom prst="rect">
            <a:avLst/>
          </a:prstGeom>
          <a:noFill/>
          <a:ln/>
        </p:spPr>
        <p:txBody>
          <a:bodyPr wrap="square" lIns="0" tIns="0" rIns="0" bIns="0" rtlCol="0" anchor="t"/>
          <a:lstStyle/>
          <a:p>
            <a:pPr indent="0" marL="0">
              <a:buNone/>
            </a:pPr>
            <a:r>
              <a:rPr lang="en-US" sz="1500" b="1" dirty="0">
                <a:solidFill>
                  <a:srgbClr val="B8402A"/>
                </a:solidFill>
                <a:latin typeface="Arial" pitchFamily="34" charset="0"/>
                <a:ea typeface="Arial" pitchFamily="34" charset="-122"/>
                <a:cs typeface="Arial" pitchFamily="34" charset="-120"/>
              </a:rPr>
              <a:t>Built for the officer who has to sign off on the change.</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FLAGSHIP SCENARIO</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What if 10,000 e-buses come?</a:t>
            </a:r>
            <a:endParaRPr lang="en-US" sz="3200" dirty="0"/>
          </a:p>
        </p:txBody>
      </p:sp>
      <p:pic>
        <p:nvPicPr>
          <p:cNvPr id="4" name="fact strip" descr="preencoded.png">    </p:cNvPr>
          <p:cNvPicPr>
            <a:picLocks noChangeAspect="1"/>
          </p:cNvPicPr>
          <p:nvPr/>
        </p:nvPicPr>
        <p:blipFill>
          <a:blip r:embed="rId1"/>
          <a:stretch>
            <a:fillRect/>
          </a:stretch>
        </p:blipFill>
        <p:spPr>
          <a:xfrm>
            <a:off x="256032" y="1353312"/>
            <a:ext cx="11676888" cy="1682496"/>
          </a:xfrm>
          <a:prstGeom prst="rect">
            <a:avLst/>
          </a:prstGeom>
        </p:spPr>
      </p:pic>
      <p:sp>
        <p:nvSpPr>
          <p:cNvPr id="5" name="Text 2"/>
          <p:cNvSpPr txBox="1"/>
          <p:nvPr/>
        </p:nvSpPr>
        <p:spPr>
          <a:xfrm>
            <a:off x="868680" y="1645920"/>
            <a:ext cx="10515600" cy="1097280"/>
          </a:xfrm>
          <a:prstGeom prst="rect">
            <a:avLst/>
          </a:prstGeom>
          <a:noFill/>
          <a:ln/>
        </p:spPr>
        <p:txBody>
          <a:bodyPr wrap="square" lIns="0" tIns="0" rIns="0" bIns="0" rtlCol="0" anchor="ctr"/>
          <a:lstStyle/>
          <a:p>
            <a:pPr indent="0" marL="0">
              <a:buNone/>
            </a:pPr>
            <a:r>
              <a:rPr lang="en-US" sz="1800" b="1" dirty="0">
                <a:solidFill>
                  <a:srgbClr val="2A2346"/>
                </a:solidFill>
                <a:latin typeface="Arial" pitchFamily="34" charset="0"/>
                <a:ea typeface="Arial" pitchFamily="34" charset="-122"/>
                <a:cs typeface="Arial" pitchFamily="34" charset="-120"/>
              </a:rPr>
              <a:t>Already happening: </a:t>
            </a:r>
            <a:pPr indent="0" marL="0">
              <a:buNone/>
            </a:pPr>
            <a:r>
              <a:rPr lang="en-US" sz="1800" dirty="0">
                <a:solidFill>
                  <a:srgbClr val="2A2346"/>
                </a:solidFill>
                <a:latin typeface="Arial" pitchFamily="34" charset="0"/>
                <a:ea typeface="Arial" pitchFamily="34" charset="-122"/>
                <a:cs typeface="Arial" pitchFamily="34" charset="-120"/>
              </a:rPr>
              <a:t>under PM e-Drive, Bengaluru gets 4,500 e-buses. Across 5 cities, it's 10,900.</a:t>
            </a:r>
            <a:endParaRPr lang="en-US" sz="1800" dirty="0"/>
          </a:p>
        </p:txBody>
      </p:sp>
      <p:pic>
        <p:nvPicPr>
          <p:cNvPr id="6" name="step card" descr="preencoded.png">    </p:cNvPr>
          <p:cNvPicPr>
            <a:picLocks noChangeAspect="1"/>
          </p:cNvPicPr>
          <p:nvPr/>
        </p:nvPicPr>
        <p:blipFill>
          <a:blip r:embed="rId2"/>
          <a:stretch>
            <a:fillRect/>
          </a:stretch>
        </p:blipFill>
        <p:spPr>
          <a:xfrm>
            <a:off x="256032" y="2770632"/>
            <a:ext cx="3172968" cy="3374136"/>
          </a:xfrm>
          <a:prstGeom prst="rect">
            <a:avLst/>
          </a:prstGeom>
        </p:spPr>
      </p:pic>
      <p:pic>
        <p:nvPicPr>
          <p:cNvPr id="7" name="step number" descr="preencoded.png">    </p:cNvPr>
          <p:cNvPicPr>
            <a:picLocks noChangeAspect="1"/>
          </p:cNvPicPr>
          <p:nvPr/>
        </p:nvPicPr>
        <p:blipFill>
          <a:blip r:embed="rId3"/>
          <a:stretch>
            <a:fillRect/>
          </a:stretch>
        </p:blipFill>
        <p:spPr>
          <a:xfrm>
            <a:off x="484632" y="2999232"/>
            <a:ext cx="1316736" cy="1316736"/>
          </a:xfrm>
          <a:prstGeom prst="rect">
            <a:avLst/>
          </a:prstGeom>
        </p:spPr>
      </p:pic>
      <p:sp>
        <p:nvSpPr>
          <p:cNvPr id="8" name="Text 3"/>
          <p:cNvSpPr txBox="1"/>
          <p:nvPr/>
        </p:nvSpPr>
        <p:spPr>
          <a:xfrm>
            <a:off x="777240" y="3291840"/>
            <a:ext cx="731520" cy="731520"/>
          </a:xfrm>
          <a:prstGeom prst="rect">
            <a:avLst/>
          </a:prstGeom>
          <a:noFill/>
          <a:ln/>
        </p:spPr>
        <p:txBody>
          <a:bodyPr wrap="square" lIns="0" tIns="0" rIns="0" bIns="0" rtlCol="0" anchor="ctr"/>
          <a:lstStyle/>
          <a:p>
            <a:pPr algn="ctr" indent="0" marL="0">
              <a:buNone/>
            </a:pPr>
            <a:r>
              <a:rPr lang="en-US" sz="2600" b="1" dirty="0">
                <a:solidFill>
                  <a:srgbClr val="2A2346"/>
                </a:solidFill>
                <a:latin typeface="Arial" pitchFamily="34" charset="0"/>
                <a:ea typeface="Arial" pitchFamily="34" charset="-122"/>
                <a:cs typeface="Arial" pitchFamily="34" charset="-120"/>
              </a:rPr>
              <a:t>1</a:t>
            </a:r>
            <a:endParaRPr lang="en-US" sz="2600" dirty="0"/>
          </a:p>
        </p:txBody>
      </p:sp>
      <p:sp>
        <p:nvSpPr>
          <p:cNvPr id="9" name="Text 4"/>
          <p:cNvSpPr txBox="1"/>
          <p:nvPr/>
        </p:nvSpPr>
        <p:spPr>
          <a:xfrm>
            <a:off x="777240" y="4160520"/>
            <a:ext cx="2130552" cy="411480"/>
          </a:xfrm>
          <a:prstGeom prst="rect">
            <a:avLst/>
          </a:prstGeom>
          <a:noFill/>
          <a:ln/>
        </p:spPr>
        <p:txBody>
          <a:bodyPr wrap="square" lIns="0" tIns="0" rIns="0" bIns="0" rtlCol="0" anchor="t"/>
          <a:lstStyle/>
          <a:p>
            <a:pPr indent="0" marL="0">
              <a:buNone/>
            </a:pPr>
            <a:r>
              <a:rPr lang="en-US" sz="1600" b="1" dirty="0">
                <a:solidFill>
                  <a:srgbClr val="2A2346"/>
                </a:solidFill>
                <a:latin typeface="Arial" pitchFamily="34" charset="0"/>
                <a:ea typeface="Arial" pitchFamily="34" charset="-122"/>
                <a:cs typeface="Arial" pitchFamily="34" charset="-120"/>
              </a:rPr>
              <a:t>Put the buses in</a:t>
            </a:r>
            <a:endParaRPr lang="en-US" sz="1600" dirty="0"/>
          </a:p>
        </p:txBody>
      </p:sp>
      <p:sp>
        <p:nvSpPr>
          <p:cNvPr id="10" name="Text 5"/>
          <p:cNvSpPr txBox="1"/>
          <p:nvPr/>
        </p:nvSpPr>
        <p:spPr>
          <a:xfrm>
            <a:off x="777240" y="4617720"/>
            <a:ext cx="2130552" cy="1143000"/>
          </a:xfrm>
          <a:prstGeom prst="rect">
            <a:avLst/>
          </a:prstGeom>
          <a:noFill/>
          <a:ln/>
        </p:spPr>
        <p:txBody>
          <a:bodyPr wrap="square" lIns="0" tIns="0" rIns="0" bIns="0" rtlCol="0" anchor="t"/>
          <a:lstStyle/>
          <a:p>
            <a:pPr indent="0" marL="0">
              <a:buNone/>
            </a:pPr>
            <a:r>
              <a:rPr lang="en-US" sz="1250" dirty="0">
                <a:solidFill>
                  <a:srgbClr val="5A5478"/>
                </a:solidFill>
                <a:latin typeface="Arial" pitchFamily="34" charset="0"/>
                <a:ea typeface="Arial" pitchFamily="34" charset="-122"/>
                <a:cs typeface="Arial" pitchFamily="34" charset="-120"/>
              </a:rPr>
              <a:t>All 4,500 buses on BMTC routes and timings: 3,800 big (12 m) and 700 small (9 m).</a:t>
            </a:r>
            <a:endParaRPr lang="en-US" sz="1250" dirty="0"/>
          </a:p>
        </p:txBody>
      </p:sp>
      <p:pic>
        <p:nvPicPr>
          <p:cNvPr id="11" name="step card" descr="preencoded.png">    </p:cNvPr>
          <p:cNvPicPr>
            <a:picLocks noChangeAspect="1"/>
          </p:cNvPicPr>
          <p:nvPr/>
        </p:nvPicPr>
        <p:blipFill>
          <a:blip r:embed="rId4"/>
          <a:stretch>
            <a:fillRect/>
          </a:stretch>
        </p:blipFill>
        <p:spPr>
          <a:xfrm>
            <a:off x="3090672" y="2770632"/>
            <a:ext cx="3172968" cy="3374136"/>
          </a:xfrm>
          <a:prstGeom prst="rect">
            <a:avLst/>
          </a:prstGeom>
        </p:spPr>
      </p:pic>
      <p:pic>
        <p:nvPicPr>
          <p:cNvPr id="12" name="step number" descr="preencoded.png">    </p:cNvPr>
          <p:cNvPicPr>
            <a:picLocks noChangeAspect="1"/>
          </p:cNvPicPr>
          <p:nvPr/>
        </p:nvPicPr>
        <p:blipFill>
          <a:blip r:embed="rId5"/>
          <a:stretch>
            <a:fillRect/>
          </a:stretch>
        </p:blipFill>
        <p:spPr>
          <a:xfrm>
            <a:off x="3319272" y="2999232"/>
            <a:ext cx="1316736" cy="1316736"/>
          </a:xfrm>
          <a:prstGeom prst="rect">
            <a:avLst/>
          </a:prstGeom>
        </p:spPr>
      </p:pic>
      <p:sp>
        <p:nvSpPr>
          <p:cNvPr id="13" name="Text 6"/>
          <p:cNvSpPr txBox="1"/>
          <p:nvPr/>
        </p:nvSpPr>
        <p:spPr>
          <a:xfrm>
            <a:off x="3611880" y="3291840"/>
            <a:ext cx="731520" cy="731520"/>
          </a:xfrm>
          <a:prstGeom prst="rect">
            <a:avLst/>
          </a:prstGeom>
          <a:noFill/>
          <a:ln/>
        </p:spPr>
        <p:txBody>
          <a:bodyPr wrap="square" lIns="0" tIns="0" rIns="0" bIns="0" rtlCol="0" anchor="ctr"/>
          <a:lstStyle/>
          <a:p>
            <a:pPr algn="ctr" indent="0" marL="0">
              <a:buNone/>
            </a:pPr>
            <a:r>
              <a:rPr lang="en-US" sz="2600" b="1" dirty="0">
                <a:solidFill>
                  <a:srgbClr val="2A2346"/>
                </a:solidFill>
                <a:latin typeface="Arial" pitchFamily="34" charset="0"/>
                <a:ea typeface="Arial" pitchFamily="34" charset="-122"/>
                <a:cs typeface="Arial" pitchFamily="34" charset="-120"/>
              </a:rPr>
              <a:t>2</a:t>
            </a:r>
            <a:endParaRPr lang="en-US" sz="2600" dirty="0"/>
          </a:p>
        </p:txBody>
      </p:sp>
      <p:sp>
        <p:nvSpPr>
          <p:cNvPr id="14" name="Text 7"/>
          <p:cNvSpPr txBox="1"/>
          <p:nvPr/>
        </p:nvSpPr>
        <p:spPr>
          <a:xfrm>
            <a:off x="3611880" y="4160520"/>
            <a:ext cx="2130552" cy="411480"/>
          </a:xfrm>
          <a:prstGeom prst="rect">
            <a:avLst/>
          </a:prstGeom>
          <a:noFill/>
          <a:ln/>
        </p:spPr>
        <p:txBody>
          <a:bodyPr wrap="square" lIns="0" tIns="0" rIns="0" bIns="0" rtlCol="0" anchor="t"/>
          <a:lstStyle/>
          <a:p>
            <a:pPr indent="0" marL="0">
              <a:buNone/>
            </a:pPr>
            <a:r>
              <a:rPr lang="en-US" sz="1600" b="1" dirty="0">
                <a:solidFill>
                  <a:srgbClr val="2A2346"/>
                </a:solidFill>
                <a:latin typeface="Arial" pitchFamily="34" charset="0"/>
                <a:ea typeface="Arial" pitchFamily="34" charset="-122"/>
                <a:cs typeface="Arial" pitchFamily="34" charset="-120"/>
              </a:rPr>
              <a:t>Find where it chokes</a:t>
            </a:r>
            <a:endParaRPr lang="en-US" sz="1600" dirty="0"/>
          </a:p>
        </p:txBody>
      </p:sp>
      <p:sp>
        <p:nvSpPr>
          <p:cNvPr id="15" name="Text 8"/>
          <p:cNvSpPr txBox="1"/>
          <p:nvPr/>
        </p:nvSpPr>
        <p:spPr>
          <a:xfrm>
            <a:off x="3611880" y="4617720"/>
            <a:ext cx="2130552" cy="1143000"/>
          </a:xfrm>
          <a:prstGeom prst="rect">
            <a:avLst/>
          </a:prstGeom>
          <a:noFill/>
          <a:ln/>
        </p:spPr>
        <p:txBody>
          <a:bodyPr wrap="square" lIns="0" tIns="0" rIns="0" bIns="0" rtlCol="0" anchor="t"/>
          <a:lstStyle/>
          <a:p>
            <a:pPr indent="0" marL="0">
              <a:buNone/>
            </a:pPr>
            <a:r>
              <a:rPr lang="en-US" sz="1250" dirty="0">
                <a:solidFill>
                  <a:srgbClr val="5A5478"/>
                </a:solidFill>
                <a:latin typeface="Arial" pitchFamily="34" charset="0"/>
                <a:ea typeface="Arial" pitchFamily="34" charset="-122"/>
                <a:cs typeface="Arial" pitchFamily="34" charset="-120"/>
              </a:rPr>
              <a:t>City-level view shows where buses queue behind buses, stops overflow, depots jam roads.</a:t>
            </a:r>
            <a:endParaRPr lang="en-US" sz="1250" dirty="0"/>
          </a:p>
        </p:txBody>
      </p:sp>
      <p:pic>
        <p:nvPicPr>
          <p:cNvPr id="16" name="step card" descr="preencoded.png">    </p:cNvPr>
          <p:cNvPicPr>
            <a:picLocks noChangeAspect="1"/>
          </p:cNvPicPr>
          <p:nvPr/>
        </p:nvPicPr>
        <p:blipFill>
          <a:blip r:embed="rId6"/>
          <a:stretch>
            <a:fillRect/>
          </a:stretch>
        </p:blipFill>
        <p:spPr>
          <a:xfrm>
            <a:off x="5925312" y="2770632"/>
            <a:ext cx="3172968" cy="3374136"/>
          </a:xfrm>
          <a:prstGeom prst="rect">
            <a:avLst/>
          </a:prstGeom>
        </p:spPr>
      </p:pic>
      <p:pic>
        <p:nvPicPr>
          <p:cNvPr id="17" name="step number" descr="preencoded.png">    </p:cNvPr>
          <p:cNvPicPr>
            <a:picLocks noChangeAspect="1"/>
          </p:cNvPicPr>
          <p:nvPr/>
        </p:nvPicPr>
        <p:blipFill>
          <a:blip r:embed="rId7"/>
          <a:stretch>
            <a:fillRect/>
          </a:stretch>
        </p:blipFill>
        <p:spPr>
          <a:xfrm>
            <a:off x="6153912" y="2999232"/>
            <a:ext cx="1316736" cy="1316736"/>
          </a:xfrm>
          <a:prstGeom prst="rect">
            <a:avLst/>
          </a:prstGeom>
        </p:spPr>
      </p:pic>
      <p:sp>
        <p:nvSpPr>
          <p:cNvPr id="18" name="Text 9"/>
          <p:cNvSpPr txBox="1"/>
          <p:nvPr/>
        </p:nvSpPr>
        <p:spPr>
          <a:xfrm>
            <a:off x="6446520" y="3291840"/>
            <a:ext cx="731520" cy="731520"/>
          </a:xfrm>
          <a:prstGeom prst="rect">
            <a:avLst/>
          </a:prstGeom>
          <a:noFill/>
          <a:ln/>
        </p:spPr>
        <p:txBody>
          <a:bodyPr wrap="square" lIns="0" tIns="0" rIns="0" bIns="0" rtlCol="0" anchor="ctr"/>
          <a:lstStyle/>
          <a:p>
            <a:pPr algn="ctr" indent="0" marL="0">
              <a:buNone/>
            </a:pPr>
            <a:r>
              <a:rPr lang="en-US" sz="2600" b="1" dirty="0">
                <a:solidFill>
                  <a:srgbClr val="2A2346"/>
                </a:solidFill>
                <a:latin typeface="Arial" pitchFamily="34" charset="0"/>
                <a:ea typeface="Arial" pitchFamily="34" charset="-122"/>
                <a:cs typeface="Arial" pitchFamily="34" charset="-120"/>
              </a:rPr>
              <a:t>3</a:t>
            </a:r>
            <a:endParaRPr lang="en-US" sz="2600" dirty="0"/>
          </a:p>
        </p:txBody>
      </p:sp>
      <p:sp>
        <p:nvSpPr>
          <p:cNvPr id="19" name="Text 10"/>
          <p:cNvSpPr txBox="1"/>
          <p:nvPr/>
        </p:nvSpPr>
        <p:spPr>
          <a:xfrm>
            <a:off x="6446520" y="4160520"/>
            <a:ext cx="2130552" cy="411480"/>
          </a:xfrm>
          <a:prstGeom prst="rect">
            <a:avLst/>
          </a:prstGeom>
          <a:noFill/>
          <a:ln/>
        </p:spPr>
        <p:txBody>
          <a:bodyPr wrap="square" lIns="0" tIns="0" rIns="0" bIns="0" rtlCol="0" anchor="t"/>
          <a:lstStyle/>
          <a:p>
            <a:pPr indent="0" marL="0">
              <a:buNone/>
            </a:pPr>
            <a:r>
              <a:rPr lang="en-US" sz="1600" b="1" dirty="0">
                <a:solidFill>
                  <a:srgbClr val="2A2346"/>
                </a:solidFill>
                <a:latin typeface="Arial" pitchFamily="34" charset="0"/>
                <a:ea typeface="Arial" pitchFamily="34" charset="-122"/>
                <a:cs typeface="Arial" pitchFamily="34" charset="-120"/>
              </a:rPr>
              <a:t>Zoom in close</a:t>
            </a:r>
            <a:endParaRPr lang="en-US" sz="1600" dirty="0"/>
          </a:p>
        </p:txBody>
      </p:sp>
      <p:sp>
        <p:nvSpPr>
          <p:cNvPr id="20" name="Text 11"/>
          <p:cNvSpPr txBox="1"/>
          <p:nvPr/>
        </p:nvSpPr>
        <p:spPr>
          <a:xfrm>
            <a:off x="6446520" y="4617720"/>
            <a:ext cx="2130552" cy="1143000"/>
          </a:xfrm>
          <a:prstGeom prst="rect">
            <a:avLst/>
          </a:prstGeom>
          <a:noFill/>
          <a:ln/>
        </p:spPr>
        <p:txBody>
          <a:bodyPr wrap="square" lIns="0" tIns="0" rIns="0" bIns="0" rtlCol="0" anchor="t"/>
          <a:lstStyle/>
          <a:p>
            <a:pPr indent="0" marL="0">
              <a:buNone/>
            </a:pPr>
            <a:r>
              <a:rPr lang="en-US" sz="1250" dirty="0">
                <a:solidFill>
                  <a:srgbClr val="5A5478"/>
                </a:solidFill>
                <a:latin typeface="Arial" pitchFamily="34" charset="0"/>
                <a:ea typeface="Arial" pitchFamily="34" charset="-122"/>
                <a:cs typeface="Arial" pitchFamily="34" charset="-120"/>
              </a:rPr>
              <a:t>Full detail at Silk Board, Hebbal and Iblur, with bikes, autos and trucks around.</a:t>
            </a:r>
            <a:endParaRPr lang="en-US" sz="1250" dirty="0"/>
          </a:p>
        </p:txBody>
      </p:sp>
      <p:pic>
        <p:nvPicPr>
          <p:cNvPr id="21" name="step card" descr="preencoded.png">    </p:cNvPr>
          <p:cNvPicPr>
            <a:picLocks noChangeAspect="1"/>
          </p:cNvPicPr>
          <p:nvPr/>
        </p:nvPicPr>
        <p:blipFill>
          <a:blip r:embed="rId8"/>
          <a:stretch>
            <a:fillRect/>
          </a:stretch>
        </p:blipFill>
        <p:spPr>
          <a:xfrm>
            <a:off x="8759952" y="2770632"/>
            <a:ext cx="3172968" cy="3374136"/>
          </a:xfrm>
          <a:prstGeom prst="rect">
            <a:avLst/>
          </a:prstGeom>
        </p:spPr>
      </p:pic>
      <p:pic>
        <p:nvPicPr>
          <p:cNvPr id="22" name="step number" descr="preencoded.png">    </p:cNvPr>
          <p:cNvPicPr>
            <a:picLocks noChangeAspect="1"/>
          </p:cNvPicPr>
          <p:nvPr/>
        </p:nvPicPr>
        <p:blipFill>
          <a:blip r:embed="rId9"/>
          <a:stretch>
            <a:fillRect/>
          </a:stretch>
        </p:blipFill>
        <p:spPr>
          <a:xfrm>
            <a:off x="8988552" y="2999232"/>
            <a:ext cx="1316736" cy="1316736"/>
          </a:xfrm>
          <a:prstGeom prst="rect">
            <a:avLst/>
          </a:prstGeom>
        </p:spPr>
      </p:pic>
      <p:sp>
        <p:nvSpPr>
          <p:cNvPr id="23" name="Text 12"/>
          <p:cNvSpPr txBox="1"/>
          <p:nvPr/>
        </p:nvSpPr>
        <p:spPr>
          <a:xfrm>
            <a:off x="9281160" y="3291840"/>
            <a:ext cx="731520" cy="731520"/>
          </a:xfrm>
          <a:prstGeom prst="rect">
            <a:avLst/>
          </a:prstGeom>
          <a:noFill/>
          <a:ln/>
        </p:spPr>
        <p:txBody>
          <a:bodyPr wrap="square" lIns="0" tIns="0" rIns="0" bIns="0" rtlCol="0" anchor="ctr"/>
          <a:lstStyle/>
          <a:p>
            <a:pPr algn="ctr" indent="0" marL="0">
              <a:buNone/>
            </a:pPr>
            <a:r>
              <a:rPr lang="en-US" sz="2600" b="1" dirty="0">
                <a:solidFill>
                  <a:srgbClr val="2A2346"/>
                </a:solidFill>
                <a:latin typeface="Arial" pitchFamily="34" charset="0"/>
                <a:ea typeface="Arial" pitchFamily="34" charset="-122"/>
                <a:cs typeface="Arial" pitchFamily="34" charset="-120"/>
              </a:rPr>
              <a:t>4</a:t>
            </a:r>
            <a:endParaRPr lang="en-US" sz="2600" dirty="0"/>
          </a:p>
        </p:txBody>
      </p:sp>
      <p:sp>
        <p:nvSpPr>
          <p:cNvPr id="24" name="Text 13"/>
          <p:cNvSpPr txBox="1"/>
          <p:nvPr/>
        </p:nvSpPr>
        <p:spPr>
          <a:xfrm>
            <a:off x="9281160" y="4160520"/>
            <a:ext cx="2130552" cy="411480"/>
          </a:xfrm>
          <a:prstGeom prst="rect">
            <a:avLst/>
          </a:prstGeom>
          <a:noFill/>
          <a:ln/>
        </p:spPr>
        <p:txBody>
          <a:bodyPr wrap="square" lIns="0" tIns="0" rIns="0" bIns="0" rtlCol="0" anchor="t"/>
          <a:lstStyle/>
          <a:p>
            <a:pPr indent="0" marL="0">
              <a:buNone/>
            </a:pPr>
            <a:r>
              <a:rPr lang="en-US" sz="1600" b="1" dirty="0">
                <a:solidFill>
                  <a:srgbClr val="2A2346"/>
                </a:solidFill>
                <a:latin typeface="Arial" pitchFamily="34" charset="0"/>
                <a:ea typeface="Arial" pitchFamily="34" charset="-122"/>
                <a:cs typeface="Arial" pitchFamily="34" charset="-120"/>
              </a:rPr>
              <a:t>Compare the fixes</a:t>
            </a:r>
            <a:endParaRPr lang="en-US" sz="1600" dirty="0"/>
          </a:p>
        </p:txBody>
      </p:sp>
      <p:sp>
        <p:nvSpPr>
          <p:cNvPr id="25" name="Text 14"/>
          <p:cNvSpPr txBox="1"/>
          <p:nvPr/>
        </p:nvSpPr>
        <p:spPr>
          <a:xfrm>
            <a:off x="9281160" y="4617720"/>
            <a:ext cx="2130552" cy="1143000"/>
          </a:xfrm>
          <a:prstGeom prst="rect">
            <a:avLst/>
          </a:prstGeom>
          <a:noFill/>
          <a:ln/>
        </p:spPr>
        <p:txBody>
          <a:bodyPr wrap="square" lIns="0" tIns="0" rIns="0" bIns="0" rtlCol="0" anchor="t"/>
          <a:lstStyle/>
          <a:p>
            <a:pPr indent="0" marL="0">
              <a:buNone/>
            </a:pPr>
            <a:r>
              <a:rPr lang="en-US" sz="1250" dirty="0">
                <a:solidFill>
                  <a:srgbClr val="5A5478"/>
                </a:solidFill>
                <a:latin typeface="Arial" pitchFamily="34" charset="0"/>
                <a:ea typeface="Arial" pitchFamily="34" charset="-122"/>
                <a:cs typeface="Arial" pitchFamily="34" charset="-120"/>
              </a:rPr>
              <a:t>Bus lane? Signal priority? Move the stop? Small bus? Ranked by people moved.</a:t>
            </a:r>
            <a:endParaRPr lang="en-US" sz="125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BENGALURU'S STRUCTURE</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Why Bengaluru is tricky to copy into a computer</a:t>
            </a:r>
            <a:endParaRPr lang="en-US" sz="3200" dirty="0"/>
          </a:p>
        </p:txBody>
      </p:sp>
      <p:pic>
        <p:nvPicPr>
          <p:cNvPr id="4" name="tricky card" descr="preencoded.png">    </p:cNvPr>
          <p:cNvPicPr>
            <a:picLocks noChangeAspect="1"/>
          </p:cNvPicPr>
          <p:nvPr/>
        </p:nvPicPr>
        <p:blipFill>
          <a:blip r:embed="rId1"/>
          <a:stretch>
            <a:fillRect/>
          </a:stretch>
        </p:blipFill>
        <p:spPr>
          <a:xfrm>
            <a:off x="256032" y="1353312"/>
            <a:ext cx="4105656" cy="2505456"/>
          </a:xfrm>
          <a:prstGeom prst="rect">
            <a:avLst/>
          </a:prstGeom>
        </p:spPr>
      </p:pic>
      <p:pic>
        <p:nvPicPr>
          <p:cNvPr id="5" name="icon blob" descr="preencoded.png">    </p:cNvPr>
          <p:cNvPicPr>
            <a:picLocks noChangeAspect="1"/>
          </p:cNvPicPr>
          <p:nvPr/>
        </p:nvPicPr>
        <p:blipFill>
          <a:blip r:embed="rId2"/>
          <a:stretch>
            <a:fillRect/>
          </a:stretch>
        </p:blipFill>
        <p:spPr>
          <a:xfrm>
            <a:off x="484632" y="1581912"/>
            <a:ext cx="1271016" cy="1271016"/>
          </a:xfrm>
          <a:prstGeom prst="rect">
            <a:avLst/>
          </a:prstGeom>
        </p:spPr>
      </p:pic>
      <p:pic>
        <p:nvPicPr>
          <p:cNvPr id="6" name="icon FaMotorcycle" descr="preencoded.png">    </p:cNvPr>
          <p:cNvPicPr>
            <a:picLocks noChangeAspect="1"/>
          </p:cNvPicPr>
          <p:nvPr/>
        </p:nvPicPr>
        <p:blipFill>
          <a:blip r:embed="rId3"/>
          <a:stretch>
            <a:fillRect/>
          </a:stretch>
        </p:blipFill>
        <p:spPr>
          <a:xfrm>
            <a:off x="948690" y="2045970"/>
            <a:ext cx="342900" cy="342900"/>
          </a:xfrm>
          <a:prstGeom prst="rect">
            <a:avLst/>
          </a:prstGeom>
        </p:spPr>
      </p:pic>
      <p:sp>
        <p:nvSpPr>
          <p:cNvPr id="7" name="Text 2"/>
          <p:cNvSpPr txBox="1"/>
          <p:nvPr/>
        </p:nvSpPr>
        <p:spPr>
          <a:xfrm>
            <a:off x="1600200" y="1874520"/>
            <a:ext cx="2286000" cy="731520"/>
          </a:xfrm>
          <a:prstGeom prst="rect">
            <a:avLst/>
          </a:prstGeom>
          <a:noFill/>
          <a:ln/>
        </p:spPr>
        <p:txBody>
          <a:bodyPr wrap="square" lIns="0" tIns="0" rIns="0" bIns="0" rtlCol="0" anchor="ctr"/>
          <a:lstStyle/>
          <a:p>
            <a:pPr indent="0" marL="0">
              <a:buNone/>
            </a:pPr>
            <a:r>
              <a:rPr lang="en-US" sz="1500" b="1" dirty="0">
                <a:solidFill>
                  <a:srgbClr val="2A2346"/>
                </a:solidFill>
                <a:latin typeface="Arial" pitchFamily="34" charset="0"/>
                <a:ea typeface="Arial" pitchFamily="34" charset="-122"/>
                <a:cs typeface="Arial" pitchFamily="34" charset="-120"/>
              </a:rPr>
              <a:t>Bikes go into every gap</a:t>
            </a:r>
            <a:endParaRPr lang="en-US" sz="1500" dirty="0"/>
          </a:p>
        </p:txBody>
      </p:sp>
      <p:sp>
        <p:nvSpPr>
          <p:cNvPr id="8" name="Text 3"/>
          <p:cNvSpPr txBox="1"/>
          <p:nvPr/>
        </p:nvSpPr>
        <p:spPr>
          <a:xfrm>
            <a:off x="777240" y="2743200"/>
            <a:ext cx="3063240" cy="731520"/>
          </a:xfrm>
          <a:prstGeom prst="rect">
            <a:avLst/>
          </a:prstGeom>
          <a:noFill/>
          <a:ln/>
        </p:spPr>
        <p:txBody>
          <a:bodyPr wrap="square" lIns="0" tIns="0" rIns="0" bIns="0" rtlCol="0" anchor="t"/>
          <a:lstStyle/>
          <a:p>
            <a:pPr indent="0" marL="0">
              <a:buNone/>
            </a:pPr>
            <a:r>
              <a:rPr lang="en-US" sz="1250" dirty="0">
                <a:solidFill>
                  <a:srgbClr val="2A2346"/>
                </a:solidFill>
                <a:latin typeface="Arial" pitchFamily="34" charset="0"/>
                <a:ea typeface="Arial" pitchFamily="34" charset="-122"/>
                <a:cs typeface="Arial" pitchFamily="34" charset="-120"/>
              </a:rPr>
              <a:t>So bikes and autos can move sideways, like real life.</a:t>
            </a:r>
            <a:endParaRPr lang="en-US" sz="1250" dirty="0"/>
          </a:p>
        </p:txBody>
      </p:sp>
      <p:pic>
        <p:nvPicPr>
          <p:cNvPr id="9" name="tricky card" descr="preencoded.png">    </p:cNvPr>
          <p:cNvPicPr>
            <a:picLocks noChangeAspect="1"/>
          </p:cNvPicPr>
          <p:nvPr/>
        </p:nvPicPr>
        <p:blipFill>
          <a:blip r:embed="rId4"/>
          <a:stretch>
            <a:fillRect/>
          </a:stretch>
        </p:blipFill>
        <p:spPr>
          <a:xfrm>
            <a:off x="4041648" y="1353312"/>
            <a:ext cx="4105656" cy="2505456"/>
          </a:xfrm>
          <a:prstGeom prst="rect">
            <a:avLst/>
          </a:prstGeom>
        </p:spPr>
      </p:pic>
      <p:pic>
        <p:nvPicPr>
          <p:cNvPr id="10" name="icon blob" descr="preencoded.png">    </p:cNvPr>
          <p:cNvPicPr>
            <a:picLocks noChangeAspect="1"/>
          </p:cNvPicPr>
          <p:nvPr/>
        </p:nvPicPr>
        <p:blipFill>
          <a:blip r:embed="rId5"/>
          <a:stretch>
            <a:fillRect/>
          </a:stretch>
        </p:blipFill>
        <p:spPr>
          <a:xfrm>
            <a:off x="4270248" y="1581912"/>
            <a:ext cx="1271016" cy="1271016"/>
          </a:xfrm>
          <a:prstGeom prst="rect">
            <a:avLst/>
          </a:prstGeom>
        </p:spPr>
      </p:pic>
      <p:pic>
        <p:nvPicPr>
          <p:cNvPr id="11" name="icon FaRoad" descr="preencoded.png">    </p:cNvPr>
          <p:cNvPicPr>
            <a:picLocks noChangeAspect="1"/>
          </p:cNvPicPr>
          <p:nvPr/>
        </p:nvPicPr>
        <p:blipFill>
          <a:blip r:embed="rId6"/>
          <a:stretch>
            <a:fillRect/>
          </a:stretch>
        </p:blipFill>
        <p:spPr>
          <a:xfrm>
            <a:off x="4734306" y="2045970"/>
            <a:ext cx="342900" cy="342900"/>
          </a:xfrm>
          <a:prstGeom prst="rect">
            <a:avLst/>
          </a:prstGeom>
        </p:spPr>
      </p:pic>
      <p:sp>
        <p:nvSpPr>
          <p:cNvPr id="12" name="Text 4"/>
          <p:cNvSpPr txBox="1"/>
          <p:nvPr/>
        </p:nvSpPr>
        <p:spPr>
          <a:xfrm>
            <a:off x="5385816" y="1874520"/>
            <a:ext cx="2286000" cy="731520"/>
          </a:xfrm>
          <a:prstGeom prst="rect">
            <a:avLst/>
          </a:prstGeom>
          <a:noFill/>
          <a:ln/>
        </p:spPr>
        <p:txBody>
          <a:bodyPr wrap="square" lIns="0" tIns="0" rIns="0" bIns="0" rtlCol="0" anchor="ctr"/>
          <a:lstStyle/>
          <a:p>
            <a:pPr indent="0" marL="0">
              <a:buNone/>
            </a:pPr>
            <a:r>
              <a:rPr lang="en-US" sz="1500" b="1" dirty="0">
                <a:solidFill>
                  <a:srgbClr val="2A2346"/>
                </a:solidFill>
                <a:latin typeface="Arial" pitchFamily="34" charset="0"/>
                <a:ea typeface="Arial" pitchFamily="34" charset="-122"/>
                <a:cs typeface="Arial" pitchFamily="34" charset="-120"/>
              </a:rPr>
              <a:t>Lanes are only a suggestion</a:t>
            </a:r>
            <a:endParaRPr lang="en-US" sz="1500" dirty="0"/>
          </a:p>
        </p:txBody>
      </p:sp>
      <p:sp>
        <p:nvSpPr>
          <p:cNvPr id="13" name="Text 5"/>
          <p:cNvSpPr txBox="1"/>
          <p:nvPr/>
        </p:nvSpPr>
        <p:spPr>
          <a:xfrm>
            <a:off x="4562856" y="2743200"/>
            <a:ext cx="3063240" cy="731520"/>
          </a:xfrm>
          <a:prstGeom prst="rect">
            <a:avLst/>
          </a:prstGeom>
          <a:noFill/>
          <a:ln/>
        </p:spPr>
        <p:txBody>
          <a:bodyPr wrap="square" lIns="0" tIns="0" rIns="0" bIns="0" rtlCol="0" anchor="t"/>
          <a:lstStyle/>
          <a:p>
            <a:pPr indent="0" marL="0">
              <a:buNone/>
            </a:pPr>
            <a:r>
              <a:rPr lang="en-US" sz="1250" dirty="0">
                <a:solidFill>
                  <a:srgbClr val="2A2346"/>
                </a:solidFill>
                <a:latin typeface="Arial" pitchFamily="34" charset="0"/>
                <a:ea typeface="Arial" pitchFamily="34" charset="-122"/>
                <a:cs typeface="Arial" pitchFamily="34" charset="-120"/>
              </a:rPr>
              <a:t>No forced lanes for small vehicles. Lanes only for buses and trucks.</a:t>
            </a:r>
            <a:endParaRPr lang="en-US" sz="1250" dirty="0"/>
          </a:p>
        </p:txBody>
      </p:sp>
      <p:pic>
        <p:nvPicPr>
          <p:cNvPr id="14" name="tricky card" descr="preencoded.png">    </p:cNvPr>
          <p:cNvPicPr>
            <a:picLocks noChangeAspect="1"/>
          </p:cNvPicPr>
          <p:nvPr/>
        </p:nvPicPr>
        <p:blipFill>
          <a:blip r:embed="rId7"/>
          <a:stretch>
            <a:fillRect/>
          </a:stretch>
        </p:blipFill>
        <p:spPr>
          <a:xfrm>
            <a:off x="7827264" y="1353312"/>
            <a:ext cx="4105656" cy="2505456"/>
          </a:xfrm>
          <a:prstGeom prst="rect">
            <a:avLst/>
          </a:prstGeom>
        </p:spPr>
      </p:pic>
      <p:pic>
        <p:nvPicPr>
          <p:cNvPr id="15" name="icon blob" descr="preencoded.png">    </p:cNvPr>
          <p:cNvPicPr>
            <a:picLocks noChangeAspect="1"/>
          </p:cNvPicPr>
          <p:nvPr/>
        </p:nvPicPr>
        <p:blipFill>
          <a:blip r:embed="rId8"/>
          <a:stretch>
            <a:fillRect/>
          </a:stretch>
        </p:blipFill>
        <p:spPr>
          <a:xfrm>
            <a:off x="8055864" y="1581912"/>
            <a:ext cx="1271016" cy="1271016"/>
          </a:xfrm>
          <a:prstGeom prst="rect">
            <a:avLst/>
          </a:prstGeom>
        </p:spPr>
      </p:pic>
      <p:pic>
        <p:nvPicPr>
          <p:cNvPr id="16" name="icon FaBridge" descr="preencoded.png">    </p:cNvPr>
          <p:cNvPicPr>
            <a:picLocks noChangeAspect="1"/>
          </p:cNvPicPr>
          <p:nvPr/>
        </p:nvPicPr>
        <p:blipFill>
          <a:blip r:embed="rId9"/>
          <a:stretch>
            <a:fillRect/>
          </a:stretch>
        </p:blipFill>
        <p:spPr>
          <a:xfrm>
            <a:off x="8519922" y="2045970"/>
            <a:ext cx="342900" cy="342900"/>
          </a:xfrm>
          <a:prstGeom prst="rect">
            <a:avLst/>
          </a:prstGeom>
        </p:spPr>
      </p:pic>
      <p:sp>
        <p:nvSpPr>
          <p:cNvPr id="17" name="Text 6"/>
          <p:cNvSpPr txBox="1"/>
          <p:nvPr/>
        </p:nvSpPr>
        <p:spPr>
          <a:xfrm>
            <a:off x="9171432" y="1874520"/>
            <a:ext cx="2286000" cy="731520"/>
          </a:xfrm>
          <a:prstGeom prst="rect">
            <a:avLst/>
          </a:prstGeom>
          <a:noFill/>
          <a:ln/>
        </p:spPr>
        <p:txBody>
          <a:bodyPr wrap="square" lIns="0" tIns="0" rIns="0" bIns="0" rtlCol="0" anchor="ctr"/>
          <a:lstStyle/>
          <a:p>
            <a:pPr indent="0" marL="0">
              <a:buNone/>
            </a:pPr>
            <a:r>
              <a:rPr lang="en-US" sz="1500" b="1" dirty="0">
                <a:solidFill>
                  <a:srgbClr val="2A2346"/>
                </a:solidFill>
                <a:latin typeface="Arial" pitchFamily="34" charset="0"/>
                <a:ea typeface="Arial" pitchFamily="34" charset="-122"/>
                <a:cs typeface="Arial" pitchFamily="34" charset="-120"/>
              </a:rPr>
              <a:t>Flyovers, underpasses, one ring road</a:t>
            </a:r>
            <a:endParaRPr lang="en-US" sz="1500" dirty="0"/>
          </a:p>
        </p:txBody>
      </p:sp>
      <p:sp>
        <p:nvSpPr>
          <p:cNvPr id="18" name="Text 7"/>
          <p:cNvSpPr txBox="1"/>
          <p:nvPr/>
        </p:nvSpPr>
        <p:spPr>
          <a:xfrm>
            <a:off x="8348472" y="2743200"/>
            <a:ext cx="3063240" cy="731520"/>
          </a:xfrm>
          <a:prstGeom prst="rect">
            <a:avLst/>
          </a:prstGeom>
          <a:noFill/>
          <a:ln/>
        </p:spPr>
        <p:txBody>
          <a:bodyPr wrap="square" lIns="0" tIns="0" rIns="0" bIns="0" rtlCol="0" anchor="t"/>
          <a:lstStyle/>
          <a:p>
            <a:pPr indent="0" marL="0">
              <a:buNone/>
            </a:pPr>
            <a:r>
              <a:rPr lang="en-US" sz="1250" dirty="0">
                <a:solidFill>
                  <a:srgbClr val="2A2346"/>
                </a:solidFill>
                <a:latin typeface="Arial" pitchFamily="34" charset="0"/>
                <a:ea typeface="Arial" pitchFamily="34" charset="-122"/>
                <a:cs typeface="Arial" pitchFamily="34" charset="-120"/>
              </a:rPr>
              <a:t>Built from the map, with the mistakes fixed and noted.</a:t>
            </a:r>
            <a:endParaRPr lang="en-US" sz="1250" dirty="0"/>
          </a:p>
        </p:txBody>
      </p:sp>
      <p:pic>
        <p:nvPicPr>
          <p:cNvPr id="19" name="tricky card" descr="preencoded.png">    </p:cNvPr>
          <p:cNvPicPr>
            <a:picLocks noChangeAspect="1"/>
          </p:cNvPicPr>
          <p:nvPr/>
        </p:nvPicPr>
        <p:blipFill>
          <a:blip r:embed="rId10"/>
          <a:stretch>
            <a:fillRect/>
          </a:stretch>
        </p:blipFill>
        <p:spPr>
          <a:xfrm>
            <a:off x="256032" y="3575304"/>
            <a:ext cx="4105656" cy="2505456"/>
          </a:xfrm>
          <a:prstGeom prst="rect">
            <a:avLst/>
          </a:prstGeom>
        </p:spPr>
      </p:pic>
      <p:pic>
        <p:nvPicPr>
          <p:cNvPr id="20" name="icon blob" descr="preencoded.png">    </p:cNvPr>
          <p:cNvPicPr>
            <a:picLocks noChangeAspect="1"/>
          </p:cNvPicPr>
          <p:nvPr/>
        </p:nvPicPr>
        <p:blipFill>
          <a:blip r:embed="rId11"/>
          <a:stretch>
            <a:fillRect/>
          </a:stretch>
        </p:blipFill>
        <p:spPr>
          <a:xfrm>
            <a:off x="484632" y="3803904"/>
            <a:ext cx="1271016" cy="1271016"/>
          </a:xfrm>
          <a:prstGeom prst="rect">
            <a:avLst/>
          </a:prstGeom>
        </p:spPr>
      </p:pic>
      <p:pic>
        <p:nvPicPr>
          <p:cNvPr id="21" name="icon FaTruck" descr="preencoded.png">    </p:cNvPr>
          <p:cNvPicPr>
            <a:picLocks noChangeAspect="1"/>
          </p:cNvPicPr>
          <p:nvPr/>
        </p:nvPicPr>
        <p:blipFill>
          <a:blip r:embed="rId12"/>
          <a:stretch>
            <a:fillRect/>
          </a:stretch>
        </p:blipFill>
        <p:spPr>
          <a:xfrm>
            <a:off x="948690" y="4267962"/>
            <a:ext cx="342900" cy="342900"/>
          </a:xfrm>
          <a:prstGeom prst="rect">
            <a:avLst/>
          </a:prstGeom>
        </p:spPr>
      </p:pic>
      <p:sp>
        <p:nvSpPr>
          <p:cNvPr id="22" name="Text 8"/>
          <p:cNvSpPr txBox="1"/>
          <p:nvPr/>
        </p:nvSpPr>
        <p:spPr>
          <a:xfrm>
            <a:off x="1600200" y="4096512"/>
            <a:ext cx="2286000" cy="731520"/>
          </a:xfrm>
          <a:prstGeom prst="rect">
            <a:avLst/>
          </a:prstGeom>
          <a:noFill/>
          <a:ln/>
        </p:spPr>
        <p:txBody>
          <a:bodyPr wrap="square" lIns="0" tIns="0" rIns="0" bIns="0" rtlCol="0" anchor="ctr"/>
          <a:lstStyle/>
          <a:p>
            <a:pPr indent="0" marL="0">
              <a:buNone/>
            </a:pPr>
            <a:r>
              <a:rPr lang="en-US" sz="1500" b="1" dirty="0">
                <a:solidFill>
                  <a:srgbClr val="2A2346"/>
                </a:solidFill>
                <a:latin typeface="Arial" pitchFamily="34" charset="0"/>
                <a:ea typeface="Arial" pitchFamily="34" charset="-122"/>
                <a:cs typeface="Arial" pitchFamily="34" charset="-120"/>
              </a:rPr>
              <a:t>Buses and trucks behave differently</a:t>
            </a:r>
            <a:endParaRPr lang="en-US" sz="1500" dirty="0"/>
          </a:p>
        </p:txBody>
      </p:sp>
      <p:sp>
        <p:nvSpPr>
          <p:cNvPr id="23" name="Text 9"/>
          <p:cNvSpPr txBox="1"/>
          <p:nvPr/>
        </p:nvSpPr>
        <p:spPr>
          <a:xfrm>
            <a:off x="777240" y="4965192"/>
            <a:ext cx="3063240" cy="731520"/>
          </a:xfrm>
          <a:prstGeom prst="rect">
            <a:avLst/>
          </a:prstGeom>
          <a:noFill/>
          <a:ln/>
        </p:spPr>
        <p:txBody>
          <a:bodyPr wrap="square" lIns="0" tIns="0" rIns="0" bIns="0" rtlCol="0" anchor="t"/>
          <a:lstStyle/>
          <a:p>
            <a:pPr indent="0" marL="0">
              <a:buNone/>
            </a:pPr>
            <a:r>
              <a:rPr lang="en-US" sz="1250" dirty="0">
                <a:solidFill>
                  <a:srgbClr val="2A2346"/>
                </a:solidFill>
                <a:latin typeface="Arial" pitchFamily="34" charset="0"/>
                <a:ea typeface="Arial" pitchFamily="34" charset="-122"/>
                <a:cs typeface="Arial" pitchFamily="34" charset="-120"/>
              </a:rPr>
              <a:t>Separate behaviour: bus stops, waiting time, real size.</a:t>
            </a:r>
            <a:endParaRPr lang="en-US" sz="1250" dirty="0"/>
          </a:p>
        </p:txBody>
      </p:sp>
      <p:pic>
        <p:nvPicPr>
          <p:cNvPr id="24" name="tricky card" descr="preencoded.png">    </p:cNvPr>
          <p:cNvPicPr>
            <a:picLocks noChangeAspect="1"/>
          </p:cNvPicPr>
          <p:nvPr/>
        </p:nvPicPr>
        <p:blipFill>
          <a:blip r:embed="rId13"/>
          <a:stretch>
            <a:fillRect/>
          </a:stretch>
        </p:blipFill>
        <p:spPr>
          <a:xfrm>
            <a:off x="4041648" y="3575304"/>
            <a:ext cx="4105656" cy="2505456"/>
          </a:xfrm>
          <a:prstGeom prst="rect">
            <a:avLst/>
          </a:prstGeom>
        </p:spPr>
      </p:pic>
      <p:pic>
        <p:nvPicPr>
          <p:cNvPr id="25" name="icon blob" descr="preencoded.png">    </p:cNvPr>
          <p:cNvPicPr>
            <a:picLocks noChangeAspect="1"/>
          </p:cNvPicPr>
          <p:nvPr/>
        </p:nvPicPr>
        <p:blipFill>
          <a:blip r:embed="rId14"/>
          <a:stretch>
            <a:fillRect/>
          </a:stretch>
        </p:blipFill>
        <p:spPr>
          <a:xfrm>
            <a:off x="4270248" y="3803904"/>
            <a:ext cx="1271016" cy="1271016"/>
          </a:xfrm>
          <a:prstGeom prst="rect">
            <a:avLst/>
          </a:prstGeom>
        </p:spPr>
      </p:pic>
      <p:pic>
        <p:nvPicPr>
          <p:cNvPr id="26" name="icon FaCow" descr="preencoded.png">    </p:cNvPr>
          <p:cNvPicPr>
            <a:picLocks noChangeAspect="1"/>
          </p:cNvPicPr>
          <p:nvPr/>
        </p:nvPicPr>
        <p:blipFill>
          <a:blip r:embed="rId15"/>
          <a:stretch>
            <a:fillRect/>
          </a:stretch>
        </p:blipFill>
        <p:spPr>
          <a:xfrm>
            <a:off x="4734306" y="4267962"/>
            <a:ext cx="342900" cy="342900"/>
          </a:xfrm>
          <a:prstGeom prst="rect">
            <a:avLst/>
          </a:prstGeom>
        </p:spPr>
      </p:pic>
      <p:sp>
        <p:nvSpPr>
          <p:cNvPr id="27" name="Text 10"/>
          <p:cNvSpPr txBox="1"/>
          <p:nvPr/>
        </p:nvSpPr>
        <p:spPr>
          <a:xfrm>
            <a:off x="5385816" y="4096512"/>
            <a:ext cx="2286000" cy="731520"/>
          </a:xfrm>
          <a:prstGeom prst="rect">
            <a:avLst/>
          </a:prstGeom>
          <a:noFill/>
          <a:ln/>
        </p:spPr>
        <p:txBody>
          <a:bodyPr wrap="square" lIns="0" tIns="0" rIns="0" bIns="0" rtlCol="0" anchor="ctr"/>
          <a:lstStyle/>
          <a:p>
            <a:pPr indent="0" marL="0">
              <a:buNone/>
            </a:pPr>
            <a:r>
              <a:rPr lang="en-US" sz="1500" b="1" dirty="0">
                <a:solidFill>
                  <a:srgbClr val="2A2346"/>
                </a:solidFill>
                <a:latin typeface="Arial" pitchFamily="34" charset="0"/>
                <a:ea typeface="Arial" pitchFamily="34" charset="-122"/>
                <a:cs typeface="Arial" pitchFamily="34" charset="-120"/>
              </a:rPr>
              <a:t>Cows, breakdowns, digging</a:t>
            </a:r>
            <a:endParaRPr lang="en-US" sz="1500" dirty="0"/>
          </a:p>
        </p:txBody>
      </p:sp>
      <p:sp>
        <p:nvSpPr>
          <p:cNvPr id="28" name="Text 11"/>
          <p:cNvSpPr txBox="1"/>
          <p:nvPr/>
        </p:nvSpPr>
        <p:spPr>
          <a:xfrm>
            <a:off x="4562856" y="4965192"/>
            <a:ext cx="3063240" cy="731520"/>
          </a:xfrm>
          <a:prstGeom prst="rect">
            <a:avLst/>
          </a:prstGeom>
          <a:noFill/>
          <a:ln/>
        </p:spPr>
        <p:txBody>
          <a:bodyPr wrap="square" lIns="0" tIns="0" rIns="0" bIns="0" rtlCol="0" anchor="t"/>
          <a:lstStyle/>
          <a:p>
            <a:pPr indent="0" marL="0">
              <a:buNone/>
            </a:pPr>
            <a:r>
              <a:rPr lang="en-US" sz="1250" dirty="0">
                <a:solidFill>
                  <a:srgbClr val="2A2346"/>
                </a:solidFill>
                <a:latin typeface="Arial" pitchFamily="34" charset="0"/>
                <a:ea typeface="Arial" pitchFamily="34" charset="-122"/>
                <a:cs typeface="Arial" pitchFamily="34" charset="-120"/>
              </a:rPr>
              <a:t>Blockages taken from real incident records.</a:t>
            </a:r>
            <a:endParaRPr lang="en-US" sz="1250" dirty="0"/>
          </a:p>
        </p:txBody>
      </p:sp>
      <p:pic>
        <p:nvPicPr>
          <p:cNvPr id="29" name="tricky card" descr="preencoded.png">    </p:cNvPr>
          <p:cNvPicPr>
            <a:picLocks noChangeAspect="1"/>
          </p:cNvPicPr>
          <p:nvPr/>
        </p:nvPicPr>
        <p:blipFill>
          <a:blip r:embed="rId16"/>
          <a:stretch>
            <a:fillRect/>
          </a:stretch>
        </p:blipFill>
        <p:spPr>
          <a:xfrm>
            <a:off x="7827264" y="3575304"/>
            <a:ext cx="4105656" cy="2505456"/>
          </a:xfrm>
          <a:prstGeom prst="rect">
            <a:avLst/>
          </a:prstGeom>
        </p:spPr>
      </p:pic>
      <p:pic>
        <p:nvPicPr>
          <p:cNvPr id="30" name="icon blob" descr="preencoded.png">    </p:cNvPr>
          <p:cNvPicPr>
            <a:picLocks noChangeAspect="1"/>
          </p:cNvPicPr>
          <p:nvPr/>
        </p:nvPicPr>
        <p:blipFill>
          <a:blip r:embed="rId17"/>
          <a:stretch>
            <a:fillRect/>
          </a:stretch>
        </p:blipFill>
        <p:spPr>
          <a:xfrm>
            <a:off x="8055864" y="3803904"/>
            <a:ext cx="1271016" cy="1271016"/>
          </a:xfrm>
          <a:prstGeom prst="rect">
            <a:avLst/>
          </a:prstGeom>
        </p:spPr>
      </p:pic>
      <p:pic>
        <p:nvPicPr>
          <p:cNvPr id="31" name="icon FaRoute" descr="preencoded.png">    </p:cNvPr>
          <p:cNvPicPr>
            <a:picLocks noChangeAspect="1"/>
          </p:cNvPicPr>
          <p:nvPr/>
        </p:nvPicPr>
        <p:blipFill>
          <a:blip r:embed="rId18"/>
          <a:stretch>
            <a:fillRect/>
          </a:stretch>
        </p:blipFill>
        <p:spPr>
          <a:xfrm>
            <a:off x="8519922" y="4267962"/>
            <a:ext cx="342900" cy="342900"/>
          </a:xfrm>
          <a:prstGeom prst="rect">
            <a:avLst/>
          </a:prstGeom>
        </p:spPr>
      </p:pic>
      <p:sp>
        <p:nvSpPr>
          <p:cNvPr id="32" name="Text 12"/>
          <p:cNvSpPr txBox="1"/>
          <p:nvPr/>
        </p:nvSpPr>
        <p:spPr>
          <a:xfrm>
            <a:off x="9171432" y="4096512"/>
            <a:ext cx="2286000" cy="731520"/>
          </a:xfrm>
          <a:prstGeom prst="rect">
            <a:avLst/>
          </a:prstGeom>
          <a:noFill/>
          <a:ln/>
        </p:spPr>
        <p:txBody>
          <a:bodyPr wrap="square" lIns="0" tIns="0" rIns="0" bIns="0" rtlCol="0" anchor="ctr"/>
          <a:lstStyle/>
          <a:p>
            <a:pPr indent="0" marL="0">
              <a:buNone/>
            </a:pPr>
            <a:r>
              <a:rPr lang="en-US" sz="1500" b="1" dirty="0">
                <a:solidFill>
                  <a:srgbClr val="2A2346"/>
                </a:solidFill>
                <a:latin typeface="Arial" pitchFamily="34" charset="0"/>
                <a:ea typeface="Arial" pitchFamily="34" charset="-122"/>
                <a:cs typeface="Arial" pitchFamily="34" charset="-120"/>
              </a:rPr>
              <a:t>Nobody counts turning traffic</a:t>
            </a:r>
            <a:endParaRPr lang="en-US" sz="1500" dirty="0"/>
          </a:p>
        </p:txBody>
      </p:sp>
      <p:sp>
        <p:nvSpPr>
          <p:cNvPr id="33" name="Text 13"/>
          <p:cNvSpPr txBox="1"/>
          <p:nvPr/>
        </p:nvSpPr>
        <p:spPr>
          <a:xfrm>
            <a:off x="8348472" y="4965192"/>
            <a:ext cx="3063240" cy="731520"/>
          </a:xfrm>
          <a:prstGeom prst="rect">
            <a:avLst/>
          </a:prstGeom>
          <a:noFill/>
          <a:ln/>
        </p:spPr>
        <p:txBody>
          <a:bodyPr wrap="square" lIns="0" tIns="0" rIns="0" bIns="0" rtlCol="0" anchor="t"/>
          <a:lstStyle/>
          <a:p>
            <a:pPr indent="0" marL="0">
              <a:buNone/>
            </a:pPr>
            <a:r>
              <a:rPr lang="en-US" sz="1250" dirty="0">
                <a:solidFill>
                  <a:srgbClr val="2A2346"/>
                </a:solidFill>
                <a:latin typeface="Arial" pitchFamily="34" charset="0"/>
                <a:ea typeface="Arial" pitchFamily="34" charset="-122"/>
                <a:cs typeface="Arial" pitchFamily="34" charset="-120"/>
              </a:rPr>
              <a:t>We try a range, and only trust what holds every time.</a:t>
            </a:r>
            <a:endParaRPr lang="en-US" sz="125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DATA</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The data behind Abhyas</a:t>
            </a:r>
            <a:endParaRPr lang="en-US" sz="3200" dirty="0"/>
          </a:p>
        </p:txBody>
      </p:sp>
      <p:pic>
        <p:nvPicPr>
          <p:cNvPr id="4" name="stat card" descr="preencoded.png">    </p:cNvPr>
          <p:cNvPicPr>
            <a:picLocks noChangeAspect="1"/>
          </p:cNvPicPr>
          <p:nvPr/>
        </p:nvPicPr>
        <p:blipFill>
          <a:blip r:embed="rId1"/>
          <a:stretch>
            <a:fillRect/>
          </a:stretch>
        </p:blipFill>
        <p:spPr>
          <a:xfrm>
            <a:off x="256032" y="1353312"/>
            <a:ext cx="4105656" cy="2551176"/>
          </a:xfrm>
          <a:prstGeom prst="rect">
            <a:avLst/>
          </a:prstGeom>
        </p:spPr>
      </p:pic>
      <p:sp>
        <p:nvSpPr>
          <p:cNvPr id="5" name="Text 2"/>
          <p:cNvSpPr txBox="1"/>
          <p:nvPr/>
        </p:nvSpPr>
        <p:spPr>
          <a:xfrm>
            <a:off x="822960" y="1828800"/>
            <a:ext cx="2971800" cy="777240"/>
          </a:xfrm>
          <a:prstGeom prst="rect">
            <a:avLst/>
          </a:prstGeom>
          <a:noFill/>
          <a:ln/>
        </p:spPr>
        <p:txBody>
          <a:bodyPr wrap="square" lIns="0" tIns="0" rIns="0" bIns="0" rtlCol="0" anchor="t"/>
          <a:lstStyle/>
          <a:p>
            <a:pPr indent="0" marL="0">
              <a:buNone/>
            </a:pPr>
            <a:r>
              <a:rPr lang="en-US" sz="4400" b="1" dirty="0">
                <a:solidFill>
                  <a:srgbClr val="2A2346"/>
                </a:solidFill>
                <a:latin typeface="Arial" pitchFamily="34" charset="0"/>
                <a:ea typeface="Arial" pitchFamily="34" charset="-122"/>
                <a:cs typeface="Arial" pitchFamily="34" charset="-120"/>
              </a:rPr>
              <a:t>9,900</a:t>
            </a:r>
            <a:endParaRPr lang="en-US" sz="4400" dirty="0"/>
          </a:p>
        </p:txBody>
      </p:sp>
      <p:sp>
        <p:nvSpPr>
          <p:cNvPr id="6" name="Text 3"/>
          <p:cNvSpPr txBox="1"/>
          <p:nvPr/>
        </p:nvSpPr>
        <p:spPr>
          <a:xfrm>
            <a:off x="822960" y="2651760"/>
            <a:ext cx="2971800" cy="822960"/>
          </a:xfrm>
          <a:prstGeom prst="rect">
            <a:avLst/>
          </a:prstGeom>
          <a:noFill/>
          <a:ln/>
        </p:spPr>
        <p:txBody>
          <a:bodyPr wrap="square" lIns="0" tIns="0" rIns="0" bIns="0" rtlCol="0" anchor="t"/>
          <a:lstStyle/>
          <a:p>
            <a:pPr indent="0" marL="0">
              <a:buNone/>
            </a:pPr>
            <a:r>
              <a:rPr lang="en-US" sz="1500" b="1" dirty="0">
                <a:solidFill>
                  <a:srgbClr val="2A2346"/>
                </a:solidFill>
                <a:latin typeface="Arial" pitchFamily="34" charset="0"/>
                <a:ea typeface="Arial" pitchFamily="34" charset="-122"/>
                <a:cs typeface="Arial" pitchFamily="34" charset="-120"/>
              </a:rPr>
              <a:t>TomTom travel-time readings</a:t>
            </a:r>
            <a:endParaRPr lang="en-US" sz="1500" dirty="0"/>
          </a:p>
          <a:p>
            <a:pPr indent="0" marL="0">
              <a:buNone/>
            </a:pPr>
            <a:r>
              <a:rPr lang="en-US" sz="1200" dirty="0">
                <a:solidFill>
                  <a:srgbClr val="5A5478"/>
                </a:solidFill>
                <a:latin typeface="Arial" pitchFamily="34" charset="0"/>
                <a:ea typeface="Arial" pitchFamily="34" charset="-122"/>
                <a:cs typeface="Arial" pitchFamily="34" charset="-120"/>
              </a:rPr>
              <a:t>collected 28 Aug – 5 Sep 2026</a:t>
            </a:r>
            <a:endParaRPr lang="en-US" sz="1500" dirty="0"/>
          </a:p>
        </p:txBody>
      </p:sp>
      <p:pic>
        <p:nvPicPr>
          <p:cNvPr id="7" name="stat card" descr="preencoded.png">    </p:cNvPr>
          <p:cNvPicPr>
            <a:picLocks noChangeAspect="1"/>
          </p:cNvPicPr>
          <p:nvPr/>
        </p:nvPicPr>
        <p:blipFill>
          <a:blip r:embed="rId2"/>
          <a:stretch>
            <a:fillRect/>
          </a:stretch>
        </p:blipFill>
        <p:spPr>
          <a:xfrm>
            <a:off x="4041648" y="1353312"/>
            <a:ext cx="4105656" cy="2551176"/>
          </a:xfrm>
          <a:prstGeom prst="rect">
            <a:avLst/>
          </a:prstGeom>
        </p:spPr>
      </p:pic>
      <p:sp>
        <p:nvSpPr>
          <p:cNvPr id="8" name="Text 4"/>
          <p:cNvSpPr txBox="1"/>
          <p:nvPr/>
        </p:nvSpPr>
        <p:spPr>
          <a:xfrm>
            <a:off x="4608576" y="1828800"/>
            <a:ext cx="2971800" cy="777240"/>
          </a:xfrm>
          <a:prstGeom prst="rect">
            <a:avLst/>
          </a:prstGeom>
          <a:noFill/>
          <a:ln/>
        </p:spPr>
        <p:txBody>
          <a:bodyPr wrap="square" lIns="0" tIns="0" rIns="0" bIns="0" rtlCol="0" anchor="t"/>
          <a:lstStyle/>
          <a:p>
            <a:pPr indent="0" marL="0">
              <a:buNone/>
            </a:pPr>
            <a:r>
              <a:rPr lang="en-US" sz="4400" b="1" dirty="0">
                <a:solidFill>
                  <a:srgbClr val="2A2346"/>
                </a:solidFill>
                <a:latin typeface="Arial" pitchFamily="34" charset="0"/>
                <a:ea typeface="Arial" pitchFamily="34" charset="-122"/>
                <a:cs typeface="Arial" pitchFamily="34" charset="-120"/>
              </a:rPr>
              <a:t>2,100</a:t>
            </a:r>
            <a:endParaRPr lang="en-US" sz="4400" dirty="0"/>
          </a:p>
        </p:txBody>
      </p:sp>
      <p:sp>
        <p:nvSpPr>
          <p:cNvPr id="9" name="Text 5"/>
          <p:cNvSpPr txBox="1"/>
          <p:nvPr/>
        </p:nvSpPr>
        <p:spPr>
          <a:xfrm>
            <a:off x="4608576" y="2651760"/>
            <a:ext cx="2971800" cy="822960"/>
          </a:xfrm>
          <a:prstGeom prst="rect">
            <a:avLst/>
          </a:prstGeom>
          <a:noFill/>
          <a:ln/>
        </p:spPr>
        <p:txBody>
          <a:bodyPr wrap="square" lIns="0" tIns="0" rIns="0" bIns="0" rtlCol="0" anchor="t"/>
          <a:lstStyle/>
          <a:p>
            <a:pPr indent="0" marL="0">
              <a:buNone/>
            </a:pPr>
            <a:r>
              <a:rPr lang="en-US" sz="1500" b="1" dirty="0">
                <a:solidFill>
                  <a:srgbClr val="2A2346"/>
                </a:solidFill>
                <a:latin typeface="Arial" pitchFamily="34" charset="0"/>
                <a:ea typeface="Arial" pitchFamily="34" charset="-122"/>
                <a:cs typeface="Arial" pitchFamily="34" charset="-120"/>
              </a:rPr>
              <a:t>incident records</a:t>
            </a:r>
            <a:endParaRPr lang="en-US" sz="1500" dirty="0"/>
          </a:p>
          <a:p>
            <a:pPr indent="0" marL="0">
              <a:buNone/>
            </a:pPr>
            <a:r>
              <a:rPr lang="en-US" sz="1200" dirty="0">
                <a:solidFill>
                  <a:srgbClr val="5A5478"/>
                </a:solidFill>
                <a:latin typeface="Arial" pitchFamily="34" charset="0"/>
                <a:ea typeface="Arial" pitchFamily="34" charset="-122"/>
                <a:cs typeface="Arial" pitchFamily="34" charset="-120"/>
              </a:rPr>
              <a:t>jams and road closures</a:t>
            </a:r>
            <a:endParaRPr lang="en-US" sz="1500" dirty="0"/>
          </a:p>
        </p:txBody>
      </p:sp>
      <p:pic>
        <p:nvPicPr>
          <p:cNvPr id="10" name="stat card" descr="preencoded.png">    </p:cNvPr>
          <p:cNvPicPr>
            <a:picLocks noChangeAspect="1"/>
          </p:cNvPicPr>
          <p:nvPr/>
        </p:nvPicPr>
        <p:blipFill>
          <a:blip r:embed="rId3"/>
          <a:stretch>
            <a:fillRect/>
          </a:stretch>
        </p:blipFill>
        <p:spPr>
          <a:xfrm>
            <a:off x="7827264" y="1353312"/>
            <a:ext cx="4105656" cy="2551176"/>
          </a:xfrm>
          <a:prstGeom prst="rect">
            <a:avLst/>
          </a:prstGeom>
        </p:spPr>
      </p:pic>
      <p:sp>
        <p:nvSpPr>
          <p:cNvPr id="11" name="Text 6"/>
          <p:cNvSpPr txBox="1"/>
          <p:nvPr/>
        </p:nvSpPr>
        <p:spPr>
          <a:xfrm>
            <a:off x="8394192" y="1828800"/>
            <a:ext cx="2971800" cy="777240"/>
          </a:xfrm>
          <a:prstGeom prst="rect">
            <a:avLst/>
          </a:prstGeom>
          <a:noFill/>
          <a:ln/>
        </p:spPr>
        <p:txBody>
          <a:bodyPr wrap="square" lIns="0" tIns="0" rIns="0" bIns="0" rtlCol="0" anchor="t"/>
          <a:lstStyle/>
          <a:p>
            <a:pPr indent="0" marL="0">
              <a:buNone/>
            </a:pPr>
            <a:r>
              <a:rPr lang="en-US" sz="4400" b="1" dirty="0">
                <a:solidFill>
                  <a:srgbClr val="2A2346"/>
                </a:solidFill>
                <a:latin typeface="Arial" pitchFamily="34" charset="0"/>
                <a:ea typeface="Arial" pitchFamily="34" charset="-122"/>
                <a:cs typeface="Arial" pitchFamily="34" charset="-120"/>
              </a:rPr>
              <a:t>3</a:t>
            </a:r>
            <a:endParaRPr lang="en-US" sz="4400" dirty="0"/>
          </a:p>
        </p:txBody>
      </p:sp>
      <p:sp>
        <p:nvSpPr>
          <p:cNvPr id="12" name="Text 7"/>
          <p:cNvSpPr txBox="1"/>
          <p:nvPr/>
        </p:nvSpPr>
        <p:spPr>
          <a:xfrm>
            <a:off x="8394192" y="2651760"/>
            <a:ext cx="2971800" cy="822960"/>
          </a:xfrm>
          <a:prstGeom prst="rect">
            <a:avLst/>
          </a:prstGeom>
          <a:noFill/>
          <a:ln/>
        </p:spPr>
        <p:txBody>
          <a:bodyPr wrap="square" lIns="0" tIns="0" rIns="0" bIns="0" rtlCol="0" anchor="t"/>
          <a:lstStyle/>
          <a:p>
            <a:pPr indent="0" marL="0">
              <a:buNone/>
            </a:pPr>
            <a:r>
              <a:rPr lang="en-US" sz="1500" b="1" dirty="0">
                <a:solidFill>
                  <a:srgbClr val="2A2346"/>
                </a:solidFill>
                <a:latin typeface="Arial" pitchFamily="34" charset="0"/>
                <a:ea typeface="Arial" pitchFamily="34" charset="-122"/>
                <a:cs typeface="Arial" pitchFamily="34" charset="-120"/>
              </a:rPr>
              <a:t>Bengaluru junctions</a:t>
            </a:r>
            <a:endParaRPr lang="en-US" sz="1500" dirty="0"/>
          </a:p>
          <a:p>
            <a:pPr indent="0" marL="0">
              <a:buNone/>
            </a:pPr>
            <a:r>
              <a:rPr lang="en-US" sz="1200" dirty="0">
                <a:solidFill>
                  <a:srgbClr val="5A5478"/>
                </a:solidFill>
                <a:latin typeface="Arial" pitchFamily="34" charset="0"/>
                <a:ea typeface="Arial" pitchFamily="34" charset="-122"/>
                <a:cs typeface="Arial" pitchFamily="34" charset="-120"/>
              </a:rPr>
              <a:t>Indiranagar CMH Road, Sony World, Ejipura</a:t>
            </a:r>
            <a:endParaRPr lang="en-US" sz="1500" dirty="0"/>
          </a:p>
        </p:txBody>
      </p:sp>
      <p:pic>
        <p:nvPicPr>
          <p:cNvPr id="13" name="stat card" descr="preencoded.png">    </p:cNvPr>
          <p:cNvPicPr>
            <a:picLocks noChangeAspect="1"/>
          </p:cNvPicPr>
          <p:nvPr/>
        </p:nvPicPr>
        <p:blipFill>
          <a:blip r:embed="rId4"/>
          <a:stretch>
            <a:fillRect/>
          </a:stretch>
        </p:blipFill>
        <p:spPr>
          <a:xfrm>
            <a:off x="256032" y="3621024"/>
            <a:ext cx="4105656" cy="2551176"/>
          </a:xfrm>
          <a:prstGeom prst="rect">
            <a:avLst/>
          </a:prstGeom>
        </p:spPr>
      </p:pic>
      <p:sp>
        <p:nvSpPr>
          <p:cNvPr id="14" name="Text 8"/>
          <p:cNvSpPr txBox="1"/>
          <p:nvPr/>
        </p:nvSpPr>
        <p:spPr>
          <a:xfrm>
            <a:off x="822960" y="4096512"/>
            <a:ext cx="2971800" cy="777240"/>
          </a:xfrm>
          <a:prstGeom prst="rect">
            <a:avLst/>
          </a:prstGeom>
          <a:noFill/>
          <a:ln/>
        </p:spPr>
        <p:txBody>
          <a:bodyPr wrap="square" lIns="0" tIns="0" rIns="0" bIns="0" rtlCol="0" anchor="t"/>
          <a:lstStyle/>
          <a:p>
            <a:pPr indent="0" marL="0">
              <a:buNone/>
            </a:pPr>
            <a:r>
              <a:rPr lang="en-US" sz="4400" b="1" dirty="0">
                <a:solidFill>
                  <a:srgbClr val="2A2346"/>
                </a:solidFill>
                <a:latin typeface="Arial" pitchFamily="34" charset="0"/>
                <a:ea typeface="Arial" pitchFamily="34" charset="-122"/>
                <a:cs typeface="Arial" pitchFamily="34" charset="-120"/>
              </a:rPr>
              <a:t>12</a:t>
            </a:r>
            <a:endParaRPr lang="en-US" sz="4400" dirty="0"/>
          </a:p>
        </p:txBody>
      </p:sp>
      <p:sp>
        <p:nvSpPr>
          <p:cNvPr id="15" name="Text 9"/>
          <p:cNvSpPr txBox="1"/>
          <p:nvPr/>
        </p:nvSpPr>
        <p:spPr>
          <a:xfrm>
            <a:off x="822960" y="4919472"/>
            <a:ext cx="2971800" cy="822960"/>
          </a:xfrm>
          <a:prstGeom prst="rect">
            <a:avLst/>
          </a:prstGeom>
          <a:noFill/>
          <a:ln/>
        </p:spPr>
        <p:txBody>
          <a:bodyPr wrap="square" lIns="0" tIns="0" rIns="0" bIns="0" rtlCol="0" anchor="t"/>
          <a:lstStyle/>
          <a:p>
            <a:pPr indent="0" marL="0">
              <a:buNone/>
            </a:pPr>
            <a:r>
              <a:rPr lang="en-US" sz="1500" b="1" dirty="0">
                <a:solidFill>
                  <a:srgbClr val="2A2346"/>
                </a:solidFill>
                <a:latin typeface="Arial" pitchFamily="34" charset="0"/>
                <a:ea typeface="Arial" pitchFamily="34" charset="-122"/>
                <a:cs typeface="Arial" pitchFamily="34" charset="-120"/>
              </a:rPr>
              <a:t>routes through the junction</a:t>
            </a:r>
            <a:endParaRPr lang="en-US" sz="1500" dirty="0"/>
          </a:p>
          <a:p>
            <a:pPr indent="0" marL="0">
              <a:buNone/>
            </a:pPr>
            <a:r>
              <a:rPr lang="en-US" sz="1200" dirty="0">
                <a:solidFill>
                  <a:srgbClr val="5A5478"/>
                </a:solidFill>
                <a:latin typeface="Arial" pitchFamily="34" charset="0"/>
                <a:ea typeface="Arial" pitchFamily="34" charset="-122"/>
                <a:cs typeface="Arial" pitchFamily="34" charset="-120"/>
              </a:rPr>
              <a:t>each one checked against real data</a:t>
            </a:r>
            <a:endParaRPr lang="en-US" sz="1500" dirty="0"/>
          </a:p>
        </p:txBody>
      </p:sp>
      <p:pic>
        <p:nvPicPr>
          <p:cNvPr id="16" name="stat card" descr="preencoded.png">    </p:cNvPr>
          <p:cNvPicPr>
            <a:picLocks noChangeAspect="1"/>
          </p:cNvPicPr>
          <p:nvPr/>
        </p:nvPicPr>
        <p:blipFill>
          <a:blip r:embed="rId5"/>
          <a:stretch>
            <a:fillRect/>
          </a:stretch>
        </p:blipFill>
        <p:spPr>
          <a:xfrm>
            <a:off x="4041648" y="3621024"/>
            <a:ext cx="4105656" cy="2551176"/>
          </a:xfrm>
          <a:prstGeom prst="rect">
            <a:avLst/>
          </a:prstGeom>
        </p:spPr>
      </p:pic>
      <p:sp>
        <p:nvSpPr>
          <p:cNvPr id="17" name="Text 10"/>
          <p:cNvSpPr txBox="1"/>
          <p:nvPr/>
        </p:nvSpPr>
        <p:spPr>
          <a:xfrm>
            <a:off x="4608576" y="4096512"/>
            <a:ext cx="2971800" cy="777240"/>
          </a:xfrm>
          <a:prstGeom prst="rect">
            <a:avLst/>
          </a:prstGeom>
          <a:noFill/>
          <a:ln/>
        </p:spPr>
        <p:txBody>
          <a:bodyPr wrap="square" lIns="0" tIns="0" rIns="0" bIns="0" rtlCol="0" anchor="t"/>
          <a:lstStyle/>
          <a:p>
            <a:pPr indent="0" marL="0">
              <a:buNone/>
            </a:pPr>
            <a:r>
              <a:rPr lang="en-US" sz="4400" b="1" dirty="0">
                <a:solidFill>
                  <a:srgbClr val="2A2346"/>
                </a:solidFill>
                <a:latin typeface="Arial" pitchFamily="34" charset="0"/>
                <a:ea typeface="Arial" pitchFamily="34" charset="-122"/>
                <a:cs typeface="Arial" pitchFamily="34" charset="-120"/>
              </a:rPr>
              <a:t>208</a:t>
            </a:r>
            <a:endParaRPr lang="en-US" sz="4400" dirty="0"/>
          </a:p>
        </p:txBody>
      </p:sp>
      <p:sp>
        <p:nvSpPr>
          <p:cNvPr id="18" name="Text 11"/>
          <p:cNvSpPr txBox="1"/>
          <p:nvPr/>
        </p:nvSpPr>
        <p:spPr>
          <a:xfrm>
            <a:off x="4608576" y="4919472"/>
            <a:ext cx="2971800" cy="822960"/>
          </a:xfrm>
          <a:prstGeom prst="rect">
            <a:avLst/>
          </a:prstGeom>
          <a:noFill/>
          <a:ln/>
        </p:spPr>
        <p:txBody>
          <a:bodyPr wrap="square" lIns="0" tIns="0" rIns="0" bIns="0" rtlCol="0" anchor="t"/>
          <a:lstStyle/>
          <a:p>
            <a:pPr indent="0" marL="0">
              <a:buNone/>
            </a:pPr>
            <a:r>
              <a:rPr lang="en-US" sz="1500" b="1" dirty="0">
                <a:solidFill>
                  <a:srgbClr val="2A2346"/>
                </a:solidFill>
                <a:latin typeface="Arial" pitchFamily="34" charset="0"/>
                <a:ea typeface="Arial" pitchFamily="34" charset="-122"/>
                <a:cs typeface="Arial" pitchFamily="34" charset="-120"/>
              </a:rPr>
              <a:t>simulation runs</a:t>
            </a:r>
            <a:endParaRPr lang="en-US" sz="1500" dirty="0"/>
          </a:p>
          <a:p>
            <a:pPr indent="0" marL="0">
              <a:buNone/>
            </a:pPr>
            <a:r>
              <a:rPr lang="en-US" sz="1200" dirty="0">
                <a:solidFill>
                  <a:srgbClr val="5A5478"/>
                </a:solidFill>
                <a:latin typeface="Arial" pitchFamily="34" charset="0"/>
                <a:ea typeface="Arial" pitchFamily="34" charset="-122"/>
                <a:cs typeface="Arial" pitchFamily="34" charset="-120"/>
              </a:rPr>
              <a:t>in one full check, 40 random seeds</a:t>
            </a:r>
            <a:endParaRPr lang="en-US" sz="1500" dirty="0"/>
          </a:p>
        </p:txBody>
      </p:sp>
      <p:pic>
        <p:nvPicPr>
          <p:cNvPr id="19" name="stat card" descr="preencoded.png">    </p:cNvPr>
          <p:cNvPicPr>
            <a:picLocks noChangeAspect="1"/>
          </p:cNvPicPr>
          <p:nvPr/>
        </p:nvPicPr>
        <p:blipFill>
          <a:blip r:embed="rId6"/>
          <a:stretch>
            <a:fillRect/>
          </a:stretch>
        </p:blipFill>
        <p:spPr>
          <a:xfrm>
            <a:off x="7827264" y="3621024"/>
            <a:ext cx="4105656" cy="2551176"/>
          </a:xfrm>
          <a:prstGeom prst="rect">
            <a:avLst/>
          </a:prstGeom>
        </p:spPr>
      </p:pic>
      <p:sp>
        <p:nvSpPr>
          <p:cNvPr id="20" name="Text 12"/>
          <p:cNvSpPr txBox="1"/>
          <p:nvPr/>
        </p:nvSpPr>
        <p:spPr>
          <a:xfrm>
            <a:off x="8394192" y="4096512"/>
            <a:ext cx="2971800" cy="777240"/>
          </a:xfrm>
          <a:prstGeom prst="rect">
            <a:avLst/>
          </a:prstGeom>
          <a:noFill/>
          <a:ln/>
        </p:spPr>
        <p:txBody>
          <a:bodyPr wrap="square" lIns="0" tIns="0" rIns="0" bIns="0" rtlCol="0" anchor="t"/>
          <a:lstStyle/>
          <a:p>
            <a:pPr indent="0" marL="0">
              <a:buNone/>
            </a:pPr>
            <a:r>
              <a:rPr lang="en-US" sz="4400" b="1" dirty="0">
                <a:solidFill>
                  <a:srgbClr val="B8402A"/>
                </a:solidFill>
                <a:latin typeface="Arial" pitchFamily="34" charset="0"/>
                <a:ea typeface="Arial" pitchFamily="34" charset="-122"/>
                <a:cs typeface="Arial" pitchFamily="34" charset="-120"/>
              </a:rPr>
              <a:t>5</a:t>
            </a:r>
            <a:endParaRPr lang="en-US" sz="4400" dirty="0"/>
          </a:p>
        </p:txBody>
      </p:sp>
      <p:sp>
        <p:nvSpPr>
          <p:cNvPr id="21" name="Text 13"/>
          <p:cNvSpPr txBox="1"/>
          <p:nvPr/>
        </p:nvSpPr>
        <p:spPr>
          <a:xfrm>
            <a:off x="8394192" y="4919472"/>
            <a:ext cx="2971800" cy="822960"/>
          </a:xfrm>
          <a:prstGeom prst="rect">
            <a:avLst/>
          </a:prstGeom>
          <a:noFill/>
          <a:ln/>
        </p:spPr>
        <p:txBody>
          <a:bodyPr wrap="square" lIns="0" tIns="0" rIns="0" bIns="0" rtlCol="0" anchor="t"/>
          <a:lstStyle/>
          <a:p>
            <a:pPr indent="0" marL="0">
              <a:buNone/>
            </a:pPr>
            <a:r>
              <a:rPr lang="en-US" sz="1500" b="1" dirty="0">
                <a:solidFill>
                  <a:srgbClr val="2A2346"/>
                </a:solidFill>
                <a:latin typeface="Arial" pitchFamily="34" charset="0"/>
                <a:ea typeface="Arial" pitchFamily="34" charset="-122"/>
                <a:cs typeface="Arial" pitchFamily="34" charset="-120"/>
              </a:rPr>
              <a:t>mistakes in the map</a:t>
            </a:r>
            <a:endParaRPr lang="en-US" sz="1500" dirty="0"/>
          </a:p>
          <a:p>
            <a:pPr indent="0" marL="0">
              <a:buNone/>
            </a:pPr>
            <a:r>
              <a:rPr lang="en-US" sz="1200" dirty="0">
                <a:solidFill>
                  <a:srgbClr val="5A5478"/>
                </a:solidFill>
                <a:latin typeface="Arial" pitchFamily="34" charset="0"/>
                <a:ea typeface="Arial" pitchFamily="34" charset="-122"/>
                <a:cs typeface="Arial" pitchFamily="34" charset="-120"/>
              </a:rPr>
              <a:t>found in OpenStreetMap, fixed and written down</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ACCURACY</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How accurate is the model?</a:t>
            </a:r>
            <a:endParaRPr lang="en-US" sz="3200" dirty="0"/>
          </a:p>
        </p:txBody>
      </p:sp>
      <p:pic>
        <p:nvPicPr>
          <p:cNvPr id="4" name="result card" descr="preencoded.png">    </p:cNvPr>
          <p:cNvPicPr>
            <a:picLocks noChangeAspect="1"/>
          </p:cNvPicPr>
          <p:nvPr/>
        </p:nvPicPr>
        <p:blipFill>
          <a:blip r:embed="rId1"/>
          <a:stretch>
            <a:fillRect/>
          </a:stretch>
        </p:blipFill>
        <p:spPr>
          <a:xfrm>
            <a:off x="256032" y="1399032"/>
            <a:ext cx="4517136" cy="4745736"/>
          </a:xfrm>
          <a:prstGeom prst="rect">
            <a:avLst/>
          </a:prstGeom>
        </p:spPr>
      </p:pic>
      <p:sp>
        <p:nvSpPr>
          <p:cNvPr id="5" name="Text 2"/>
          <p:cNvSpPr txBox="1"/>
          <p:nvPr/>
        </p:nvSpPr>
        <p:spPr>
          <a:xfrm>
            <a:off x="822960" y="2057400"/>
            <a:ext cx="3383280" cy="1097280"/>
          </a:xfrm>
          <a:prstGeom prst="rect">
            <a:avLst/>
          </a:prstGeom>
          <a:noFill/>
          <a:ln/>
        </p:spPr>
        <p:txBody>
          <a:bodyPr wrap="square" lIns="0" tIns="0" rIns="0" bIns="0" rtlCol="0" anchor="t"/>
          <a:lstStyle/>
          <a:p>
            <a:pPr indent="0" marL="0">
              <a:buNone/>
            </a:pPr>
            <a:r>
              <a:rPr lang="en-US" sz="6000" b="1" dirty="0">
                <a:solidFill>
                  <a:srgbClr val="2A2346"/>
                </a:solidFill>
                <a:latin typeface="Arial" pitchFamily="34" charset="0"/>
                <a:ea typeface="Arial" pitchFamily="34" charset="-122"/>
                <a:cs typeface="Arial" pitchFamily="34" charset="-120"/>
              </a:rPr>
              <a:t>10 of 12</a:t>
            </a:r>
            <a:endParaRPr lang="en-US" sz="6000" dirty="0"/>
          </a:p>
        </p:txBody>
      </p:sp>
      <p:sp>
        <p:nvSpPr>
          <p:cNvPr id="6" name="Text 3"/>
          <p:cNvSpPr txBox="1"/>
          <p:nvPr/>
        </p:nvSpPr>
        <p:spPr>
          <a:xfrm>
            <a:off x="822960" y="3246120"/>
            <a:ext cx="3383280" cy="914400"/>
          </a:xfrm>
          <a:prstGeom prst="rect">
            <a:avLst/>
          </a:prstGeom>
          <a:noFill/>
          <a:ln/>
        </p:spPr>
        <p:txBody>
          <a:bodyPr wrap="square" lIns="0" tIns="0" rIns="0" bIns="0" rtlCol="0" anchor="t"/>
          <a:lstStyle/>
          <a:p>
            <a:pPr indent="0" marL="0">
              <a:buNone/>
            </a:pPr>
            <a:r>
              <a:rPr lang="en-US" sz="1800" b="1" dirty="0">
                <a:solidFill>
                  <a:srgbClr val="2A2346"/>
                </a:solidFill>
                <a:latin typeface="Arial" pitchFamily="34" charset="0"/>
                <a:ea typeface="Arial" pitchFamily="34" charset="-122"/>
                <a:cs typeface="Arial" pitchFamily="34" charset="-120"/>
              </a:rPr>
              <a:t>routes came within ±15% of the real travel time</a:t>
            </a:r>
            <a:endParaRPr lang="en-US" sz="1800" dirty="0"/>
          </a:p>
        </p:txBody>
      </p:sp>
      <p:sp>
        <p:nvSpPr>
          <p:cNvPr id="7" name="Text 4"/>
          <p:cNvSpPr txBox="1"/>
          <p:nvPr/>
        </p:nvSpPr>
        <p:spPr>
          <a:xfrm>
            <a:off x="822960" y="4343400"/>
            <a:ext cx="3383280" cy="731520"/>
          </a:xfrm>
          <a:prstGeom prst="rect">
            <a:avLst/>
          </a:prstGeom>
          <a:noFill/>
          <a:ln/>
        </p:spPr>
        <p:txBody>
          <a:bodyPr wrap="square" lIns="0" tIns="0" rIns="0" bIns="0" rtlCol="0" anchor="t"/>
          <a:lstStyle/>
          <a:p>
            <a:pPr indent="0" marL="0">
              <a:buNone/>
            </a:pPr>
            <a:r>
              <a:rPr lang="en-US" sz="1200" dirty="0">
                <a:solidFill>
                  <a:srgbClr val="5A5478"/>
                </a:solidFill>
                <a:latin typeface="Arial" pitchFamily="34" charset="0"/>
                <a:ea typeface="Arial" pitchFamily="34" charset="-122"/>
                <a:cs typeface="Arial" pitchFamily="34" charset="-120"/>
              </a:rPr>
              <a:t>Weekend 9–10 pm slot, Indiranagar, median of 40 runs</a:t>
            </a:r>
            <a:endParaRPr lang="en-US" sz="1200" dirty="0"/>
          </a:p>
        </p:txBody>
      </p:sp>
      <p:pic>
        <p:nvPicPr>
          <p:cNvPr id="8" name="check card" descr="preencoded.png">    </p:cNvPr>
          <p:cNvPicPr>
            <a:picLocks noChangeAspect="1"/>
          </p:cNvPicPr>
          <p:nvPr/>
        </p:nvPicPr>
        <p:blipFill>
          <a:blip r:embed="rId2"/>
          <a:stretch>
            <a:fillRect/>
          </a:stretch>
        </p:blipFill>
        <p:spPr>
          <a:xfrm>
            <a:off x="4553712" y="1399032"/>
            <a:ext cx="7379208" cy="1773936"/>
          </a:xfrm>
          <a:prstGeom prst="rect">
            <a:avLst/>
          </a:prstGeom>
        </p:spPr>
      </p:pic>
      <p:pic>
        <p:nvPicPr>
          <p:cNvPr id="9" name="icon blob" descr="preencoded.png">    </p:cNvPr>
          <p:cNvPicPr>
            <a:picLocks noChangeAspect="1"/>
          </p:cNvPicPr>
          <p:nvPr/>
        </p:nvPicPr>
        <p:blipFill>
          <a:blip r:embed="rId3"/>
          <a:stretch>
            <a:fillRect/>
          </a:stretch>
        </p:blipFill>
        <p:spPr>
          <a:xfrm>
            <a:off x="4782312" y="1627632"/>
            <a:ext cx="1316736" cy="1316736"/>
          </a:xfrm>
          <a:prstGeom prst="rect">
            <a:avLst/>
          </a:prstGeom>
        </p:spPr>
      </p:pic>
      <p:pic>
        <p:nvPicPr>
          <p:cNvPr id="10" name="icon FaFlask" descr="preencoded.png">    </p:cNvPr>
          <p:cNvPicPr>
            <a:picLocks noChangeAspect="1"/>
          </p:cNvPicPr>
          <p:nvPr/>
        </p:nvPicPr>
        <p:blipFill>
          <a:blip r:embed="rId4"/>
          <a:stretch>
            <a:fillRect/>
          </a:stretch>
        </p:blipFill>
        <p:spPr>
          <a:xfrm>
            <a:off x="5257800" y="2103120"/>
            <a:ext cx="365760" cy="365760"/>
          </a:xfrm>
          <a:prstGeom prst="rect">
            <a:avLst/>
          </a:prstGeom>
        </p:spPr>
      </p:pic>
      <p:sp>
        <p:nvSpPr>
          <p:cNvPr id="11" name="Text 5"/>
          <p:cNvSpPr txBox="1"/>
          <p:nvPr/>
        </p:nvSpPr>
        <p:spPr>
          <a:xfrm>
            <a:off x="6035040" y="1856232"/>
            <a:ext cx="5376672" cy="914400"/>
          </a:xfrm>
          <a:prstGeom prst="rect">
            <a:avLst/>
          </a:prstGeom>
          <a:noFill/>
          <a:ln/>
        </p:spPr>
        <p:txBody>
          <a:bodyPr wrap="square" lIns="0" tIns="0" rIns="0" bIns="0" rtlCol="0" anchor="t"/>
          <a:lstStyle/>
          <a:p>
            <a:pPr indent="0" marL="0">
              <a:buNone/>
            </a:pPr>
            <a:r>
              <a:rPr lang="en-US" sz="1600" b="1" dirty="0">
                <a:solidFill>
                  <a:srgbClr val="2A2346"/>
                </a:solidFill>
                <a:latin typeface="Arial" pitchFamily="34" charset="0"/>
                <a:ea typeface="Arial" pitchFamily="34" charset="-122"/>
                <a:cs typeface="Arial" pitchFamily="34" charset="-120"/>
              </a:rPr>
              <a:t>Tested on unseen routes</a:t>
            </a:r>
            <a:endParaRPr lang="en-US" sz="1600" dirty="0"/>
          </a:p>
          <a:p>
            <a:pPr indent="0" marL="0">
              <a:buNone/>
            </a:pPr>
            <a:r>
              <a:rPr lang="en-US" sz="1250" dirty="0">
                <a:solidFill>
                  <a:srgbClr val="2A2346"/>
                </a:solidFill>
                <a:latin typeface="Arial" pitchFamily="34" charset="0"/>
                <a:ea typeface="Arial" pitchFamily="34" charset="-122"/>
                <a:cs typeface="Arial" pitchFamily="34" charset="-120"/>
              </a:rPr>
              <a:t>We tuned only one number (traffic volume) on 4 straight routes. Then tested on 8 turning routes it never saw: 7 of 8 passed.</a:t>
            </a:r>
            <a:endParaRPr lang="en-US" sz="1600" dirty="0"/>
          </a:p>
        </p:txBody>
      </p:sp>
      <p:pic>
        <p:nvPicPr>
          <p:cNvPr id="12" name="check card" descr="preencoded.png">    </p:cNvPr>
          <p:cNvPicPr>
            <a:picLocks noChangeAspect="1"/>
          </p:cNvPicPr>
          <p:nvPr/>
        </p:nvPicPr>
        <p:blipFill>
          <a:blip r:embed="rId5"/>
          <a:stretch>
            <a:fillRect/>
          </a:stretch>
        </p:blipFill>
        <p:spPr>
          <a:xfrm>
            <a:off x="4553712" y="2816352"/>
            <a:ext cx="7379208" cy="1773936"/>
          </a:xfrm>
          <a:prstGeom prst="rect">
            <a:avLst/>
          </a:prstGeom>
        </p:spPr>
      </p:pic>
      <p:pic>
        <p:nvPicPr>
          <p:cNvPr id="13" name="icon blob" descr="preencoded.png">    </p:cNvPr>
          <p:cNvPicPr>
            <a:picLocks noChangeAspect="1"/>
          </p:cNvPicPr>
          <p:nvPr/>
        </p:nvPicPr>
        <p:blipFill>
          <a:blip r:embed="rId6"/>
          <a:stretch>
            <a:fillRect/>
          </a:stretch>
        </p:blipFill>
        <p:spPr>
          <a:xfrm>
            <a:off x="4782312" y="3044952"/>
            <a:ext cx="1316736" cy="1316736"/>
          </a:xfrm>
          <a:prstGeom prst="rect">
            <a:avLst/>
          </a:prstGeom>
        </p:spPr>
      </p:pic>
      <p:pic>
        <p:nvPicPr>
          <p:cNvPr id="14" name="icon FaScaleBalanced" descr="preencoded.png">    </p:cNvPr>
          <p:cNvPicPr>
            <a:picLocks noChangeAspect="1"/>
          </p:cNvPicPr>
          <p:nvPr/>
        </p:nvPicPr>
        <p:blipFill>
          <a:blip r:embed="rId7"/>
          <a:stretch>
            <a:fillRect/>
          </a:stretch>
        </p:blipFill>
        <p:spPr>
          <a:xfrm>
            <a:off x="5257800" y="3520440"/>
            <a:ext cx="365760" cy="365760"/>
          </a:xfrm>
          <a:prstGeom prst="rect">
            <a:avLst/>
          </a:prstGeom>
        </p:spPr>
      </p:pic>
      <p:sp>
        <p:nvSpPr>
          <p:cNvPr id="15" name="Text 6"/>
          <p:cNvSpPr txBox="1"/>
          <p:nvPr/>
        </p:nvSpPr>
        <p:spPr>
          <a:xfrm>
            <a:off x="6035040" y="3273552"/>
            <a:ext cx="5376672" cy="914400"/>
          </a:xfrm>
          <a:prstGeom prst="rect">
            <a:avLst/>
          </a:prstGeom>
          <a:noFill/>
          <a:ln/>
        </p:spPr>
        <p:txBody>
          <a:bodyPr wrap="square" lIns="0" tIns="0" rIns="0" bIns="0" rtlCol="0" anchor="t"/>
          <a:lstStyle/>
          <a:p>
            <a:pPr indent="0" marL="0">
              <a:buNone/>
            </a:pPr>
            <a:r>
              <a:rPr lang="en-US" sz="1600" b="1" dirty="0">
                <a:solidFill>
                  <a:srgbClr val="2A2346"/>
                </a:solidFill>
                <a:latin typeface="Arial" pitchFamily="34" charset="0"/>
                <a:ea typeface="Arial" pitchFamily="34" charset="-122"/>
                <a:cs typeface="Arial" pitchFamily="34" charset="-120"/>
              </a:rPr>
              <a:t>Holds up when assumptions change</a:t>
            </a:r>
            <a:endParaRPr lang="en-US" sz="1600" dirty="0"/>
          </a:p>
          <a:p>
            <a:pPr indent="0" marL="0">
              <a:buNone/>
            </a:pPr>
            <a:r>
              <a:rPr lang="en-US" sz="1250" dirty="0">
                <a:solidFill>
                  <a:srgbClr val="2A2346"/>
                </a:solidFill>
                <a:latin typeface="Arial" pitchFamily="34" charset="0"/>
                <a:ea typeface="Arial" pitchFamily="34" charset="-122"/>
                <a:cs typeface="Arial" pitchFamily="34" charset="-120"/>
              </a:rPr>
              <a:t>Nobody counts turning traffic, so we tried a range. 9 of 12 results stay the same either way.</a:t>
            </a:r>
            <a:endParaRPr lang="en-US" sz="1600" dirty="0"/>
          </a:p>
        </p:txBody>
      </p:sp>
      <p:pic>
        <p:nvPicPr>
          <p:cNvPr id="16" name="check card" descr="preencoded.png">    </p:cNvPr>
          <p:cNvPicPr>
            <a:picLocks noChangeAspect="1"/>
          </p:cNvPicPr>
          <p:nvPr/>
        </p:nvPicPr>
        <p:blipFill>
          <a:blip r:embed="rId8"/>
          <a:stretch>
            <a:fillRect/>
          </a:stretch>
        </p:blipFill>
        <p:spPr>
          <a:xfrm>
            <a:off x="4553712" y="4233672"/>
            <a:ext cx="7379208" cy="1773936"/>
          </a:xfrm>
          <a:prstGeom prst="rect">
            <a:avLst/>
          </a:prstGeom>
        </p:spPr>
      </p:pic>
      <p:pic>
        <p:nvPicPr>
          <p:cNvPr id="17" name="icon blob" descr="preencoded.png">    </p:cNvPr>
          <p:cNvPicPr>
            <a:picLocks noChangeAspect="1"/>
          </p:cNvPicPr>
          <p:nvPr/>
        </p:nvPicPr>
        <p:blipFill>
          <a:blip r:embed="rId9"/>
          <a:stretch>
            <a:fillRect/>
          </a:stretch>
        </p:blipFill>
        <p:spPr>
          <a:xfrm>
            <a:off x="4782312" y="4462272"/>
            <a:ext cx="1316736" cy="1316736"/>
          </a:xfrm>
          <a:prstGeom prst="rect">
            <a:avLst/>
          </a:prstGeom>
        </p:spPr>
      </p:pic>
      <p:pic>
        <p:nvPicPr>
          <p:cNvPr id="18" name="icon FaTriangleExclamation" descr="preencoded.png">    </p:cNvPr>
          <p:cNvPicPr>
            <a:picLocks noChangeAspect="1"/>
          </p:cNvPicPr>
          <p:nvPr/>
        </p:nvPicPr>
        <p:blipFill>
          <a:blip r:embed="rId10"/>
          <a:stretch>
            <a:fillRect/>
          </a:stretch>
        </p:blipFill>
        <p:spPr>
          <a:xfrm>
            <a:off x="5257800" y="4937760"/>
            <a:ext cx="365760" cy="365760"/>
          </a:xfrm>
          <a:prstGeom prst="rect">
            <a:avLst/>
          </a:prstGeom>
        </p:spPr>
      </p:pic>
      <p:sp>
        <p:nvSpPr>
          <p:cNvPr id="19" name="Text 7"/>
          <p:cNvSpPr txBox="1"/>
          <p:nvPr/>
        </p:nvSpPr>
        <p:spPr>
          <a:xfrm>
            <a:off x="6035040" y="4690872"/>
            <a:ext cx="5376672" cy="914400"/>
          </a:xfrm>
          <a:prstGeom prst="rect">
            <a:avLst/>
          </a:prstGeom>
          <a:noFill/>
          <a:ln/>
        </p:spPr>
        <p:txBody>
          <a:bodyPr wrap="square" lIns="0" tIns="0" rIns="0" bIns="0" rtlCol="0" anchor="t"/>
          <a:lstStyle/>
          <a:p>
            <a:pPr indent="0" marL="0">
              <a:buNone/>
            </a:pPr>
            <a:r>
              <a:rPr lang="en-US" sz="1600" b="1" dirty="0">
                <a:solidFill>
                  <a:srgbClr val="2A2346"/>
                </a:solidFill>
                <a:latin typeface="Arial" pitchFamily="34" charset="0"/>
                <a:ea typeface="Arial" pitchFamily="34" charset="-122"/>
                <a:cs typeface="Arial" pitchFamily="34" charset="-120"/>
              </a:rPr>
              <a:t>Where it is off</a:t>
            </a:r>
            <a:endParaRPr lang="en-US" sz="1600" dirty="0"/>
          </a:p>
          <a:p>
            <a:pPr indent="0" marL="0">
              <a:buNone/>
            </a:pPr>
            <a:r>
              <a:rPr lang="en-US" sz="1250" dirty="0">
                <a:solidFill>
                  <a:srgbClr val="2A2346"/>
                </a:solidFill>
                <a:latin typeface="Arial" pitchFamily="34" charset="0"/>
                <a:ea typeface="Arial" pitchFamily="34" charset="-122"/>
                <a:cs typeface="Arial" pitchFamily="34" charset="-120"/>
              </a:rPr>
              <a:t>West→East is 18% too slow. East→North is 24% too fast. Both are flagged in the results.</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TRUST</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Every answer comes with an honesty tag</a:t>
            </a:r>
            <a:endParaRPr lang="en-US" sz="3200" dirty="0"/>
          </a:p>
        </p:txBody>
      </p:sp>
      <p:pic>
        <p:nvPicPr>
          <p:cNvPr id="4" name="tag" descr="preencoded.png">    </p:cNvPr>
          <p:cNvPicPr>
            <a:picLocks noChangeAspect="1"/>
          </p:cNvPicPr>
          <p:nvPr/>
        </p:nvPicPr>
        <p:blipFill>
          <a:blip r:embed="rId1"/>
          <a:stretch>
            <a:fillRect/>
          </a:stretch>
        </p:blipFill>
        <p:spPr>
          <a:xfrm>
            <a:off x="256032" y="1399032"/>
            <a:ext cx="2962656" cy="1728216"/>
          </a:xfrm>
          <a:prstGeom prst="rect">
            <a:avLst/>
          </a:prstGeom>
        </p:spPr>
      </p:pic>
      <p:sp>
        <p:nvSpPr>
          <p:cNvPr id="5" name="Text 2"/>
          <p:cNvSpPr txBox="1"/>
          <p:nvPr/>
        </p:nvSpPr>
        <p:spPr>
          <a:xfrm>
            <a:off x="548640" y="1691640"/>
            <a:ext cx="2377440" cy="1143000"/>
          </a:xfrm>
          <a:prstGeom prst="rect">
            <a:avLst/>
          </a:prstGeom>
          <a:noFill/>
          <a:ln/>
        </p:spPr>
        <p:txBody>
          <a:bodyPr wrap="square" lIns="0" tIns="0" rIns="0" bIns="0" rtlCol="0" anchor="ctr"/>
          <a:lstStyle/>
          <a:p>
            <a:pPr algn="ctr" indent="0" marL="0">
              <a:buNone/>
            </a:pPr>
            <a:r>
              <a:rPr lang="en-US" sz="2000" b="1" dirty="0">
                <a:solidFill>
                  <a:srgbClr val="2A2346"/>
                </a:solidFill>
                <a:latin typeface="Arial" pitchFamily="34" charset="0"/>
                <a:ea typeface="Arial" pitchFamily="34" charset="-122"/>
                <a:cs typeface="Arial" pitchFamily="34" charset="-120"/>
              </a:rPr>
              <a:t>SURE</a:t>
            </a:r>
            <a:endParaRPr lang="en-US" sz="2000" dirty="0"/>
          </a:p>
        </p:txBody>
      </p:sp>
      <p:sp>
        <p:nvSpPr>
          <p:cNvPr id="6" name="Text 3"/>
          <p:cNvSpPr txBox="1"/>
          <p:nvPr/>
        </p:nvSpPr>
        <p:spPr>
          <a:xfrm>
            <a:off x="3200400" y="1691640"/>
            <a:ext cx="3566160" cy="1143000"/>
          </a:xfrm>
          <a:prstGeom prst="rect">
            <a:avLst/>
          </a:prstGeom>
          <a:noFill/>
          <a:ln/>
        </p:spPr>
        <p:txBody>
          <a:bodyPr wrap="square" lIns="0" tIns="0" rIns="0" bIns="0" rtlCol="0" anchor="ctr"/>
          <a:lstStyle/>
          <a:p>
            <a:pPr indent="0" marL="0">
              <a:buNone/>
            </a:pPr>
            <a:r>
              <a:rPr lang="en-US" sz="1500" dirty="0">
                <a:solidFill>
                  <a:srgbClr val="2A2346"/>
                </a:solidFill>
                <a:latin typeface="Arial" pitchFamily="34" charset="0"/>
                <a:ea typeface="Arial" pitchFamily="34" charset="-122"/>
                <a:cs typeface="Arial" pitchFamily="34" charset="-120"/>
              </a:rPr>
              <a:t>Matches real travel times on this road. You can quote it.</a:t>
            </a:r>
            <a:endParaRPr lang="en-US" sz="1500" dirty="0"/>
          </a:p>
        </p:txBody>
      </p:sp>
      <p:pic>
        <p:nvPicPr>
          <p:cNvPr id="7" name="tag" descr="preencoded.png">    </p:cNvPr>
          <p:cNvPicPr>
            <a:picLocks noChangeAspect="1"/>
          </p:cNvPicPr>
          <p:nvPr/>
        </p:nvPicPr>
        <p:blipFill>
          <a:blip r:embed="rId2"/>
          <a:stretch>
            <a:fillRect/>
          </a:stretch>
        </p:blipFill>
        <p:spPr>
          <a:xfrm>
            <a:off x="256032" y="2816352"/>
            <a:ext cx="2962656" cy="1728216"/>
          </a:xfrm>
          <a:prstGeom prst="rect">
            <a:avLst/>
          </a:prstGeom>
        </p:spPr>
      </p:pic>
      <p:sp>
        <p:nvSpPr>
          <p:cNvPr id="8" name="Text 4"/>
          <p:cNvSpPr txBox="1"/>
          <p:nvPr/>
        </p:nvSpPr>
        <p:spPr>
          <a:xfrm>
            <a:off x="548640" y="3108960"/>
            <a:ext cx="2377440" cy="1143000"/>
          </a:xfrm>
          <a:prstGeom prst="rect">
            <a:avLst/>
          </a:prstGeom>
          <a:noFill/>
          <a:ln/>
        </p:spPr>
        <p:txBody>
          <a:bodyPr wrap="square" lIns="0" tIns="0" rIns="0" bIns="0" rtlCol="0" anchor="ctr"/>
          <a:lstStyle/>
          <a:p>
            <a:pPr algn="ctr" indent="0" marL="0">
              <a:buNone/>
            </a:pPr>
            <a:r>
              <a:rPr lang="en-US" sz="2000" b="1" dirty="0">
                <a:solidFill>
                  <a:srgbClr val="2A2346"/>
                </a:solidFill>
                <a:latin typeface="Arial" pitchFamily="34" charset="0"/>
                <a:ea typeface="Arial" pitchFamily="34" charset="-122"/>
                <a:cs typeface="Arial" pitchFamily="34" charset="-120"/>
              </a:rPr>
              <a:t>ROUGH IDEA</a:t>
            </a:r>
            <a:endParaRPr lang="en-US" sz="2000" dirty="0"/>
          </a:p>
        </p:txBody>
      </p:sp>
      <p:sp>
        <p:nvSpPr>
          <p:cNvPr id="9" name="Text 5"/>
          <p:cNvSpPr txBox="1"/>
          <p:nvPr/>
        </p:nvSpPr>
        <p:spPr>
          <a:xfrm>
            <a:off x="3200400" y="3108960"/>
            <a:ext cx="3566160" cy="1143000"/>
          </a:xfrm>
          <a:prstGeom prst="rect">
            <a:avLst/>
          </a:prstGeom>
          <a:noFill/>
          <a:ln/>
        </p:spPr>
        <p:txBody>
          <a:bodyPr wrap="square" lIns="0" tIns="0" rIns="0" bIns="0" rtlCol="0" anchor="ctr"/>
          <a:lstStyle/>
          <a:p>
            <a:pPr indent="0" marL="0">
              <a:buNone/>
            </a:pPr>
            <a:r>
              <a:rPr lang="en-US" sz="1500" dirty="0">
                <a:solidFill>
                  <a:srgbClr val="2A2346"/>
                </a:solidFill>
                <a:latin typeface="Arial" pitchFamily="34" charset="0"/>
                <a:ea typeface="Arial" pitchFamily="34" charset="-122"/>
                <a:cs typeface="Arial" pitchFamily="34" charset="-120"/>
              </a:rPr>
              <a:t>Based on our guesses. Good to compare options, don't quote the number.</a:t>
            </a:r>
            <a:endParaRPr lang="en-US" sz="1500" dirty="0"/>
          </a:p>
        </p:txBody>
      </p:sp>
      <p:pic>
        <p:nvPicPr>
          <p:cNvPr id="10" name="tag" descr="preencoded.png">    </p:cNvPr>
          <p:cNvPicPr>
            <a:picLocks noChangeAspect="1"/>
          </p:cNvPicPr>
          <p:nvPr/>
        </p:nvPicPr>
        <p:blipFill>
          <a:blip r:embed="rId3"/>
          <a:stretch>
            <a:fillRect/>
          </a:stretch>
        </p:blipFill>
        <p:spPr>
          <a:xfrm>
            <a:off x="256032" y="4233672"/>
            <a:ext cx="2962656" cy="1728216"/>
          </a:xfrm>
          <a:prstGeom prst="rect">
            <a:avLst/>
          </a:prstGeom>
        </p:spPr>
      </p:pic>
      <p:sp>
        <p:nvSpPr>
          <p:cNvPr id="11" name="Text 6"/>
          <p:cNvSpPr txBox="1"/>
          <p:nvPr/>
        </p:nvSpPr>
        <p:spPr>
          <a:xfrm>
            <a:off x="548640" y="4526280"/>
            <a:ext cx="2377440" cy="1143000"/>
          </a:xfrm>
          <a:prstGeom prst="rect">
            <a:avLst/>
          </a:prstGeom>
          <a:noFill/>
          <a:ln/>
        </p:spPr>
        <p:txBody>
          <a:bodyPr wrap="square" lIns="0" tIns="0" rIns="0" bIns="0" rtlCol="0" anchor="ctr"/>
          <a:lstStyle/>
          <a:p>
            <a:pPr algn="ctr" indent="0" marL="0">
              <a:buNone/>
            </a:pPr>
            <a:r>
              <a:rPr lang="en-US" sz="2000" b="1" dirty="0">
                <a:solidFill>
                  <a:srgbClr val="2A2346"/>
                </a:solidFill>
                <a:latin typeface="Arial" pitchFamily="34" charset="0"/>
                <a:ea typeface="Arial" pitchFamily="34" charset="-122"/>
                <a:cs typeface="Arial" pitchFamily="34" charset="-120"/>
              </a:rPr>
              <a:t>CAN'T SAY</a:t>
            </a:r>
            <a:endParaRPr lang="en-US" sz="2000" dirty="0"/>
          </a:p>
        </p:txBody>
      </p:sp>
      <p:sp>
        <p:nvSpPr>
          <p:cNvPr id="12" name="Text 7"/>
          <p:cNvSpPr txBox="1"/>
          <p:nvPr/>
        </p:nvSpPr>
        <p:spPr>
          <a:xfrm>
            <a:off x="3200400" y="4526280"/>
            <a:ext cx="3566160" cy="1143000"/>
          </a:xfrm>
          <a:prstGeom prst="rect">
            <a:avLst/>
          </a:prstGeom>
          <a:noFill/>
          <a:ln/>
        </p:spPr>
        <p:txBody>
          <a:bodyPr wrap="square" lIns="0" tIns="0" rIns="0" bIns="0" rtlCol="0" anchor="ctr"/>
          <a:lstStyle/>
          <a:p>
            <a:pPr indent="0" marL="0">
              <a:buNone/>
            </a:pPr>
            <a:r>
              <a:rPr lang="en-US" sz="1500" dirty="0">
                <a:solidFill>
                  <a:srgbClr val="2A2346"/>
                </a:solidFill>
                <a:latin typeface="Arial" pitchFamily="34" charset="0"/>
                <a:ea typeface="Arial" pitchFamily="34" charset="-122"/>
                <a:cs typeface="Arial" pitchFamily="34" charset="-120"/>
              </a:rPr>
              <a:t>Data is not enough. Abhyas will tell you that straight.</a:t>
            </a:r>
            <a:endParaRPr lang="en-US" sz="1500" dirty="0"/>
          </a:p>
        </p:txBody>
      </p:sp>
      <p:pic>
        <p:nvPicPr>
          <p:cNvPr id="13" name="checkers card" descr="preencoded.png">    </p:cNvPr>
          <p:cNvPicPr>
            <a:picLocks noChangeAspect="1"/>
          </p:cNvPicPr>
          <p:nvPr/>
        </p:nvPicPr>
        <p:blipFill>
          <a:blip r:embed="rId4"/>
          <a:stretch>
            <a:fillRect/>
          </a:stretch>
        </p:blipFill>
        <p:spPr>
          <a:xfrm>
            <a:off x="6839712" y="1399032"/>
            <a:ext cx="5093208" cy="4745736"/>
          </a:xfrm>
          <a:prstGeom prst="rect">
            <a:avLst/>
          </a:prstGeom>
        </p:spPr>
      </p:pic>
      <p:sp>
        <p:nvSpPr>
          <p:cNvPr id="14" name="Text 8"/>
          <p:cNvSpPr txBox="1"/>
          <p:nvPr/>
        </p:nvSpPr>
        <p:spPr>
          <a:xfrm>
            <a:off x="7452360" y="1920240"/>
            <a:ext cx="3931920" cy="365760"/>
          </a:xfrm>
          <a:prstGeom prst="rect">
            <a:avLst/>
          </a:prstGeom>
          <a:noFill/>
          <a:ln/>
        </p:spPr>
        <p:txBody>
          <a:bodyPr wrap="square" lIns="0" tIns="0" rIns="0" bIns="0" rtlCol="0" anchor="t"/>
          <a:lstStyle/>
          <a:p>
            <a:pPr indent="0" marL="0">
              <a:buNone/>
            </a:pPr>
            <a:r>
              <a:rPr lang="en-US" sz="1500" b="1" dirty="0">
                <a:solidFill>
                  <a:srgbClr val="B8402A"/>
                </a:solidFill>
                <a:latin typeface="Arial" pitchFamily="34" charset="0"/>
                <a:ea typeface="Arial" pitchFamily="34" charset="-122"/>
                <a:cs typeface="Arial" pitchFamily="34" charset="-120"/>
              </a:rPr>
              <a:t>7 checkers behind every answer</a:t>
            </a:r>
            <a:endParaRPr lang="en-US" sz="1500" dirty="0"/>
          </a:p>
        </p:txBody>
      </p:sp>
      <p:sp>
        <p:nvSpPr>
          <p:cNvPr id="15" name="Text 9"/>
          <p:cNvSpPr txBox="1"/>
          <p:nvPr/>
        </p:nvSpPr>
        <p:spPr>
          <a:xfrm>
            <a:off x="7452360" y="2423160"/>
            <a:ext cx="3977640" cy="3291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A2346"/>
                </a:solidFill>
                <a:latin typeface="Arial" pitchFamily="34" charset="0"/>
                <a:ea typeface="Arial" pitchFamily="34" charset="-122"/>
                <a:cs typeface="Arial" pitchFamily="34" charset="-120"/>
              </a:rPr>
              <a:t>Is the data good enough to check against?</a:t>
            </a:r>
            <a:endParaRPr lang="en-US" sz="1300" dirty="0"/>
          </a:p>
          <a:p>
            <a:pPr marL="342900" indent="-342900">
              <a:spcAft>
                <a:spcPts val="600"/>
              </a:spcAft>
              <a:buSzPct val="100000"/>
              <a:buChar char="•"/>
            </a:pPr>
            <a:r>
              <a:rPr lang="en-US" sz="1300" dirty="0">
                <a:solidFill>
                  <a:srgbClr val="2A2346"/>
                </a:solidFill>
                <a:latin typeface="Arial" pitchFamily="34" charset="0"/>
                <a:ea typeface="Arial" pitchFamily="34" charset="-122"/>
                <a:cs typeface="Arial" pitchFamily="34" charset="-120"/>
              </a:rPr>
              <a:t>Tune traffic volume to match real times</a:t>
            </a:r>
            <a:endParaRPr lang="en-US" sz="1300" dirty="0"/>
          </a:p>
          <a:p>
            <a:pPr marL="342900" indent="-342900">
              <a:spcAft>
                <a:spcPts val="600"/>
              </a:spcAft>
              <a:buSzPct val="100000"/>
              <a:buChar char="•"/>
            </a:pPr>
            <a:r>
              <a:rPr lang="en-US" sz="1300" dirty="0">
                <a:solidFill>
                  <a:srgbClr val="2A2346"/>
                </a:solidFill>
                <a:latin typeface="Arial" pitchFamily="34" charset="0"/>
                <a:ea typeface="Arial" pitchFamily="34" charset="-122"/>
                <a:cs typeface="Arial" pitchFamily="34" charset="-120"/>
              </a:rPr>
              <a:t>Compare all 12 routes, one by one</a:t>
            </a:r>
            <a:endParaRPr lang="en-US" sz="1300" dirty="0"/>
          </a:p>
          <a:p>
            <a:pPr marL="342900" indent="-342900">
              <a:spcAft>
                <a:spcPts val="600"/>
              </a:spcAft>
              <a:buSzPct val="100000"/>
              <a:buChar char="•"/>
            </a:pPr>
            <a:r>
              <a:rPr lang="en-US" sz="1300" dirty="0">
                <a:solidFill>
                  <a:srgbClr val="2A2346"/>
                </a:solidFill>
                <a:latin typeface="Arial" pitchFamily="34" charset="0"/>
                <a:ea typeface="Arial" pitchFamily="34" charset="-122"/>
                <a:cs typeface="Arial" pitchFamily="34" charset="-120"/>
              </a:rPr>
              <a:t>Is the slow direction right?</a:t>
            </a:r>
            <a:endParaRPr lang="en-US" sz="1300" dirty="0"/>
          </a:p>
          <a:p>
            <a:pPr marL="342900" indent="-342900">
              <a:spcAft>
                <a:spcPts val="600"/>
              </a:spcAft>
              <a:buSzPct val="100000"/>
              <a:buChar char="•"/>
            </a:pPr>
            <a:r>
              <a:rPr lang="en-US" sz="1300" dirty="0">
                <a:solidFill>
                  <a:srgbClr val="2A2346"/>
                </a:solidFill>
                <a:latin typeface="Arial" pitchFamily="34" charset="0"/>
                <a:ea typeface="Arial" pitchFamily="34" charset="-122"/>
                <a:cs typeface="Arial" pitchFamily="34" charset="-120"/>
              </a:rPr>
              <a:t>How wrong would one single run be?</a:t>
            </a:r>
            <a:endParaRPr lang="en-US" sz="1300" dirty="0"/>
          </a:p>
          <a:p>
            <a:pPr marL="342900" indent="-342900">
              <a:spcAft>
                <a:spcPts val="600"/>
              </a:spcAft>
              <a:buSzPct val="100000"/>
              <a:buChar char="•"/>
            </a:pPr>
            <a:r>
              <a:rPr lang="en-US" sz="1300" dirty="0">
                <a:solidFill>
                  <a:srgbClr val="2A2346"/>
                </a:solidFill>
                <a:latin typeface="Arial" pitchFamily="34" charset="0"/>
                <a:ea typeface="Arial" pitchFamily="34" charset="-122"/>
                <a:cs typeface="Arial" pitchFamily="34" charset="-120"/>
              </a:rPr>
              <a:t>Do results survive when guesses change?</a:t>
            </a:r>
            <a:endParaRPr lang="en-US" sz="1300" dirty="0"/>
          </a:p>
          <a:p>
            <a:pPr marL="342900" indent="-342900">
              <a:spcAft>
                <a:spcPts val="600"/>
              </a:spcAft>
              <a:buSzPct val="100000"/>
              <a:buChar char="•"/>
            </a:pPr>
            <a:r>
              <a:rPr lang="en-US" sz="1300" dirty="0">
                <a:solidFill>
                  <a:srgbClr val="2A2346"/>
                </a:solidFill>
                <a:latin typeface="Arial" pitchFamily="34" charset="0"/>
                <a:ea typeface="Arial" pitchFamily="34" charset="-122"/>
                <a:cs typeface="Arial" pitchFamily="34" charset="-120"/>
              </a:rPr>
              <a:t>Which signal plan does the data support?</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SCALE</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One junction → full city, checked at every step</a:t>
            </a:r>
            <a:endParaRPr lang="en-US" sz="3200" dirty="0"/>
          </a:p>
        </p:txBody>
      </p:sp>
      <p:pic>
        <p:nvPicPr>
          <p:cNvPr id="4" name="scale card" descr="preencoded.png">    </p:cNvPr>
          <p:cNvPicPr>
            <a:picLocks noChangeAspect="1"/>
          </p:cNvPicPr>
          <p:nvPr/>
        </p:nvPicPr>
        <p:blipFill>
          <a:blip r:embed="rId1"/>
          <a:stretch>
            <a:fillRect/>
          </a:stretch>
        </p:blipFill>
        <p:spPr>
          <a:xfrm>
            <a:off x="256032" y="1490472"/>
            <a:ext cx="3099816" cy="3877056"/>
          </a:xfrm>
          <a:prstGeom prst="rect">
            <a:avLst/>
          </a:prstGeom>
        </p:spPr>
      </p:pic>
      <p:sp>
        <p:nvSpPr>
          <p:cNvPr id="5" name="Text 2"/>
          <p:cNvSpPr txBox="1"/>
          <p:nvPr/>
        </p:nvSpPr>
        <p:spPr>
          <a:xfrm>
            <a:off x="777240" y="2057400"/>
            <a:ext cx="2057400" cy="457200"/>
          </a:xfrm>
          <a:prstGeom prst="rect">
            <a:avLst/>
          </a:prstGeom>
          <a:noFill/>
          <a:ln/>
        </p:spPr>
        <p:txBody>
          <a:bodyPr wrap="square" lIns="0" tIns="0" rIns="0" bIns="0" rtlCol="0" anchor="t"/>
          <a:lstStyle/>
          <a:p>
            <a:pPr indent="0" marL="0">
              <a:buNone/>
            </a:pPr>
            <a:r>
              <a:rPr lang="en-US" sz="2200" b="1" dirty="0">
                <a:solidFill>
                  <a:srgbClr val="2A2346"/>
                </a:solidFill>
                <a:latin typeface="Arial" pitchFamily="34" charset="0"/>
                <a:ea typeface="Arial" pitchFamily="34" charset="-122"/>
                <a:cs typeface="Arial" pitchFamily="34" charset="-120"/>
              </a:rPr>
              <a:t>Junction</a:t>
            </a:r>
            <a:endParaRPr lang="en-US" sz="2200" dirty="0"/>
          </a:p>
        </p:txBody>
      </p:sp>
      <p:sp>
        <p:nvSpPr>
          <p:cNvPr id="6" name="Text 3"/>
          <p:cNvSpPr txBox="1"/>
          <p:nvPr/>
        </p:nvSpPr>
        <p:spPr>
          <a:xfrm>
            <a:off x="777240" y="2651760"/>
            <a:ext cx="2057400" cy="914400"/>
          </a:xfrm>
          <a:prstGeom prst="rect">
            <a:avLst/>
          </a:prstGeom>
          <a:noFill/>
          <a:ln/>
        </p:spPr>
        <p:txBody>
          <a:bodyPr wrap="square" lIns="0" tIns="0" rIns="0" bIns="0" rtlCol="0" anchor="t"/>
          <a:lstStyle/>
          <a:p>
            <a:pPr indent="0" marL="0">
              <a:buNone/>
            </a:pPr>
            <a:r>
              <a:rPr lang="en-US" sz="1400" b="1" dirty="0">
                <a:solidFill>
                  <a:srgbClr val="2A2346"/>
                </a:solidFill>
                <a:latin typeface="Arial" pitchFamily="34" charset="0"/>
                <a:ea typeface="Arial" pitchFamily="34" charset="-122"/>
                <a:cs typeface="Arial" pitchFamily="34" charset="-120"/>
              </a:rPr>
              <a:t>Indiranagar, CMH Road × 100 Feet Road</a:t>
            </a:r>
            <a:endParaRPr lang="en-US" sz="1400" dirty="0"/>
          </a:p>
        </p:txBody>
      </p:sp>
      <p:sp>
        <p:nvSpPr>
          <p:cNvPr id="7" name="Text 4"/>
          <p:cNvSpPr txBox="1"/>
          <p:nvPr/>
        </p:nvSpPr>
        <p:spPr>
          <a:xfrm>
            <a:off x="777240" y="3657600"/>
            <a:ext cx="2057400" cy="914400"/>
          </a:xfrm>
          <a:prstGeom prst="rect">
            <a:avLst/>
          </a:prstGeom>
          <a:noFill/>
          <a:ln/>
        </p:spPr>
        <p:txBody>
          <a:bodyPr wrap="square" lIns="0" tIns="0" rIns="0" bIns="0" rtlCol="0" anchor="t"/>
          <a:lstStyle/>
          <a:p>
            <a:pPr indent="0" marL="0">
              <a:buNone/>
            </a:pPr>
            <a:r>
              <a:rPr lang="en-US" sz="1250" dirty="0">
                <a:solidFill>
                  <a:srgbClr val="5A5478"/>
                </a:solidFill>
                <a:latin typeface="Arial" pitchFamily="34" charset="0"/>
                <a:ea typeface="Arial" pitchFamily="34" charset="-122"/>
                <a:cs typeface="Arial" pitchFamily="34" charset="-120"/>
              </a:rPr>
              <a:t>Checked with: TomTom times on 12 routes</a:t>
            </a:r>
            <a:endParaRPr lang="en-US" sz="1250" dirty="0"/>
          </a:p>
        </p:txBody>
      </p:sp>
      <p:pic>
        <p:nvPicPr>
          <p:cNvPr id="8" name="done pill" descr="preencoded.png">    </p:cNvPr>
          <p:cNvPicPr>
            <a:picLocks noChangeAspect="1"/>
          </p:cNvPicPr>
          <p:nvPr/>
        </p:nvPicPr>
        <p:blipFill>
          <a:blip r:embed="rId2"/>
          <a:stretch>
            <a:fillRect/>
          </a:stretch>
        </p:blipFill>
        <p:spPr>
          <a:xfrm>
            <a:off x="484632" y="4233672"/>
            <a:ext cx="2139696" cy="932688"/>
          </a:xfrm>
          <a:prstGeom prst="rect">
            <a:avLst/>
          </a:prstGeom>
        </p:spPr>
      </p:pic>
      <p:sp>
        <p:nvSpPr>
          <p:cNvPr id="9" name="Text 5"/>
          <p:cNvSpPr txBox="1"/>
          <p:nvPr/>
        </p:nvSpPr>
        <p:spPr>
          <a:xfrm>
            <a:off x="777240" y="4526280"/>
            <a:ext cx="1554480" cy="347472"/>
          </a:xfrm>
          <a:prstGeom prst="rect">
            <a:avLst/>
          </a:prstGeom>
          <a:noFill/>
          <a:ln/>
        </p:spPr>
        <p:txBody>
          <a:bodyPr wrap="square" lIns="0" tIns="0" rIns="0" bIns="0" rtlCol="0" anchor="ctr"/>
          <a:lstStyle/>
          <a:p>
            <a:pPr algn="ctr" indent="0" marL="0">
              <a:buNone/>
            </a:pPr>
            <a:r>
              <a:rPr lang="en-US" sz="1100" b="1" dirty="0">
                <a:solidFill>
                  <a:srgbClr val="2E7D55"/>
                </a:solidFill>
                <a:latin typeface="Arial" pitchFamily="34" charset="0"/>
                <a:ea typeface="Arial" pitchFamily="34" charset="-122"/>
                <a:cs typeface="Arial" pitchFamily="34" charset="-120"/>
              </a:rPr>
              <a:t>Working today</a:t>
            </a:r>
            <a:endParaRPr lang="en-US" sz="1100" dirty="0"/>
          </a:p>
        </p:txBody>
      </p:sp>
      <p:pic>
        <p:nvPicPr>
          <p:cNvPr id="10" name="arrow" descr="preencoded.png">    </p:cNvPr>
          <p:cNvPicPr>
            <a:picLocks noChangeAspect="1"/>
          </p:cNvPicPr>
          <p:nvPr/>
        </p:nvPicPr>
        <p:blipFill>
          <a:blip r:embed="rId3"/>
          <a:stretch>
            <a:fillRect/>
          </a:stretch>
        </p:blipFill>
        <p:spPr>
          <a:xfrm>
            <a:off x="3127248" y="3319272"/>
            <a:ext cx="219456" cy="219456"/>
          </a:xfrm>
          <a:prstGeom prst="rect">
            <a:avLst/>
          </a:prstGeom>
        </p:spPr>
      </p:pic>
      <p:pic>
        <p:nvPicPr>
          <p:cNvPr id="11" name="scale card" descr="preencoded.png">    </p:cNvPr>
          <p:cNvPicPr>
            <a:picLocks noChangeAspect="1"/>
          </p:cNvPicPr>
          <p:nvPr/>
        </p:nvPicPr>
        <p:blipFill>
          <a:blip r:embed="rId4"/>
          <a:stretch>
            <a:fillRect/>
          </a:stretch>
        </p:blipFill>
        <p:spPr>
          <a:xfrm>
            <a:off x="3108960" y="1490472"/>
            <a:ext cx="3099816" cy="3877056"/>
          </a:xfrm>
          <a:prstGeom prst="rect">
            <a:avLst/>
          </a:prstGeom>
        </p:spPr>
      </p:pic>
      <p:sp>
        <p:nvSpPr>
          <p:cNvPr id="12" name="Text 6"/>
          <p:cNvSpPr txBox="1"/>
          <p:nvPr/>
        </p:nvSpPr>
        <p:spPr>
          <a:xfrm>
            <a:off x="3630168" y="2057400"/>
            <a:ext cx="2057400" cy="457200"/>
          </a:xfrm>
          <a:prstGeom prst="rect">
            <a:avLst/>
          </a:prstGeom>
          <a:noFill/>
          <a:ln/>
        </p:spPr>
        <p:txBody>
          <a:bodyPr wrap="square" lIns="0" tIns="0" rIns="0" bIns="0" rtlCol="0" anchor="t"/>
          <a:lstStyle/>
          <a:p>
            <a:pPr indent="0" marL="0">
              <a:buNone/>
            </a:pPr>
            <a:r>
              <a:rPr lang="en-US" sz="2200" b="1" dirty="0">
                <a:solidFill>
                  <a:srgbClr val="2A2346"/>
                </a:solidFill>
                <a:latin typeface="Arial" pitchFamily="34" charset="0"/>
                <a:ea typeface="Arial" pitchFamily="34" charset="-122"/>
                <a:cs typeface="Arial" pitchFamily="34" charset="-120"/>
              </a:rPr>
              <a:t>Road</a:t>
            </a:r>
            <a:endParaRPr lang="en-US" sz="2200" dirty="0"/>
          </a:p>
        </p:txBody>
      </p:sp>
      <p:sp>
        <p:nvSpPr>
          <p:cNvPr id="13" name="Text 7"/>
          <p:cNvSpPr txBox="1"/>
          <p:nvPr/>
        </p:nvSpPr>
        <p:spPr>
          <a:xfrm>
            <a:off x="3630168" y="2651760"/>
            <a:ext cx="2057400" cy="914400"/>
          </a:xfrm>
          <a:prstGeom prst="rect">
            <a:avLst/>
          </a:prstGeom>
          <a:noFill/>
          <a:ln/>
        </p:spPr>
        <p:txBody>
          <a:bodyPr wrap="square" lIns="0" tIns="0" rIns="0" bIns="0" rtlCol="0" anchor="t"/>
          <a:lstStyle/>
          <a:p>
            <a:pPr indent="0" marL="0">
              <a:buNone/>
            </a:pPr>
            <a:r>
              <a:rPr lang="en-US" sz="1400" b="1" dirty="0">
                <a:solidFill>
                  <a:srgbClr val="2A2346"/>
                </a:solidFill>
                <a:latin typeface="Arial" pitchFamily="34" charset="0"/>
                <a:ea typeface="Arial" pitchFamily="34" charset="-122"/>
                <a:cs typeface="Arial" pitchFamily="34" charset="-120"/>
              </a:rPr>
              <a:t>ORR, Silk Board to KR Puram</a:t>
            </a:r>
            <a:endParaRPr lang="en-US" sz="1400" dirty="0"/>
          </a:p>
        </p:txBody>
      </p:sp>
      <p:sp>
        <p:nvSpPr>
          <p:cNvPr id="14" name="Text 8"/>
          <p:cNvSpPr txBox="1"/>
          <p:nvPr/>
        </p:nvSpPr>
        <p:spPr>
          <a:xfrm>
            <a:off x="3630168" y="3657600"/>
            <a:ext cx="2057400" cy="914400"/>
          </a:xfrm>
          <a:prstGeom prst="rect">
            <a:avLst/>
          </a:prstGeom>
          <a:noFill/>
          <a:ln/>
        </p:spPr>
        <p:txBody>
          <a:bodyPr wrap="square" lIns="0" tIns="0" rIns="0" bIns="0" rtlCol="0" anchor="t"/>
          <a:lstStyle/>
          <a:p>
            <a:pPr indent="0" marL="0">
              <a:buNone/>
            </a:pPr>
            <a:r>
              <a:rPr lang="en-US" sz="1250" dirty="0">
                <a:solidFill>
                  <a:srgbClr val="5A5478"/>
                </a:solidFill>
                <a:latin typeface="Arial" pitchFamily="34" charset="0"/>
                <a:ea typeface="Arial" pitchFamily="34" charset="-122"/>
                <a:cs typeface="Arial" pitchFamily="34" charset="-120"/>
              </a:rPr>
              <a:t>Checked with: bus speeds on the existing ORR bus lane</a:t>
            </a:r>
            <a:endParaRPr lang="en-US" sz="1250" dirty="0"/>
          </a:p>
        </p:txBody>
      </p:sp>
      <p:pic>
        <p:nvPicPr>
          <p:cNvPr id="15" name="arrow" descr="preencoded.png">    </p:cNvPr>
          <p:cNvPicPr>
            <a:picLocks noChangeAspect="1"/>
          </p:cNvPicPr>
          <p:nvPr/>
        </p:nvPicPr>
        <p:blipFill>
          <a:blip r:embed="rId5"/>
          <a:stretch>
            <a:fillRect/>
          </a:stretch>
        </p:blipFill>
        <p:spPr>
          <a:xfrm>
            <a:off x="5980176" y="3319272"/>
            <a:ext cx="219456" cy="219456"/>
          </a:xfrm>
          <a:prstGeom prst="rect">
            <a:avLst/>
          </a:prstGeom>
        </p:spPr>
      </p:pic>
      <p:pic>
        <p:nvPicPr>
          <p:cNvPr id="16" name="scale card" descr="preencoded.png">    </p:cNvPr>
          <p:cNvPicPr>
            <a:picLocks noChangeAspect="1"/>
          </p:cNvPicPr>
          <p:nvPr/>
        </p:nvPicPr>
        <p:blipFill>
          <a:blip r:embed="rId6"/>
          <a:stretch>
            <a:fillRect/>
          </a:stretch>
        </p:blipFill>
        <p:spPr>
          <a:xfrm>
            <a:off x="5961888" y="1490472"/>
            <a:ext cx="3099816" cy="3877056"/>
          </a:xfrm>
          <a:prstGeom prst="rect">
            <a:avLst/>
          </a:prstGeom>
        </p:spPr>
      </p:pic>
      <p:sp>
        <p:nvSpPr>
          <p:cNvPr id="17" name="Text 9"/>
          <p:cNvSpPr txBox="1"/>
          <p:nvPr/>
        </p:nvSpPr>
        <p:spPr>
          <a:xfrm>
            <a:off x="6483096" y="2057400"/>
            <a:ext cx="2057400" cy="457200"/>
          </a:xfrm>
          <a:prstGeom prst="rect">
            <a:avLst/>
          </a:prstGeom>
          <a:noFill/>
          <a:ln/>
        </p:spPr>
        <p:txBody>
          <a:bodyPr wrap="square" lIns="0" tIns="0" rIns="0" bIns="0" rtlCol="0" anchor="t"/>
          <a:lstStyle/>
          <a:p>
            <a:pPr indent="0" marL="0">
              <a:buNone/>
            </a:pPr>
            <a:r>
              <a:rPr lang="en-US" sz="2200" b="1" dirty="0">
                <a:solidFill>
                  <a:srgbClr val="2A2346"/>
                </a:solidFill>
                <a:latin typeface="Arial" pitchFamily="34" charset="0"/>
                <a:ea typeface="Arial" pitchFamily="34" charset="-122"/>
                <a:cs typeface="Arial" pitchFamily="34" charset="-120"/>
              </a:rPr>
              <a:t>Area</a:t>
            </a:r>
            <a:endParaRPr lang="en-US" sz="2200" dirty="0"/>
          </a:p>
        </p:txBody>
      </p:sp>
      <p:sp>
        <p:nvSpPr>
          <p:cNvPr id="18" name="Text 10"/>
          <p:cNvSpPr txBox="1"/>
          <p:nvPr/>
        </p:nvSpPr>
        <p:spPr>
          <a:xfrm>
            <a:off x="6483096" y="2651760"/>
            <a:ext cx="2057400" cy="914400"/>
          </a:xfrm>
          <a:prstGeom prst="rect">
            <a:avLst/>
          </a:prstGeom>
          <a:noFill/>
          <a:ln/>
        </p:spPr>
        <p:txBody>
          <a:bodyPr wrap="square" lIns="0" tIns="0" rIns="0" bIns="0" rtlCol="0" anchor="t"/>
          <a:lstStyle/>
          <a:p>
            <a:pPr indent="0" marL="0">
              <a:buNone/>
            </a:pPr>
            <a:r>
              <a:rPr lang="en-US" sz="1400" b="1" dirty="0">
                <a:solidFill>
                  <a:srgbClr val="2A2346"/>
                </a:solidFill>
                <a:latin typeface="Arial" pitchFamily="34" charset="0"/>
                <a:ea typeface="Arial" pitchFamily="34" charset="-122"/>
                <a:cs typeface="Arial" pitchFamily="34" charset="-120"/>
              </a:rPr>
              <a:t>ORR–Sarjapur Road, Iblur</a:t>
            </a:r>
            <a:endParaRPr lang="en-US" sz="1400" dirty="0"/>
          </a:p>
        </p:txBody>
      </p:sp>
      <p:sp>
        <p:nvSpPr>
          <p:cNvPr id="19" name="Text 11"/>
          <p:cNvSpPr txBox="1"/>
          <p:nvPr/>
        </p:nvSpPr>
        <p:spPr>
          <a:xfrm>
            <a:off x="6483096" y="3657600"/>
            <a:ext cx="2057400" cy="914400"/>
          </a:xfrm>
          <a:prstGeom prst="rect">
            <a:avLst/>
          </a:prstGeom>
          <a:noFill/>
          <a:ln/>
        </p:spPr>
        <p:txBody>
          <a:bodyPr wrap="square" lIns="0" tIns="0" rIns="0" bIns="0" rtlCol="0" anchor="t"/>
          <a:lstStyle/>
          <a:p>
            <a:pPr indent="0" marL="0">
              <a:buNone/>
            </a:pPr>
            <a:r>
              <a:rPr lang="en-US" sz="1250" dirty="0">
                <a:solidFill>
                  <a:srgbClr val="5A5478"/>
                </a:solidFill>
                <a:latin typeface="Arial" pitchFamily="34" charset="0"/>
                <a:ea typeface="Arial" pitchFamily="34" charset="-122"/>
                <a:cs typeface="Arial" pitchFamily="34" charset="-120"/>
              </a:rPr>
              <a:t>Checked with: Traffic Police peak-hour counts</a:t>
            </a:r>
            <a:endParaRPr lang="en-US" sz="1250" dirty="0"/>
          </a:p>
        </p:txBody>
      </p:sp>
      <p:pic>
        <p:nvPicPr>
          <p:cNvPr id="20" name="arrow" descr="preencoded.png">    </p:cNvPr>
          <p:cNvPicPr>
            <a:picLocks noChangeAspect="1"/>
          </p:cNvPicPr>
          <p:nvPr/>
        </p:nvPicPr>
        <p:blipFill>
          <a:blip r:embed="rId7"/>
          <a:stretch>
            <a:fillRect/>
          </a:stretch>
        </p:blipFill>
        <p:spPr>
          <a:xfrm>
            <a:off x="8833104" y="3319272"/>
            <a:ext cx="219456" cy="219456"/>
          </a:xfrm>
          <a:prstGeom prst="rect">
            <a:avLst/>
          </a:prstGeom>
        </p:spPr>
      </p:pic>
      <p:pic>
        <p:nvPicPr>
          <p:cNvPr id="21" name="scale card" descr="preencoded.png">    </p:cNvPr>
          <p:cNvPicPr>
            <a:picLocks noChangeAspect="1"/>
          </p:cNvPicPr>
          <p:nvPr/>
        </p:nvPicPr>
        <p:blipFill>
          <a:blip r:embed="rId8"/>
          <a:stretch>
            <a:fillRect/>
          </a:stretch>
        </p:blipFill>
        <p:spPr>
          <a:xfrm>
            <a:off x="8814816" y="1490472"/>
            <a:ext cx="3099816" cy="3877056"/>
          </a:xfrm>
          <a:prstGeom prst="rect">
            <a:avLst/>
          </a:prstGeom>
        </p:spPr>
      </p:pic>
      <p:sp>
        <p:nvSpPr>
          <p:cNvPr id="22" name="Text 12"/>
          <p:cNvSpPr txBox="1"/>
          <p:nvPr/>
        </p:nvSpPr>
        <p:spPr>
          <a:xfrm>
            <a:off x="9336024" y="2057400"/>
            <a:ext cx="2057400" cy="457200"/>
          </a:xfrm>
          <a:prstGeom prst="rect">
            <a:avLst/>
          </a:prstGeom>
          <a:noFill/>
          <a:ln/>
        </p:spPr>
        <p:txBody>
          <a:bodyPr wrap="square" lIns="0" tIns="0" rIns="0" bIns="0" rtlCol="0" anchor="t"/>
          <a:lstStyle/>
          <a:p>
            <a:pPr indent="0" marL="0">
              <a:buNone/>
            </a:pPr>
            <a:r>
              <a:rPr lang="en-US" sz="2200" b="1" dirty="0">
                <a:solidFill>
                  <a:srgbClr val="2A2346"/>
                </a:solidFill>
                <a:latin typeface="Arial" pitchFamily="34" charset="0"/>
                <a:ea typeface="Arial" pitchFamily="34" charset="-122"/>
                <a:cs typeface="Arial" pitchFamily="34" charset="-120"/>
              </a:rPr>
              <a:t>Full city</a:t>
            </a:r>
            <a:endParaRPr lang="en-US" sz="2200" dirty="0"/>
          </a:p>
        </p:txBody>
      </p:sp>
      <p:sp>
        <p:nvSpPr>
          <p:cNvPr id="23" name="Text 13"/>
          <p:cNvSpPr txBox="1"/>
          <p:nvPr/>
        </p:nvSpPr>
        <p:spPr>
          <a:xfrm>
            <a:off x="9336024" y="2651760"/>
            <a:ext cx="2057400" cy="914400"/>
          </a:xfrm>
          <a:prstGeom prst="rect">
            <a:avLst/>
          </a:prstGeom>
          <a:noFill/>
          <a:ln/>
        </p:spPr>
        <p:txBody>
          <a:bodyPr wrap="square" lIns="0" tIns="0" rIns="0" bIns="0" rtlCol="0" anchor="t"/>
          <a:lstStyle/>
          <a:p>
            <a:pPr indent="0" marL="0">
              <a:buNone/>
            </a:pPr>
            <a:r>
              <a:rPr lang="en-US" sz="1400" b="1" dirty="0">
                <a:solidFill>
                  <a:srgbClr val="2A2346"/>
                </a:solidFill>
                <a:latin typeface="Arial" pitchFamily="34" charset="0"/>
                <a:ea typeface="Arial" pitchFamily="34" charset="-122"/>
                <a:cs typeface="Arial" pitchFamily="34" charset="-120"/>
              </a:rPr>
              <a:t>All BMTC routes + the e-bus fleet</a:t>
            </a:r>
            <a:endParaRPr lang="en-US" sz="1400" dirty="0"/>
          </a:p>
        </p:txBody>
      </p:sp>
      <p:sp>
        <p:nvSpPr>
          <p:cNvPr id="24" name="Text 14"/>
          <p:cNvSpPr txBox="1"/>
          <p:nvPr/>
        </p:nvSpPr>
        <p:spPr>
          <a:xfrm>
            <a:off x="9336024" y="3657600"/>
            <a:ext cx="2057400" cy="914400"/>
          </a:xfrm>
          <a:prstGeom prst="rect">
            <a:avLst/>
          </a:prstGeom>
          <a:noFill/>
          <a:ln/>
        </p:spPr>
        <p:txBody>
          <a:bodyPr wrap="square" lIns="0" tIns="0" rIns="0" bIns="0" rtlCol="0" anchor="t"/>
          <a:lstStyle/>
          <a:p>
            <a:pPr indent="0" marL="0">
              <a:buNone/>
            </a:pPr>
            <a:r>
              <a:rPr lang="en-US" sz="1250" dirty="0">
                <a:solidFill>
                  <a:srgbClr val="5A5478"/>
                </a:solidFill>
                <a:latin typeface="Arial" pitchFamily="34" charset="0"/>
                <a:ea typeface="Arial" pitchFamily="34" charset="-122"/>
                <a:cs typeface="Arial" pitchFamily="34" charset="-120"/>
              </a:rPr>
              <a:t>Checked with: bus GPS and adaptive-signal data</a:t>
            </a:r>
            <a:endParaRPr lang="en-US" sz="1250" dirty="0"/>
          </a:p>
        </p:txBody>
      </p:sp>
      <p:sp>
        <p:nvSpPr>
          <p:cNvPr id="25" name="Text 15"/>
          <p:cNvSpPr txBox="1"/>
          <p:nvPr/>
        </p:nvSpPr>
        <p:spPr>
          <a:xfrm>
            <a:off x="548640" y="5440680"/>
            <a:ext cx="11064240" cy="365760"/>
          </a:xfrm>
          <a:prstGeom prst="rect">
            <a:avLst/>
          </a:prstGeom>
          <a:noFill/>
          <a:ln/>
        </p:spPr>
        <p:txBody>
          <a:bodyPr wrap="square" lIns="0" tIns="0" rIns="0" bIns="0" rtlCol="0" anchor="t"/>
          <a:lstStyle/>
          <a:p>
            <a:pPr indent="0" marL="0">
              <a:buNone/>
            </a:pPr>
            <a:r>
              <a:rPr lang="en-US" sz="1500" b="1" dirty="0">
                <a:solidFill>
                  <a:srgbClr val="B8402A"/>
                </a:solidFill>
                <a:latin typeface="Arial" pitchFamily="34" charset="0"/>
                <a:ea typeface="Arial" pitchFamily="34" charset="-122"/>
                <a:cs typeface="Arial" pitchFamily="34" charset="-120"/>
              </a:rPr>
              <a:t>Same 7 checkers at every level, so trust grows step by step.</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ADOPTION</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How it actually reaches the road</a:t>
            </a:r>
            <a:endParaRPr lang="en-US" sz="3200" dirty="0"/>
          </a:p>
        </p:txBody>
      </p:sp>
      <p:pic>
        <p:nvPicPr>
          <p:cNvPr id="4" name="adoption card" descr="preencoded.png">    </p:cNvPr>
          <p:cNvPicPr>
            <a:picLocks noChangeAspect="1"/>
          </p:cNvPicPr>
          <p:nvPr/>
        </p:nvPicPr>
        <p:blipFill>
          <a:blip r:embed="rId1"/>
          <a:stretch>
            <a:fillRect/>
          </a:stretch>
        </p:blipFill>
        <p:spPr>
          <a:xfrm>
            <a:off x="256032" y="1353312"/>
            <a:ext cx="5980176" cy="2596896"/>
          </a:xfrm>
          <a:prstGeom prst="rect">
            <a:avLst/>
          </a:prstGeom>
        </p:spPr>
      </p:pic>
      <p:pic>
        <p:nvPicPr>
          <p:cNvPr id="5" name="icon blob" descr="preencoded.png">    </p:cNvPr>
          <p:cNvPicPr>
            <a:picLocks noChangeAspect="1"/>
          </p:cNvPicPr>
          <p:nvPr/>
        </p:nvPicPr>
        <p:blipFill>
          <a:blip r:embed="rId2"/>
          <a:stretch>
            <a:fillRect/>
          </a:stretch>
        </p:blipFill>
        <p:spPr>
          <a:xfrm>
            <a:off x="484632" y="1581912"/>
            <a:ext cx="1271016" cy="1271016"/>
          </a:xfrm>
          <a:prstGeom prst="rect">
            <a:avLst/>
          </a:prstGeom>
        </p:spPr>
      </p:pic>
      <p:pic>
        <p:nvPicPr>
          <p:cNvPr id="6" name="icon FaDoorOpen" descr="preencoded.png">    </p:cNvPr>
          <p:cNvPicPr>
            <a:picLocks noChangeAspect="1"/>
          </p:cNvPicPr>
          <p:nvPr/>
        </p:nvPicPr>
        <p:blipFill>
          <a:blip r:embed="rId3"/>
          <a:stretch>
            <a:fillRect/>
          </a:stretch>
        </p:blipFill>
        <p:spPr>
          <a:xfrm>
            <a:off x="948690" y="2045970"/>
            <a:ext cx="342900" cy="342900"/>
          </a:xfrm>
          <a:prstGeom prst="rect">
            <a:avLst/>
          </a:prstGeom>
        </p:spPr>
      </p:pic>
      <p:sp>
        <p:nvSpPr>
          <p:cNvPr id="7" name="Text 2"/>
          <p:cNvSpPr txBox="1"/>
          <p:nvPr/>
        </p:nvSpPr>
        <p:spPr>
          <a:xfrm>
            <a:off x="1645920" y="1920240"/>
            <a:ext cx="4069080" cy="594360"/>
          </a:xfrm>
          <a:prstGeom prst="rect">
            <a:avLst/>
          </a:prstGeom>
          <a:noFill/>
          <a:ln/>
        </p:spPr>
        <p:txBody>
          <a:bodyPr wrap="square" lIns="0" tIns="0" rIns="0" bIns="0" rtlCol="0" anchor="ctr"/>
          <a:lstStyle/>
          <a:p>
            <a:pPr indent="0" marL="0">
              <a:buNone/>
            </a:pPr>
            <a:r>
              <a:rPr lang="en-US" sz="1800" b="1" dirty="0">
                <a:solidFill>
                  <a:srgbClr val="2A2346"/>
                </a:solidFill>
                <a:latin typeface="Arial" pitchFamily="34" charset="0"/>
                <a:ea typeface="Arial" pitchFamily="34" charset="-122"/>
                <a:cs typeface="Arial" pitchFamily="34" charset="-120"/>
              </a:rPr>
              <a:t>The door is already open</a:t>
            </a:r>
            <a:endParaRPr lang="en-US" sz="1800" dirty="0"/>
          </a:p>
        </p:txBody>
      </p:sp>
      <p:sp>
        <p:nvSpPr>
          <p:cNvPr id="8" name="Text 3"/>
          <p:cNvSpPr txBox="1"/>
          <p:nvPr/>
        </p:nvSpPr>
        <p:spPr>
          <a:xfrm>
            <a:off x="777240" y="2697480"/>
            <a:ext cx="4937760" cy="868680"/>
          </a:xfrm>
          <a:prstGeom prst="rect">
            <a:avLst/>
          </a:prstGeom>
          <a:noFill/>
          <a:ln/>
        </p:spPr>
        <p:txBody>
          <a:bodyPr wrap="square" lIns="0" tIns="0" rIns="0" bIns="0" rtlCol="0" anchor="t"/>
          <a:lstStyle/>
          <a:p>
            <a:pPr indent="0" marL="0">
              <a:buNone/>
            </a:pPr>
            <a:r>
              <a:rPr lang="en-US" sz="1350" dirty="0">
                <a:solidFill>
                  <a:srgbClr val="2A2346"/>
                </a:solidFill>
                <a:latin typeface="Arial" pitchFamily="34" charset="0"/>
                <a:ea typeface="Arial" pitchFamily="34" charset="-122"/>
                <a:cs typeface="Arial" pitchFamily="34" charset="-120"/>
              </a:rPr>
              <a:t>Traffic Police have tendered a ₹1 crore Mobility Digital Twin. BMLTA must check big projects under Section 19.</a:t>
            </a:r>
            <a:endParaRPr lang="en-US" sz="1350" dirty="0"/>
          </a:p>
        </p:txBody>
      </p:sp>
      <p:pic>
        <p:nvPicPr>
          <p:cNvPr id="9" name="adoption card" descr="preencoded.png">    </p:cNvPr>
          <p:cNvPicPr>
            <a:picLocks noChangeAspect="1"/>
          </p:cNvPicPr>
          <p:nvPr/>
        </p:nvPicPr>
        <p:blipFill>
          <a:blip r:embed="rId4"/>
          <a:stretch>
            <a:fillRect/>
          </a:stretch>
        </p:blipFill>
        <p:spPr>
          <a:xfrm>
            <a:off x="5952744" y="1353312"/>
            <a:ext cx="5980176" cy="2596896"/>
          </a:xfrm>
          <a:prstGeom prst="rect">
            <a:avLst/>
          </a:prstGeom>
        </p:spPr>
      </p:pic>
      <p:pic>
        <p:nvPicPr>
          <p:cNvPr id="10" name="icon blob" descr="preencoded.png">    </p:cNvPr>
          <p:cNvPicPr>
            <a:picLocks noChangeAspect="1"/>
          </p:cNvPicPr>
          <p:nvPr/>
        </p:nvPicPr>
        <p:blipFill>
          <a:blip r:embed="rId5"/>
          <a:stretch>
            <a:fillRect/>
          </a:stretch>
        </p:blipFill>
        <p:spPr>
          <a:xfrm>
            <a:off x="6181344" y="1581912"/>
            <a:ext cx="1271016" cy="1271016"/>
          </a:xfrm>
          <a:prstGeom prst="rect">
            <a:avLst/>
          </a:prstGeom>
        </p:spPr>
      </p:pic>
      <p:pic>
        <p:nvPicPr>
          <p:cNvPr id="11" name="icon FaServer" descr="preencoded.png">    </p:cNvPr>
          <p:cNvPicPr>
            <a:picLocks noChangeAspect="1"/>
          </p:cNvPicPr>
          <p:nvPr/>
        </p:nvPicPr>
        <p:blipFill>
          <a:blip r:embed="rId6"/>
          <a:stretch>
            <a:fillRect/>
          </a:stretch>
        </p:blipFill>
        <p:spPr>
          <a:xfrm>
            <a:off x="6645402" y="2045970"/>
            <a:ext cx="342900" cy="342900"/>
          </a:xfrm>
          <a:prstGeom prst="rect">
            <a:avLst/>
          </a:prstGeom>
        </p:spPr>
      </p:pic>
      <p:sp>
        <p:nvSpPr>
          <p:cNvPr id="12" name="Text 4"/>
          <p:cNvSpPr txBox="1"/>
          <p:nvPr/>
        </p:nvSpPr>
        <p:spPr>
          <a:xfrm>
            <a:off x="7342632" y="1920240"/>
            <a:ext cx="4069080" cy="594360"/>
          </a:xfrm>
          <a:prstGeom prst="rect">
            <a:avLst/>
          </a:prstGeom>
          <a:noFill/>
          <a:ln/>
        </p:spPr>
        <p:txBody>
          <a:bodyPr wrap="square" lIns="0" tIns="0" rIns="0" bIns="0" rtlCol="0" anchor="ctr"/>
          <a:lstStyle/>
          <a:p>
            <a:pPr indent="0" marL="0">
              <a:buNone/>
            </a:pPr>
            <a:r>
              <a:rPr lang="en-US" sz="1800" b="1" dirty="0">
                <a:solidFill>
                  <a:srgbClr val="2A2346"/>
                </a:solidFill>
                <a:latin typeface="Arial" pitchFamily="34" charset="0"/>
                <a:ea typeface="Arial" pitchFamily="34" charset="-122"/>
                <a:cs typeface="Arial" pitchFamily="34" charset="-120"/>
              </a:rPr>
              <a:t>Runs on government servers</a:t>
            </a:r>
            <a:endParaRPr lang="en-US" sz="1800" dirty="0"/>
          </a:p>
        </p:txBody>
      </p:sp>
      <p:sp>
        <p:nvSpPr>
          <p:cNvPr id="13" name="Text 5"/>
          <p:cNvSpPr txBox="1"/>
          <p:nvPr/>
        </p:nvSpPr>
        <p:spPr>
          <a:xfrm>
            <a:off x="6473952" y="2697480"/>
            <a:ext cx="4937760" cy="868680"/>
          </a:xfrm>
          <a:prstGeom prst="rect">
            <a:avLst/>
          </a:prstGeom>
          <a:noFill/>
          <a:ln/>
        </p:spPr>
        <p:txBody>
          <a:bodyPr wrap="square" lIns="0" tIns="0" rIns="0" bIns="0" rtlCol="0" anchor="t"/>
          <a:lstStyle/>
          <a:p>
            <a:pPr indent="0" marL="0">
              <a:buNone/>
            </a:pPr>
            <a:r>
              <a:rPr lang="en-US" sz="1350" dirty="0">
                <a:solidFill>
                  <a:srgbClr val="2A2346"/>
                </a:solidFill>
                <a:latin typeface="Arial" pitchFamily="34" charset="0"/>
                <a:ea typeface="Arial" pitchFamily="34" charset="-122"/>
                <a:cs typeface="Arial" pitchFamily="34" charset="-120"/>
              </a:rPr>
              <a:t>Open-source base, no per-seat licence fee. The data stays with the department.</a:t>
            </a:r>
            <a:endParaRPr lang="en-US" sz="1350" dirty="0"/>
          </a:p>
        </p:txBody>
      </p:sp>
      <p:pic>
        <p:nvPicPr>
          <p:cNvPr id="14" name="adoption card" descr="preencoded.png">    </p:cNvPr>
          <p:cNvPicPr>
            <a:picLocks noChangeAspect="1"/>
          </p:cNvPicPr>
          <p:nvPr/>
        </p:nvPicPr>
        <p:blipFill>
          <a:blip r:embed="rId7"/>
          <a:stretch>
            <a:fillRect/>
          </a:stretch>
        </p:blipFill>
        <p:spPr>
          <a:xfrm>
            <a:off x="256032" y="3685032"/>
            <a:ext cx="5980176" cy="2596896"/>
          </a:xfrm>
          <a:prstGeom prst="rect">
            <a:avLst/>
          </a:prstGeom>
        </p:spPr>
      </p:pic>
      <p:pic>
        <p:nvPicPr>
          <p:cNvPr id="15" name="icon blob" descr="preencoded.png">    </p:cNvPr>
          <p:cNvPicPr>
            <a:picLocks noChangeAspect="1"/>
          </p:cNvPicPr>
          <p:nvPr/>
        </p:nvPicPr>
        <p:blipFill>
          <a:blip r:embed="rId8"/>
          <a:stretch>
            <a:fillRect/>
          </a:stretch>
        </p:blipFill>
        <p:spPr>
          <a:xfrm>
            <a:off x="484632" y="3913632"/>
            <a:ext cx="1271016" cy="1271016"/>
          </a:xfrm>
          <a:prstGeom prst="rect">
            <a:avLst/>
          </a:prstGeom>
        </p:spPr>
      </p:pic>
      <p:pic>
        <p:nvPicPr>
          <p:cNvPr id="16" name="icon FaHandshake" descr="preencoded.png">    </p:cNvPr>
          <p:cNvPicPr>
            <a:picLocks noChangeAspect="1"/>
          </p:cNvPicPr>
          <p:nvPr/>
        </p:nvPicPr>
        <p:blipFill>
          <a:blip r:embed="rId9"/>
          <a:stretch>
            <a:fillRect/>
          </a:stretch>
        </p:blipFill>
        <p:spPr>
          <a:xfrm>
            <a:off x="948690" y="4377690"/>
            <a:ext cx="342900" cy="342900"/>
          </a:xfrm>
          <a:prstGeom prst="rect">
            <a:avLst/>
          </a:prstGeom>
        </p:spPr>
      </p:pic>
      <p:sp>
        <p:nvSpPr>
          <p:cNvPr id="17" name="Text 6"/>
          <p:cNvSpPr txBox="1"/>
          <p:nvPr/>
        </p:nvSpPr>
        <p:spPr>
          <a:xfrm>
            <a:off x="1645920" y="4251960"/>
            <a:ext cx="4069080" cy="594360"/>
          </a:xfrm>
          <a:prstGeom prst="rect">
            <a:avLst/>
          </a:prstGeom>
          <a:noFill/>
          <a:ln/>
        </p:spPr>
        <p:txBody>
          <a:bodyPr wrap="square" lIns="0" tIns="0" rIns="0" bIns="0" rtlCol="0" anchor="ctr"/>
          <a:lstStyle/>
          <a:p>
            <a:pPr indent="0" marL="0">
              <a:buNone/>
            </a:pPr>
            <a:r>
              <a:rPr lang="en-US" sz="1800" b="1" dirty="0">
                <a:solidFill>
                  <a:srgbClr val="2A2346"/>
                </a:solidFill>
                <a:latin typeface="Arial" pitchFamily="34" charset="0"/>
                <a:ea typeface="Arial" pitchFamily="34" charset="-122"/>
                <a:cs typeface="Arial" pitchFamily="34" charset="-120"/>
              </a:rPr>
              <a:t>How it pays for itself</a:t>
            </a:r>
            <a:endParaRPr lang="en-US" sz="1800" dirty="0"/>
          </a:p>
        </p:txBody>
      </p:sp>
      <p:sp>
        <p:nvSpPr>
          <p:cNvPr id="18" name="Text 7"/>
          <p:cNvSpPr txBox="1"/>
          <p:nvPr/>
        </p:nvSpPr>
        <p:spPr>
          <a:xfrm>
            <a:off x="777240" y="5029200"/>
            <a:ext cx="4937760" cy="868680"/>
          </a:xfrm>
          <a:prstGeom prst="rect">
            <a:avLst/>
          </a:prstGeom>
          <a:noFill/>
          <a:ln/>
        </p:spPr>
        <p:txBody>
          <a:bodyPr wrap="square" lIns="0" tIns="0" rIns="0" bIns="0" rtlCol="0" anchor="t"/>
          <a:lstStyle/>
          <a:p>
            <a:pPr indent="0" marL="0">
              <a:buNone/>
            </a:pPr>
            <a:r>
              <a:rPr lang="en-US" sz="1350" dirty="0">
                <a:solidFill>
                  <a:srgbClr val="2A2346"/>
                </a:solidFill>
                <a:latin typeface="Arial" pitchFamily="34" charset="0"/>
                <a:ea typeface="Arial" pitchFamily="34" charset="-122"/>
                <a:cs typeface="Arial" pitchFamily="34" charset="-120"/>
              </a:rPr>
              <a:t>Yearly support and re-checking for each department, plus fixed-price studies: e-buses, bus lanes, signals.</a:t>
            </a:r>
            <a:endParaRPr lang="en-US" sz="1350" dirty="0"/>
          </a:p>
        </p:txBody>
      </p:sp>
      <p:pic>
        <p:nvPicPr>
          <p:cNvPr id="19" name="adoption card" descr="preencoded.png">    </p:cNvPr>
          <p:cNvPicPr>
            <a:picLocks noChangeAspect="1"/>
          </p:cNvPicPr>
          <p:nvPr/>
        </p:nvPicPr>
        <p:blipFill>
          <a:blip r:embed="rId10"/>
          <a:stretch>
            <a:fillRect/>
          </a:stretch>
        </p:blipFill>
        <p:spPr>
          <a:xfrm>
            <a:off x="5952744" y="3685032"/>
            <a:ext cx="5980176" cy="2596896"/>
          </a:xfrm>
          <a:prstGeom prst="rect">
            <a:avLst/>
          </a:prstGeom>
        </p:spPr>
      </p:pic>
      <p:pic>
        <p:nvPicPr>
          <p:cNvPr id="20" name="icon blob" descr="preencoded.png">    </p:cNvPr>
          <p:cNvPicPr>
            <a:picLocks noChangeAspect="1"/>
          </p:cNvPicPr>
          <p:nvPr/>
        </p:nvPicPr>
        <p:blipFill>
          <a:blip r:embed="rId11"/>
          <a:stretch>
            <a:fillRect/>
          </a:stretch>
        </p:blipFill>
        <p:spPr>
          <a:xfrm>
            <a:off x="6181344" y="3913632"/>
            <a:ext cx="1271016" cy="1271016"/>
          </a:xfrm>
          <a:prstGeom prst="rect">
            <a:avLst/>
          </a:prstGeom>
        </p:spPr>
      </p:pic>
      <p:pic>
        <p:nvPicPr>
          <p:cNvPr id="21" name="icon FaMapLocationDot" descr="preencoded.png">    </p:cNvPr>
          <p:cNvPicPr>
            <a:picLocks noChangeAspect="1"/>
          </p:cNvPicPr>
          <p:nvPr/>
        </p:nvPicPr>
        <p:blipFill>
          <a:blip r:embed="rId12"/>
          <a:stretch>
            <a:fillRect/>
          </a:stretch>
        </p:blipFill>
        <p:spPr>
          <a:xfrm>
            <a:off x="6645402" y="4377690"/>
            <a:ext cx="342900" cy="342900"/>
          </a:xfrm>
          <a:prstGeom prst="rect">
            <a:avLst/>
          </a:prstGeom>
        </p:spPr>
      </p:pic>
      <p:sp>
        <p:nvSpPr>
          <p:cNvPr id="22" name="Text 8"/>
          <p:cNvSpPr txBox="1"/>
          <p:nvPr/>
        </p:nvSpPr>
        <p:spPr>
          <a:xfrm>
            <a:off x="7342632" y="4251960"/>
            <a:ext cx="4069080" cy="594360"/>
          </a:xfrm>
          <a:prstGeom prst="rect">
            <a:avLst/>
          </a:prstGeom>
          <a:noFill/>
          <a:ln/>
        </p:spPr>
        <p:txBody>
          <a:bodyPr wrap="square" lIns="0" tIns="0" rIns="0" bIns="0" rtlCol="0" anchor="ctr"/>
          <a:lstStyle/>
          <a:p>
            <a:pPr indent="0" marL="0">
              <a:buNone/>
            </a:pPr>
            <a:r>
              <a:rPr lang="en-US" sz="1800" b="1" dirty="0">
                <a:solidFill>
                  <a:srgbClr val="2A2346"/>
                </a:solidFill>
                <a:latin typeface="Arial" pitchFamily="34" charset="0"/>
                <a:ea typeface="Arial" pitchFamily="34" charset="-122"/>
                <a:cs typeface="Arial" pitchFamily="34" charset="-120"/>
              </a:rPr>
              <a:t>Next cities, same engine</a:t>
            </a:r>
            <a:endParaRPr lang="en-US" sz="1800" dirty="0"/>
          </a:p>
        </p:txBody>
      </p:sp>
      <p:sp>
        <p:nvSpPr>
          <p:cNvPr id="23" name="Text 9"/>
          <p:cNvSpPr txBox="1"/>
          <p:nvPr/>
        </p:nvSpPr>
        <p:spPr>
          <a:xfrm>
            <a:off x="6473952" y="5029200"/>
            <a:ext cx="4937760" cy="868680"/>
          </a:xfrm>
          <a:prstGeom prst="rect">
            <a:avLst/>
          </a:prstGeom>
          <a:noFill/>
          <a:ln/>
        </p:spPr>
        <p:txBody>
          <a:bodyPr wrap="square" lIns="0" tIns="0" rIns="0" bIns="0" rtlCol="0" anchor="t"/>
          <a:lstStyle/>
          <a:p>
            <a:pPr indent="0" marL="0">
              <a:buNone/>
            </a:pPr>
            <a:r>
              <a:rPr lang="en-US" sz="1350" dirty="0">
                <a:solidFill>
                  <a:srgbClr val="2A2346"/>
                </a:solidFill>
                <a:latin typeface="Arial" pitchFamily="34" charset="0"/>
                <a:ea typeface="Arial" pitchFamily="34" charset="-122"/>
                <a:cs typeface="Arial" pitchFamily="34" charset="-120"/>
              </a:rPr>
              <a:t>Delhi 2,800 · Hyderabad 2,000 · Ahmedabad 1,000 · Surat 600 e-buses. New city = new map + new checks.</a:t>
            </a:r>
            <a:endParaRPr lang="en-US" sz="1350" dirty="0"/>
          </a:p>
        </p:txBody>
      </p:sp>
      <p:sp>
        <p:nvSpPr>
          <p:cNvPr id="24" name="Text 10"/>
          <p:cNvSpPr txBox="1"/>
          <p:nvPr/>
        </p:nvSpPr>
        <p:spPr>
          <a:xfrm>
            <a:off x="548640" y="6108192"/>
            <a:ext cx="10515600" cy="228600"/>
          </a:xfrm>
          <a:prstGeom prst="rect">
            <a:avLst/>
          </a:prstGeom>
          <a:noFill/>
          <a:ln/>
        </p:spPr>
        <p:txBody>
          <a:bodyPr wrap="square" lIns="0" tIns="0" rIns="0" bIns="0" rtlCol="0" anchor="t"/>
          <a:lstStyle/>
          <a:p>
            <a:pPr indent="0" marL="0">
              <a:buNone/>
            </a:pPr>
            <a:r>
              <a:rPr lang="en-US" sz="1000" dirty="0">
                <a:solidFill>
                  <a:srgbClr val="5A5478"/>
                </a:solidFill>
                <a:latin typeface="Arial" pitchFamily="34" charset="0"/>
                <a:ea typeface="Arial" pitchFamily="34" charset="-122"/>
                <a:cs typeface="Arial" pitchFamily="34" charset="-120"/>
              </a:rPr>
              <a:t>Sources: PM e-Drive city allocations; BMLTA Act 2022, Section 19; Bengaluru Traffic Police Mobility Digital Twin tender</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822960"/>
            <a:ext cx="10698480" cy="1737360"/>
          </a:xfrm>
          <a:prstGeom prst="rect">
            <a:avLst/>
          </a:prstGeom>
          <a:noFill/>
          <a:ln/>
        </p:spPr>
        <p:txBody>
          <a:bodyPr wrap="square" lIns="0" tIns="0" rIns="0" bIns="0" rtlCol="0" anchor="t"/>
          <a:lstStyle/>
          <a:p>
            <a:pPr algn="l" indent="0" marL="0">
              <a:buNone/>
            </a:pPr>
            <a:r>
              <a:rPr lang="en-US" sz="4000" b="1" dirty="0">
                <a:solidFill>
                  <a:schemeClr val="tx1"/>
                </a:solidFill>
              </a:rPr>
              <a:t>Before putting 4,500 buses on the road, test it once on the computer, no?</a:t>
            </a:r>
            <a:endParaRPr lang="en-US" sz="4000" dirty="0"/>
          </a:p>
        </p:txBody>
      </p:sp>
      <p:sp>
        <p:nvSpPr>
          <p:cNvPr id="3" name="Text 1"/>
          <p:cNvSpPr txBox="1"/>
          <p:nvPr/>
        </p:nvSpPr>
        <p:spPr>
          <a:xfrm>
            <a:off x="731520" y="2743200"/>
            <a:ext cx="10515600" cy="548640"/>
          </a:xfrm>
          <a:prstGeom prst="rect">
            <a:avLst/>
          </a:prstGeom>
          <a:noFill/>
          <a:ln/>
        </p:spPr>
        <p:txBody>
          <a:bodyPr wrap="square" lIns="0" tIns="0" rIns="0" bIns="0" rtlCol="0" anchor="t"/>
          <a:lstStyle/>
          <a:p>
            <a:pPr indent="0" marL="0">
              <a:buNone/>
            </a:pPr>
            <a:r>
              <a:rPr lang="en-US" sz="2200" b="1" dirty="0">
                <a:solidFill>
                  <a:srgbClr val="2E7D55"/>
                </a:solidFill>
                <a:latin typeface="Arial" pitchFamily="34" charset="0"/>
                <a:ea typeface="Arial" pitchFamily="34" charset="-122"/>
                <a:cs typeface="Arial" pitchFamily="34" charset="-120"/>
              </a:rPr>
              <a:t>Abhyas gives the answer, and tells you honestly when it doesn't know.</a:t>
            </a:r>
            <a:endParaRPr lang="en-US" sz="2200" dirty="0"/>
          </a:p>
        </p:txBody>
      </p:sp>
      <p:pic>
        <p:nvPicPr>
          <p:cNvPr id="4" name="ask card" descr="preencoded.png">    </p:cNvPr>
          <p:cNvPicPr>
            <a:picLocks noChangeAspect="1"/>
          </p:cNvPicPr>
          <p:nvPr/>
        </p:nvPicPr>
        <p:blipFill>
          <a:blip r:embed="rId1"/>
          <a:stretch>
            <a:fillRect/>
          </a:stretch>
        </p:blipFill>
        <p:spPr>
          <a:xfrm>
            <a:off x="438912" y="3456432"/>
            <a:ext cx="11283696" cy="2322576"/>
          </a:xfrm>
          <a:prstGeom prst="rect">
            <a:avLst/>
          </a:prstGeom>
        </p:spPr>
      </p:pic>
      <p:pic>
        <p:nvPicPr>
          <p:cNvPr id="5" name="icon blob" descr="preencoded.png">    </p:cNvPr>
          <p:cNvPicPr>
            <a:picLocks noChangeAspect="1"/>
          </p:cNvPicPr>
          <p:nvPr/>
        </p:nvPicPr>
        <p:blipFill>
          <a:blip r:embed="rId2"/>
          <a:stretch>
            <a:fillRect/>
          </a:stretch>
        </p:blipFill>
        <p:spPr>
          <a:xfrm>
            <a:off x="758952" y="3776472"/>
            <a:ext cx="1682496" cy="1682496"/>
          </a:xfrm>
          <a:prstGeom prst="rect">
            <a:avLst/>
          </a:prstGeom>
        </p:spPr>
      </p:pic>
      <p:pic>
        <p:nvPicPr>
          <p:cNvPr id="6" name="icon FaHandshake" descr="preencoded.png">    </p:cNvPr>
          <p:cNvPicPr>
            <a:picLocks noChangeAspect="1"/>
          </p:cNvPicPr>
          <p:nvPr/>
        </p:nvPicPr>
        <p:blipFill>
          <a:blip r:embed="rId3"/>
          <a:stretch>
            <a:fillRect/>
          </a:stretch>
        </p:blipFill>
        <p:spPr>
          <a:xfrm>
            <a:off x="1325880" y="4343400"/>
            <a:ext cx="548640" cy="548640"/>
          </a:xfrm>
          <a:prstGeom prst="rect">
            <a:avLst/>
          </a:prstGeom>
        </p:spPr>
      </p:pic>
      <p:sp>
        <p:nvSpPr>
          <p:cNvPr id="7" name="Text 2"/>
          <p:cNvSpPr txBox="1"/>
          <p:nvPr/>
        </p:nvSpPr>
        <p:spPr>
          <a:xfrm>
            <a:off x="2468880" y="4023360"/>
            <a:ext cx="8686800" cy="1280160"/>
          </a:xfrm>
          <a:prstGeom prst="rect">
            <a:avLst/>
          </a:prstGeom>
          <a:noFill/>
          <a:ln/>
        </p:spPr>
        <p:txBody>
          <a:bodyPr wrap="square" lIns="0" tIns="0" rIns="0" bIns="0" rtlCol="0" anchor="t"/>
          <a:lstStyle/>
          <a:p>
            <a:pPr indent="0" marL="0">
              <a:buNone/>
            </a:pPr>
            <a:r>
              <a:rPr lang="en-US" sz="1200" b="1" spc="200" kern="0" dirty="0">
                <a:solidFill>
                  <a:srgbClr val="B8402A"/>
                </a:solidFill>
                <a:latin typeface="Arial" pitchFamily="34" charset="0"/>
                <a:ea typeface="Arial" pitchFamily="34" charset="-122"/>
                <a:cs typeface="Arial" pitchFamily="34" charset="-120"/>
              </a:rPr>
              <a:t>OUR ASK</a:t>
            </a:r>
            <a:endParaRPr lang="en-US" sz="1200" dirty="0"/>
          </a:p>
          <a:p>
            <a:pPr indent="0" marL="0">
              <a:buNone/>
            </a:pPr>
            <a:r>
              <a:rPr lang="en-US" sz="1900" b="1" dirty="0">
                <a:solidFill>
                  <a:srgbClr val="2A2346"/>
                </a:solidFill>
                <a:latin typeface="Arial" pitchFamily="34" charset="0"/>
                <a:ea typeface="Arial" pitchFamily="34" charset="-122"/>
                <a:cs typeface="Arial" pitchFamily="34" charset="-120"/>
              </a:rPr>
              <a:t>A pilot with BMTC and Bengaluru Traffic Police on the ORR bus lane, with access to bus GPS and signal data.</a:t>
            </a:r>
            <a:endParaRPr lang="en-US" sz="1200" dirty="0"/>
          </a:p>
        </p:txBody>
      </p:sp>
      <p:pic>
        <p:nvPicPr>
          <p:cNvPr id="8" name="traffic light" descr="preencoded.png">    </p:cNvPr>
          <p:cNvPicPr>
            <a:picLocks noChangeAspect="1"/>
          </p:cNvPicPr>
          <p:nvPr/>
        </p:nvPicPr>
        <p:blipFill>
          <a:blip r:embed="rId4"/>
          <a:stretch>
            <a:fillRect/>
          </a:stretch>
        </p:blipFill>
        <p:spPr>
          <a:xfrm>
            <a:off x="438912" y="5559552"/>
            <a:ext cx="3511296" cy="1271016"/>
          </a:xfrm>
          <a:prstGeom prst="rect">
            <a:avLst/>
          </a:prstGeom>
        </p:spPr>
      </p:pic>
      <p:pic>
        <p:nvPicPr>
          <p:cNvPr id="9" name="red light" descr="preencoded.png">    </p:cNvPr>
          <p:cNvPicPr>
            <a:picLocks noChangeAspect="1"/>
          </p:cNvPicPr>
          <p:nvPr/>
        </p:nvPicPr>
        <p:blipFill>
          <a:blip r:embed="rId5"/>
          <a:stretch>
            <a:fillRect/>
          </a:stretch>
        </p:blipFill>
        <p:spPr>
          <a:xfrm>
            <a:off x="621792" y="5669280"/>
            <a:ext cx="1042416" cy="1042416"/>
          </a:xfrm>
          <a:prstGeom prst="rect">
            <a:avLst/>
          </a:prstGeom>
        </p:spPr>
      </p:pic>
      <p:pic>
        <p:nvPicPr>
          <p:cNvPr id="10" name="amber light" descr="preencoded.png">    </p:cNvPr>
          <p:cNvPicPr>
            <a:picLocks noChangeAspect="1"/>
          </p:cNvPicPr>
          <p:nvPr/>
        </p:nvPicPr>
        <p:blipFill>
          <a:blip r:embed="rId6"/>
          <a:stretch>
            <a:fillRect/>
          </a:stretch>
        </p:blipFill>
        <p:spPr>
          <a:xfrm>
            <a:off x="1673352" y="5669280"/>
            <a:ext cx="1042416" cy="1042416"/>
          </a:xfrm>
          <a:prstGeom prst="rect">
            <a:avLst/>
          </a:prstGeom>
        </p:spPr>
      </p:pic>
      <p:pic>
        <p:nvPicPr>
          <p:cNvPr id="11" name="green light" descr="preencoded.png">    </p:cNvPr>
          <p:cNvPicPr>
            <a:picLocks noChangeAspect="1"/>
          </p:cNvPicPr>
          <p:nvPr/>
        </p:nvPicPr>
        <p:blipFill>
          <a:blip r:embed="rId7"/>
          <a:stretch>
            <a:fillRect/>
          </a:stretch>
        </p:blipFill>
        <p:spPr>
          <a:xfrm>
            <a:off x="2724912" y="5669280"/>
            <a:ext cx="1042416" cy="1042416"/>
          </a:xfrm>
          <a:prstGeom prst="rect">
            <a:avLst/>
          </a:prstGeom>
        </p:spPr>
      </p:pic>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APPENDIX</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References</a:t>
            </a:r>
            <a:endParaRPr lang="en-US" sz="3200" dirty="0"/>
          </a:p>
        </p:txBody>
      </p:sp>
      <p:pic>
        <p:nvPicPr>
          <p:cNvPr id="4" name="refs card" descr="preencoded.png">    </p:cNvPr>
          <p:cNvPicPr>
            <a:picLocks noChangeAspect="1"/>
          </p:cNvPicPr>
          <p:nvPr/>
        </p:nvPicPr>
        <p:blipFill>
          <a:blip r:embed="rId1"/>
          <a:stretch>
            <a:fillRect/>
          </a:stretch>
        </p:blipFill>
        <p:spPr>
          <a:xfrm>
            <a:off x="256032" y="1307592"/>
            <a:ext cx="5980176" cy="4928616"/>
          </a:xfrm>
          <a:prstGeom prst="rect">
            <a:avLst/>
          </a:prstGeom>
        </p:spPr>
      </p:pic>
      <p:pic>
        <p:nvPicPr>
          <p:cNvPr id="5" name="refs card" descr="preencoded.png">    </p:cNvPr>
          <p:cNvPicPr>
            <a:picLocks noChangeAspect="1"/>
          </p:cNvPicPr>
          <p:nvPr/>
        </p:nvPicPr>
        <p:blipFill>
          <a:blip r:embed="rId2"/>
          <a:stretch>
            <a:fillRect/>
          </a:stretch>
        </p:blipFill>
        <p:spPr>
          <a:xfrm>
            <a:off x="5952744" y="1307592"/>
            <a:ext cx="5980176" cy="4928616"/>
          </a:xfrm>
          <a:prstGeom prst="rect">
            <a:avLst/>
          </a:prstGeom>
        </p:spPr>
      </p:pic>
      <p:sp>
        <p:nvSpPr>
          <p:cNvPr id="6" name="Text 2"/>
          <p:cNvSpPr txBox="1"/>
          <p:nvPr/>
        </p:nvSpPr>
        <p:spPr>
          <a:xfrm>
            <a:off x="822960" y="1783080"/>
            <a:ext cx="4846320" cy="320040"/>
          </a:xfrm>
          <a:prstGeom prst="rect">
            <a:avLst/>
          </a:prstGeom>
          <a:noFill/>
          <a:ln/>
        </p:spPr>
        <p:txBody>
          <a:bodyPr wrap="square" lIns="0" tIns="0" rIns="0" bIns="0" rtlCol="0" anchor="t"/>
          <a:lstStyle/>
          <a:p>
            <a:pPr indent="0" marL="0">
              <a:buNone/>
            </a:pPr>
            <a:r>
              <a:rPr lang="en-US" sz="1300" b="1" dirty="0">
                <a:solidFill>
                  <a:srgbClr val="B8402A"/>
                </a:solidFill>
                <a:latin typeface="Arial" pitchFamily="34" charset="0"/>
                <a:ea typeface="Arial" pitchFamily="34" charset="-122"/>
                <a:cs typeface="Arial" pitchFamily="34" charset="-120"/>
              </a:rPr>
              <a:t>Research and standards</a:t>
            </a:r>
            <a:endParaRPr lang="en-US" sz="1300" dirty="0"/>
          </a:p>
        </p:txBody>
      </p:sp>
      <p:sp>
        <p:nvSpPr>
          <p:cNvPr id="7" name="Text 3"/>
          <p:cNvSpPr txBox="1"/>
          <p:nvPr/>
        </p:nvSpPr>
        <p:spPr>
          <a:xfrm>
            <a:off x="6519672" y="1783080"/>
            <a:ext cx="4846320" cy="320040"/>
          </a:xfrm>
          <a:prstGeom prst="rect">
            <a:avLst/>
          </a:prstGeom>
          <a:noFill/>
          <a:ln/>
        </p:spPr>
        <p:txBody>
          <a:bodyPr wrap="square" lIns="0" tIns="0" rIns="0" bIns="0" rtlCol="0" anchor="t"/>
          <a:lstStyle/>
          <a:p>
            <a:pPr indent="0" marL="0">
              <a:buNone/>
            </a:pPr>
            <a:r>
              <a:rPr lang="en-US" sz="1300" b="1" dirty="0">
                <a:solidFill>
                  <a:srgbClr val="B8402A"/>
                </a:solidFill>
                <a:latin typeface="Arial" pitchFamily="34" charset="0"/>
                <a:ea typeface="Arial" pitchFamily="34" charset="-122"/>
                <a:cs typeface="Arial" pitchFamily="34" charset="-120"/>
              </a:rPr>
              <a:t>Deployments, policy and data</a:t>
            </a:r>
            <a:endParaRPr lang="en-US" sz="1300" dirty="0"/>
          </a:p>
        </p:txBody>
      </p:sp>
      <p:sp>
        <p:nvSpPr>
          <p:cNvPr id="8" name="Text 4"/>
          <p:cNvSpPr txBox="1"/>
          <p:nvPr/>
        </p:nvSpPr>
        <p:spPr>
          <a:xfrm>
            <a:off x="822960" y="2194560"/>
            <a:ext cx="4892040" cy="3611880"/>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Arasan, V.T. &amp; Koshy, R.Z. (2005). Methodology for modeling highly heterogeneous traffic flow. J. Transp. Eng., ASCE 131(7). [HETEROSIM, IIT Madras]</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Arasan, V.T. &amp; Arkatkar, S.S. Modelling heterogeneous traffic flow on upgrades of intercity roads. Transport (VGTU).</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SiMTraM: strip-based mixed-traffic extension for SUMO. IIT Bombay.</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Calibration of SUMO for Indian heterogeneous traffic conditions. IIT Madras (publications.iitm.ac.in).</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Indo-HCM (2017). Indian Highway Capacity Manual. CSIR-CRRI.</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IRC:106-1990. Guidelines for capacity of urban roads in plain areas. Indian Roads Congress.</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Calibration of VISSIM for Indian heterogeneous traffic conditions. TRID 1279997.</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Calibration methodologies of VISSIM-based models for heterogeneous traffic: a survey. engrXiv 4441.</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IISc (2019). Beating the Jam. connect.iisc.ac.in; IISc CiSTUP – BTP data MoU (Deccan Herald).</a:t>
            </a:r>
            <a:endParaRPr lang="en-US" sz="1100" dirty="0"/>
          </a:p>
        </p:txBody>
      </p:sp>
      <p:sp>
        <p:nvSpPr>
          <p:cNvPr id="9" name="Text 5"/>
          <p:cNvSpPr txBox="1"/>
          <p:nvPr/>
        </p:nvSpPr>
        <p:spPr>
          <a:xfrm>
            <a:off x="6519672" y="2194560"/>
            <a:ext cx="4892040" cy="3611880"/>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Google Research. Project Green Light (Bengaluru, Kolkata). blog.google.</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WRI India (2022). Rolling Out Electric Buses: route prioritisation and implementation planning.</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Shakti Foundation. Roadmap for the electrification of public transportation in Bengaluru.</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Indian Infrastructure (Apr 2026). Bengaluru Adaptive Traffic Control System case study.</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Arcadis. ASTraM – Actionable Intelligence for Sustainable Traffic Management.</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TomTom Traffic Index 2025 (via Deccan Chronicle).</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Bengaluru Traffic Police ORR–Sarjapur Road capacity study (via Deccan Herald).</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PM e-Drive e-bus allocation (Energetica India); fleet mix (Global Mass Transit).</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BMLTA Act 2022, Section 19 (Citizen Matters).</a:t>
            </a:r>
            <a:endParaRPr lang="en-US" sz="1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bhyas Clay">
  <a:themeElements>
    <a:clrScheme name="Abhyas Clay">
      <a:dk1>
        <a:srgbClr val="2A2346"/>
      </a:dk1>
      <a:lt1>
        <a:srgbClr val="FFFFFF"/>
      </a:lt1>
      <a:dk2>
        <a:srgbClr val="5A5478"/>
      </a:dk2>
      <a:lt2>
        <a:srgbClr val="EEF0FA"/>
      </a:lt2>
      <a:accent1>
        <a:srgbClr val="FF8A6B"/>
      </a:accent1>
      <a:accent2>
        <a:srgbClr val="F5C542"/>
      </a:accent2>
      <a:accent3>
        <a:srgbClr val="4FB884"/>
      </a:accent3>
      <a:accent4>
        <a:srgbClr val="8E7BEF"/>
      </a:accent4>
      <a:accent5>
        <a:srgbClr val="5EA8EE"/>
      </a:accent5>
      <a:accent6>
        <a:srgbClr val="B8402A"/>
      </a:accent6>
      <a:hlink>
        <a:srgbClr val="4B3FB0"/>
      </a:hlink>
      <a:folHlink>
        <a:srgbClr val="7A5FB0"/>
      </a:folHlink>
    </a:clrScheme>
    <a:fontScheme name="Abhyas Cla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Abhyas</dc:title>
  <dc:subject>PptxGenJS Presentation</dc:subject>
  <dc:creator>Team Abhyas</dc:creator>
  <cp:lastModifiedBy>Team Abhyas</cp:lastModifiedBy>
  <cp:revision>1</cp:revision>
  <dcterms:created xsi:type="dcterms:W3CDTF">2026-10-05T05:48:08Z</dcterms:created>
  <dcterms:modified xsi:type="dcterms:W3CDTF">2026-10-05T05:48:08Z</dcterms:modified>
</cp:coreProperties>
</file>